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9"/>
  </p:notesMasterIdLst>
  <p:sldIdLst>
    <p:sldId id="256" r:id="rId2"/>
    <p:sldId id="257" r:id="rId3"/>
    <p:sldId id="258" r:id="rId4"/>
    <p:sldId id="307" r:id="rId5"/>
    <p:sldId id="310" r:id="rId6"/>
    <p:sldId id="309" r:id="rId7"/>
    <p:sldId id="312" r:id="rId8"/>
    <p:sldId id="314" r:id="rId9"/>
    <p:sldId id="260" r:id="rId10"/>
    <p:sldId id="316" r:id="rId11"/>
    <p:sldId id="274" r:id="rId12"/>
    <p:sldId id="319" r:id="rId13"/>
    <p:sldId id="320" r:id="rId14"/>
    <p:sldId id="321" r:id="rId15"/>
    <p:sldId id="322" r:id="rId16"/>
    <p:sldId id="323" r:id="rId17"/>
    <p:sldId id="326" r:id="rId18"/>
    <p:sldId id="327" r:id="rId19"/>
    <p:sldId id="325" r:id="rId20"/>
    <p:sldId id="328" r:id="rId21"/>
    <p:sldId id="329" r:id="rId22"/>
    <p:sldId id="330" r:id="rId23"/>
    <p:sldId id="331" r:id="rId24"/>
    <p:sldId id="332" r:id="rId25"/>
    <p:sldId id="333" r:id="rId26"/>
    <p:sldId id="334" r:id="rId27"/>
    <p:sldId id="335" r:id="rId28"/>
    <p:sldId id="268" r:id="rId29"/>
    <p:sldId id="336" r:id="rId30"/>
    <p:sldId id="281" r:id="rId31"/>
    <p:sldId id="337" r:id="rId32"/>
    <p:sldId id="339" r:id="rId33"/>
    <p:sldId id="340" r:id="rId34"/>
    <p:sldId id="341" r:id="rId35"/>
    <p:sldId id="342" r:id="rId36"/>
    <p:sldId id="338" r:id="rId37"/>
    <p:sldId id="324" r:id="rId38"/>
  </p:sldIdLst>
  <p:sldSz cx="9144000" cy="5143500" type="screen16x9"/>
  <p:notesSz cx="6858000" cy="9144000"/>
  <p:embeddedFontLst>
    <p:embeddedFont>
      <p:font typeface="Bebas Neue" panose="020B0606020202050201" pitchFamily="34" charset="0"/>
      <p:regular r:id="rId40"/>
    </p:embeddedFont>
    <p:embeddedFont>
      <p:font typeface="Mulish" panose="020B0604020202020204" charset="0"/>
      <p:regular r:id="rId41"/>
      <p:bold r:id="rId42"/>
      <p:italic r:id="rId43"/>
      <p:boldItalic r:id="rId44"/>
    </p:embeddedFont>
    <p:embeddedFont>
      <p:font typeface="Nunito Light" pitchFamily="2" charset="0"/>
      <p:regular r:id="rId45"/>
      <p:italic r:id="rId46"/>
    </p:embeddedFont>
    <p:embeddedFont>
      <p:font typeface="Quicksand" panose="020B0604020202020204"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3838B-1199-4404-B519-81474CCC2AB1}" v="111" dt="2025-07-07T19:08:58.638"/>
  </p1510:revLst>
</p1510:revInfo>
</file>

<file path=ppt/tableStyles.xml><?xml version="1.0" encoding="utf-8"?>
<a:tblStyleLst xmlns:a="http://schemas.openxmlformats.org/drawingml/2006/main" def="{13B8F912-B81C-4288-96BF-150D89055785}">
  <a:tblStyle styleId="{13B8F912-B81C-4288-96BF-150D8905578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22" d="100"/>
          <a:sy n="122" d="100"/>
        </p:scale>
        <p:origin x="34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shish kaushal" userId="1a64e6081ac2c34b" providerId="LiveId" clId="{B913838B-1199-4404-B519-81474CCC2AB1}"/>
    <pc:docChg chg="undo redo custSel modSld modMainMaster">
      <pc:chgData name="kashish kaushal" userId="1a64e6081ac2c34b" providerId="LiveId" clId="{B913838B-1199-4404-B519-81474CCC2AB1}" dt="2025-07-07T19:09:44.934" v="421" actId="20577"/>
      <pc:docMkLst>
        <pc:docMk/>
      </pc:docMkLst>
      <pc:sldChg chg="modTransition">
        <pc:chgData name="kashish kaushal" userId="1a64e6081ac2c34b" providerId="LiveId" clId="{B913838B-1199-4404-B519-81474CCC2AB1}" dt="2025-07-03T20:02:35.169" v="177"/>
        <pc:sldMkLst>
          <pc:docMk/>
          <pc:sldMk cId="0" sldId="256"/>
        </pc:sldMkLst>
      </pc:sldChg>
      <pc:sldChg chg="modTransition">
        <pc:chgData name="kashish kaushal" userId="1a64e6081ac2c34b" providerId="LiveId" clId="{B913838B-1199-4404-B519-81474CCC2AB1}" dt="2025-07-03T19:55:54.499" v="85"/>
        <pc:sldMkLst>
          <pc:docMk/>
          <pc:sldMk cId="0" sldId="257"/>
        </pc:sldMkLst>
      </pc:sldChg>
      <pc:sldChg chg="modSp mod modTransition modNotesTx">
        <pc:chgData name="kashish kaushal" userId="1a64e6081ac2c34b" providerId="LiveId" clId="{B913838B-1199-4404-B519-81474CCC2AB1}" dt="2025-07-06T23:04:11.567" v="192" actId="20577"/>
        <pc:sldMkLst>
          <pc:docMk/>
          <pc:sldMk cId="0" sldId="258"/>
        </pc:sldMkLst>
        <pc:spChg chg="mod">
          <ac:chgData name="kashish kaushal" userId="1a64e6081ac2c34b" providerId="LiveId" clId="{B913838B-1199-4404-B519-81474CCC2AB1}" dt="2025-07-06T23:00:16.189" v="185" actId="20577"/>
          <ac:spMkLst>
            <pc:docMk/>
            <pc:sldMk cId="0" sldId="258"/>
            <ac:spMk id="307" creationId="{00000000-0000-0000-0000-000000000000}"/>
          </ac:spMkLst>
        </pc:spChg>
      </pc:sldChg>
      <pc:sldChg chg="modTransition">
        <pc:chgData name="kashish kaushal" userId="1a64e6081ac2c34b" providerId="LiveId" clId="{B913838B-1199-4404-B519-81474CCC2AB1}" dt="2025-07-03T19:55:54.499" v="85"/>
        <pc:sldMkLst>
          <pc:docMk/>
          <pc:sldMk cId="0" sldId="260"/>
        </pc:sldMkLst>
      </pc:sldChg>
      <pc:sldChg chg="modSp mod modTransition">
        <pc:chgData name="kashish kaushal" userId="1a64e6081ac2c34b" providerId="LiveId" clId="{B913838B-1199-4404-B519-81474CCC2AB1}" dt="2025-07-03T19:55:54.499" v="85"/>
        <pc:sldMkLst>
          <pc:docMk/>
          <pc:sldMk cId="0" sldId="268"/>
        </pc:sldMkLst>
        <pc:spChg chg="mod">
          <ac:chgData name="kashish kaushal" userId="1a64e6081ac2c34b" providerId="LiveId" clId="{B913838B-1199-4404-B519-81474CCC2AB1}" dt="2025-07-03T14:43:49.214" v="80" actId="123"/>
          <ac:spMkLst>
            <pc:docMk/>
            <pc:sldMk cId="0" sldId="268"/>
            <ac:spMk id="19" creationId="{C2641EE1-AAEF-D651-9923-7723A7A54ECB}"/>
          </ac:spMkLst>
        </pc:spChg>
      </pc:sldChg>
      <pc:sldChg chg="modTransition">
        <pc:chgData name="kashish kaushal" userId="1a64e6081ac2c34b" providerId="LiveId" clId="{B913838B-1199-4404-B519-81474CCC2AB1}" dt="2025-07-03T19:55:54.499" v="85"/>
        <pc:sldMkLst>
          <pc:docMk/>
          <pc:sldMk cId="0" sldId="274"/>
        </pc:sldMkLst>
      </pc:sldChg>
      <pc:sldChg chg="modTransition">
        <pc:chgData name="kashish kaushal" userId="1a64e6081ac2c34b" providerId="LiveId" clId="{B913838B-1199-4404-B519-81474CCC2AB1}" dt="2025-07-03T19:55:54.499" v="85"/>
        <pc:sldMkLst>
          <pc:docMk/>
          <pc:sldMk cId="0" sldId="281"/>
        </pc:sldMkLst>
      </pc:sldChg>
      <pc:sldChg chg="modSp mod modTransition">
        <pc:chgData name="kashish kaushal" userId="1a64e6081ac2c34b" providerId="LiveId" clId="{B913838B-1199-4404-B519-81474CCC2AB1}" dt="2025-07-07T19:00:21.418" v="334" actId="20577"/>
        <pc:sldMkLst>
          <pc:docMk/>
          <pc:sldMk cId="905501430" sldId="307"/>
        </pc:sldMkLst>
        <pc:graphicFrameChg chg="modGraphic">
          <ac:chgData name="kashish kaushal" userId="1a64e6081ac2c34b" providerId="LiveId" clId="{B913838B-1199-4404-B519-81474CCC2AB1}" dt="2025-07-07T19:00:21.418" v="334" actId="20577"/>
          <ac:graphicFrameMkLst>
            <pc:docMk/>
            <pc:sldMk cId="905501430" sldId="307"/>
            <ac:graphicFrameMk id="2" creationId="{D57139B3-F160-2D8E-DD37-8718CD03E4EF}"/>
          </ac:graphicFrameMkLst>
        </pc:graphicFrameChg>
      </pc:sldChg>
      <pc:sldChg chg="modSp mod modTransition">
        <pc:chgData name="kashish kaushal" userId="1a64e6081ac2c34b" providerId="LiveId" clId="{B913838B-1199-4404-B519-81474CCC2AB1}" dt="2025-07-03T19:55:54.499" v="85"/>
        <pc:sldMkLst>
          <pc:docMk/>
          <pc:sldMk cId="919165752" sldId="309"/>
        </pc:sldMkLst>
        <pc:graphicFrameChg chg="modGraphic">
          <ac:chgData name="kashish kaushal" userId="1a64e6081ac2c34b" providerId="LiveId" clId="{B913838B-1199-4404-B519-81474CCC2AB1}" dt="2025-07-03T14:41:20.981" v="70" actId="2711"/>
          <ac:graphicFrameMkLst>
            <pc:docMk/>
            <pc:sldMk cId="919165752" sldId="309"/>
            <ac:graphicFrameMk id="2" creationId="{60EE5050-BE97-C3C2-AE1E-52656136C746}"/>
          </ac:graphicFrameMkLst>
        </pc:graphicFrameChg>
      </pc:sldChg>
      <pc:sldChg chg="modSp mod modTransition">
        <pc:chgData name="kashish kaushal" userId="1a64e6081ac2c34b" providerId="LiveId" clId="{B913838B-1199-4404-B519-81474CCC2AB1}" dt="2025-07-03T19:55:54.499" v="85"/>
        <pc:sldMkLst>
          <pc:docMk/>
          <pc:sldMk cId="1756618113" sldId="310"/>
        </pc:sldMkLst>
        <pc:graphicFrameChg chg="modGraphic">
          <ac:chgData name="kashish kaushal" userId="1a64e6081ac2c34b" providerId="LiveId" clId="{B913838B-1199-4404-B519-81474CCC2AB1}" dt="2025-07-03T14:41:15.418" v="69" actId="2711"/>
          <ac:graphicFrameMkLst>
            <pc:docMk/>
            <pc:sldMk cId="1756618113" sldId="310"/>
            <ac:graphicFrameMk id="2" creationId="{407BD7C4-C06B-4302-DF0A-763D90EB4DA3}"/>
          </ac:graphicFrameMkLst>
        </pc:graphicFrameChg>
      </pc:sldChg>
      <pc:sldChg chg="modSp mod modTransition">
        <pc:chgData name="kashish kaushal" userId="1a64e6081ac2c34b" providerId="LiveId" clId="{B913838B-1199-4404-B519-81474CCC2AB1}" dt="2025-07-03T19:55:54.499" v="85"/>
        <pc:sldMkLst>
          <pc:docMk/>
          <pc:sldMk cId="2102751585" sldId="312"/>
        </pc:sldMkLst>
        <pc:graphicFrameChg chg="modGraphic">
          <ac:chgData name="kashish kaushal" userId="1a64e6081ac2c34b" providerId="LiveId" clId="{B913838B-1199-4404-B519-81474CCC2AB1}" dt="2025-07-03T14:41:27.115" v="71" actId="2711"/>
          <ac:graphicFrameMkLst>
            <pc:docMk/>
            <pc:sldMk cId="2102751585" sldId="312"/>
            <ac:graphicFrameMk id="2" creationId="{0F1E4046-23B3-0AF5-9A1C-E7A09A25C185}"/>
          </ac:graphicFrameMkLst>
        </pc:graphicFrameChg>
      </pc:sldChg>
      <pc:sldChg chg="modSp mod modTransition">
        <pc:chgData name="kashish kaushal" userId="1a64e6081ac2c34b" providerId="LiveId" clId="{B913838B-1199-4404-B519-81474CCC2AB1}" dt="2025-07-07T19:09:28.967" v="420" actId="20577"/>
        <pc:sldMkLst>
          <pc:docMk/>
          <pc:sldMk cId="2067023824" sldId="314"/>
        </pc:sldMkLst>
        <pc:spChg chg="mod">
          <ac:chgData name="kashish kaushal" userId="1a64e6081ac2c34b" providerId="LiveId" clId="{B913838B-1199-4404-B519-81474CCC2AB1}" dt="2025-07-07T19:09:28.967" v="420" actId="20577"/>
          <ac:spMkLst>
            <pc:docMk/>
            <pc:sldMk cId="2067023824" sldId="314"/>
            <ac:spMk id="296" creationId="{611CB48F-E84D-30CD-06E7-7A815AE53CE0}"/>
          </ac:spMkLst>
        </pc:spChg>
      </pc:sldChg>
      <pc:sldChg chg="modSp mod modTransition">
        <pc:chgData name="kashish kaushal" userId="1a64e6081ac2c34b" providerId="LiveId" clId="{B913838B-1199-4404-B519-81474CCC2AB1}" dt="2025-07-07T19:09:44.934" v="421" actId="20577"/>
        <pc:sldMkLst>
          <pc:docMk/>
          <pc:sldMk cId="2845685978" sldId="316"/>
        </pc:sldMkLst>
        <pc:spChg chg="mod">
          <ac:chgData name="kashish kaushal" userId="1a64e6081ac2c34b" providerId="LiveId" clId="{B913838B-1199-4404-B519-81474CCC2AB1}" dt="2025-07-07T19:09:44.934" v="421" actId="20577"/>
          <ac:spMkLst>
            <pc:docMk/>
            <pc:sldMk cId="2845685978" sldId="316"/>
            <ac:spMk id="296" creationId="{04E20C1C-0D10-DA7D-B352-EFB2364BAF42}"/>
          </ac:spMkLst>
        </pc:spChg>
      </pc:sldChg>
      <pc:sldChg chg="modTransition">
        <pc:chgData name="kashish kaushal" userId="1a64e6081ac2c34b" providerId="LiveId" clId="{B913838B-1199-4404-B519-81474CCC2AB1}" dt="2025-07-03T19:55:54.499" v="85"/>
        <pc:sldMkLst>
          <pc:docMk/>
          <pc:sldMk cId="4106788162" sldId="319"/>
        </pc:sldMkLst>
      </pc:sldChg>
      <pc:sldChg chg="modTransition">
        <pc:chgData name="kashish kaushal" userId="1a64e6081ac2c34b" providerId="LiveId" clId="{B913838B-1199-4404-B519-81474CCC2AB1}" dt="2025-07-06T23:06:18.516" v="193"/>
        <pc:sldMkLst>
          <pc:docMk/>
          <pc:sldMk cId="876700100" sldId="320"/>
        </pc:sldMkLst>
      </pc:sldChg>
      <pc:sldChg chg="modTransition">
        <pc:chgData name="kashish kaushal" userId="1a64e6081ac2c34b" providerId="LiveId" clId="{B913838B-1199-4404-B519-81474CCC2AB1}" dt="2025-07-03T19:55:54.499" v="85"/>
        <pc:sldMkLst>
          <pc:docMk/>
          <pc:sldMk cId="3119334132" sldId="321"/>
        </pc:sldMkLst>
      </pc:sldChg>
      <pc:sldChg chg="modTransition">
        <pc:chgData name="kashish kaushal" userId="1a64e6081ac2c34b" providerId="LiveId" clId="{B913838B-1199-4404-B519-81474CCC2AB1}" dt="2025-07-03T19:55:54.499" v="85"/>
        <pc:sldMkLst>
          <pc:docMk/>
          <pc:sldMk cId="1971210713" sldId="322"/>
        </pc:sldMkLst>
      </pc:sldChg>
      <pc:sldChg chg="modSp mod modTransition">
        <pc:chgData name="kashish kaushal" userId="1a64e6081ac2c34b" providerId="LiveId" clId="{B913838B-1199-4404-B519-81474CCC2AB1}" dt="2025-07-07T15:40:32.481" v="197" actId="1076"/>
        <pc:sldMkLst>
          <pc:docMk/>
          <pc:sldMk cId="245787351" sldId="323"/>
        </pc:sldMkLst>
        <pc:spChg chg="mod">
          <ac:chgData name="kashish kaushal" userId="1a64e6081ac2c34b" providerId="LiveId" clId="{B913838B-1199-4404-B519-81474CCC2AB1}" dt="2025-07-03T14:42:25.747" v="72" actId="123"/>
          <ac:spMkLst>
            <pc:docMk/>
            <pc:sldMk cId="245787351" sldId="323"/>
            <ac:spMk id="3" creationId="{25D41FE4-3EF2-872A-FC53-4AC330ED2ADF}"/>
          </ac:spMkLst>
        </pc:spChg>
        <pc:spChg chg="mod">
          <ac:chgData name="kashish kaushal" userId="1a64e6081ac2c34b" providerId="LiveId" clId="{B913838B-1199-4404-B519-81474CCC2AB1}" dt="2025-07-07T15:40:32.481" v="197" actId="1076"/>
          <ac:spMkLst>
            <pc:docMk/>
            <pc:sldMk cId="245787351" sldId="323"/>
            <ac:spMk id="10" creationId="{F1613529-5CE5-91DB-855E-24B6790767FC}"/>
          </ac:spMkLst>
        </pc:spChg>
      </pc:sldChg>
      <pc:sldChg chg="modSp mod modTransition">
        <pc:chgData name="kashish kaushal" userId="1a64e6081ac2c34b" providerId="LiveId" clId="{B913838B-1199-4404-B519-81474CCC2AB1}" dt="2025-07-07T13:04:03.453" v="194" actId="14100"/>
        <pc:sldMkLst>
          <pc:docMk/>
          <pc:sldMk cId="2780014226" sldId="324"/>
        </pc:sldMkLst>
        <pc:picChg chg="mod">
          <ac:chgData name="kashish kaushal" userId="1a64e6081ac2c34b" providerId="LiveId" clId="{B913838B-1199-4404-B519-81474CCC2AB1}" dt="2025-07-07T13:04:03.453" v="194" actId="14100"/>
          <ac:picMkLst>
            <pc:docMk/>
            <pc:sldMk cId="2780014226" sldId="324"/>
            <ac:picMk id="4" creationId="{DF0E9879-7CC7-53B3-4AE9-DE7ABD8C61BE}"/>
          </ac:picMkLst>
        </pc:picChg>
      </pc:sldChg>
      <pc:sldChg chg="modTransition">
        <pc:chgData name="kashish kaushal" userId="1a64e6081ac2c34b" providerId="LiveId" clId="{B913838B-1199-4404-B519-81474CCC2AB1}" dt="2025-07-03T19:55:54.499" v="85"/>
        <pc:sldMkLst>
          <pc:docMk/>
          <pc:sldMk cId="179088097" sldId="325"/>
        </pc:sldMkLst>
      </pc:sldChg>
      <pc:sldChg chg="modSp mod modTransition">
        <pc:chgData name="kashish kaushal" userId="1a64e6081ac2c34b" providerId="LiveId" clId="{B913838B-1199-4404-B519-81474CCC2AB1}" dt="2025-07-03T19:55:54.499" v="85"/>
        <pc:sldMkLst>
          <pc:docMk/>
          <pc:sldMk cId="1209328874" sldId="326"/>
        </pc:sldMkLst>
        <pc:spChg chg="mod">
          <ac:chgData name="kashish kaushal" userId="1a64e6081ac2c34b" providerId="LiveId" clId="{B913838B-1199-4404-B519-81474CCC2AB1}" dt="2025-07-03T14:42:36.109" v="73" actId="123"/>
          <ac:spMkLst>
            <pc:docMk/>
            <pc:sldMk cId="1209328874" sldId="326"/>
            <ac:spMk id="3" creationId="{69D43297-4D50-9011-C5FA-4DF539A1C31D}"/>
          </ac:spMkLst>
        </pc:spChg>
      </pc:sldChg>
      <pc:sldChg chg="modTransition">
        <pc:chgData name="kashish kaushal" userId="1a64e6081ac2c34b" providerId="LiveId" clId="{B913838B-1199-4404-B519-81474CCC2AB1}" dt="2025-07-03T19:55:54.499" v="85"/>
        <pc:sldMkLst>
          <pc:docMk/>
          <pc:sldMk cId="1599039508" sldId="327"/>
        </pc:sldMkLst>
      </pc:sldChg>
      <pc:sldChg chg="modSp mod modTransition">
        <pc:chgData name="kashish kaushal" userId="1a64e6081ac2c34b" providerId="LiveId" clId="{B913838B-1199-4404-B519-81474CCC2AB1}" dt="2025-07-03T19:55:54.499" v="85"/>
        <pc:sldMkLst>
          <pc:docMk/>
          <pc:sldMk cId="3032152878" sldId="328"/>
        </pc:sldMkLst>
        <pc:spChg chg="mod">
          <ac:chgData name="kashish kaushal" userId="1a64e6081ac2c34b" providerId="LiveId" clId="{B913838B-1199-4404-B519-81474CCC2AB1}" dt="2025-07-03T14:42:49.353" v="74" actId="123"/>
          <ac:spMkLst>
            <pc:docMk/>
            <pc:sldMk cId="3032152878" sldId="328"/>
            <ac:spMk id="11" creationId="{2EE17982-DD0B-6D3E-1DE8-D7CCA25DBB8A}"/>
          </ac:spMkLst>
        </pc:spChg>
      </pc:sldChg>
      <pc:sldChg chg="modSp mod modTransition">
        <pc:chgData name="kashish kaushal" userId="1a64e6081ac2c34b" providerId="LiveId" clId="{B913838B-1199-4404-B519-81474CCC2AB1}" dt="2025-07-03T19:55:54.499" v="85"/>
        <pc:sldMkLst>
          <pc:docMk/>
          <pc:sldMk cId="2687962461" sldId="329"/>
        </pc:sldMkLst>
        <pc:spChg chg="mod">
          <ac:chgData name="kashish kaushal" userId="1a64e6081ac2c34b" providerId="LiveId" clId="{B913838B-1199-4404-B519-81474CCC2AB1}" dt="2025-07-03T14:42:53.504" v="75" actId="123"/>
          <ac:spMkLst>
            <pc:docMk/>
            <pc:sldMk cId="2687962461" sldId="329"/>
            <ac:spMk id="11" creationId="{BB3F5039-0CEF-29DB-09EB-67AB99C9A0E5}"/>
          </ac:spMkLst>
        </pc:spChg>
      </pc:sldChg>
      <pc:sldChg chg="modSp mod modTransition">
        <pc:chgData name="kashish kaushal" userId="1a64e6081ac2c34b" providerId="LiveId" clId="{B913838B-1199-4404-B519-81474CCC2AB1}" dt="2025-07-03T19:55:54.499" v="85"/>
        <pc:sldMkLst>
          <pc:docMk/>
          <pc:sldMk cId="4210252823" sldId="330"/>
        </pc:sldMkLst>
        <pc:spChg chg="mod">
          <ac:chgData name="kashish kaushal" userId="1a64e6081ac2c34b" providerId="LiveId" clId="{B913838B-1199-4404-B519-81474CCC2AB1}" dt="2025-07-03T14:43:03.931" v="77" actId="14100"/>
          <ac:spMkLst>
            <pc:docMk/>
            <pc:sldMk cId="4210252823" sldId="330"/>
            <ac:spMk id="11" creationId="{7C409F0D-D8C7-F713-3C4F-27BA9B8E2649}"/>
          </ac:spMkLst>
        </pc:spChg>
      </pc:sldChg>
      <pc:sldChg chg="modSp mod modTransition">
        <pc:chgData name="kashish kaushal" userId="1a64e6081ac2c34b" providerId="LiveId" clId="{B913838B-1199-4404-B519-81474CCC2AB1}" dt="2025-07-03T19:55:54.499" v="85"/>
        <pc:sldMkLst>
          <pc:docMk/>
          <pc:sldMk cId="496172110" sldId="331"/>
        </pc:sldMkLst>
        <pc:spChg chg="mod">
          <ac:chgData name="kashish kaushal" userId="1a64e6081ac2c34b" providerId="LiveId" clId="{B913838B-1199-4404-B519-81474CCC2AB1}" dt="2025-07-03T14:43:10.497" v="78" actId="123"/>
          <ac:spMkLst>
            <pc:docMk/>
            <pc:sldMk cId="496172110" sldId="331"/>
            <ac:spMk id="11" creationId="{DA86288B-BDA4-4469-73F2-995C3D516EE9}"/>
          </ac:spMkLst>
        </pc:spChg>
      </pc:sldChg>
      <pc:sldChg chg="modTransition">
        <pc:chgData name="kashish kaushal" userId="1a64e6081ac2c34b" providerId="LiveId" clId="{B913838B-1199-4404-B519-81474CCC2AB1}" dt="2025-07-03T19:55:54.499" v="85"/>
        <pc:sldMkLst>
          <pc:docMk/>
          <pc:sldMk cId="3070624473" sldId="332"/>
        </pc:sldMkLst>
      </pc:sldChg>
      <pc:sldChg chg="modSp mod modTransition">
        <pc:chgData name="kashish kaushal" userId="1a64e6081ac2c34b" providerId="LiveId" clId="{B913838B-1199-4404-B519-81474CCC2AB1}" dt="2025-07-03T19:55:54.499" v="85"/>
        <pc:sldMkLst>
          <pc:docMk/>
          <pc:sldMk cId="619769502" sldId="333"/>
        </pc:sldMkLst>
        <pc:spChg chg="mod">
          <ac:chgData name="kashish kaushal" userId="1a64e6081ac2c34b" providerId="LiveId" clId="{B913838B-1199-4404-B519-81474CCC2AB1}" dt="2025-07-03T14:43:24.218" v="79" actId="123"/>
          <ac:spMkLst>
            <pc:docMk/>
            <pc:sldMk cId="619769502" sldId="333"/>
            <ac:spMk id="10" creationId="{FACDC326-E4DA-ED0D-B6A1-1C07C9C02A0F}"/>
          </ac:spMkLst>
        </pc:spChg>
      </pc:sldChg>
      <pc:sldChg chg="modTransition">
        <pc:chgData name="kashish kaushal" userId="1a64e6081ac2c34b" providerId="LiveId" clId="{B913838B-1199-4404-B519-81474CCC2AB1}" dt="2025-07-03T19:55:54.499" v="85"/>
        <pc:sldMkLst>
          <pc:docMk/>
          <pc:sldMk cId="2457944330" sldId="334"/>
        </pc:sldMkLst>
      </pc:sldChg>
      <pc:sldChg chg="modTransition">
        <pc:chgData name="kashish kaushal" userId="1a64e6081ac2c34b" providerId="LiveId" clId="{B913838B-1199-4404-B519-81474CCC2AB1}" dt="2025-07-03T19:55:54.499" v="85"/>
        <pc:sldMkLst>
          <pc:docMk/>
          <pc:sldMk cId="3983163002" sldId="335"/>
        </pc:sldMkLst>
      </pc:sldChg>
      <pc:sldChg chg="modSp mod modTransition">
        <pc:chgData name="kashish kaushal" userId="1a64e6081ac2c34b" providerId="LiveId" clId="{B913838B-1199-4404-B519-81474CCC2AB1}" dt="2025-07-03T19:55:54.499" v="85"/>
        <pc:sldMkLst>
          <pc:docMk/>
          <pc:sldMk cId="4134839171" sldId="336"/>
        </pc:sldMkLst>
        <pc:spChg chg="mod">
          <ac:chgData name="kashish kaushal" userId="1a64e6081ac2c34b" providerId="LiveId" clId="{B913838B-1199-4404-B519-81474CCC2AB1}" dt="2025-07-03T14:43:57.485" v="83" actId="123"/>
          <ac:spMkLst>
            <pc:docMk/>
            <pc:sldMk cId="4134839171" sldId="336"/>
            <ac:spMk id="19" creationId="{42F42FDC-E6A6-05F1-A60C-0C8B4A5B3794}"/>
          </ac:spMkLst>
        </pc:spChg>
      </pc:sldChg>
      <pc:sldChg chg="modTransition">
        <pc:chgData name="kashish kaushal" userId="1a64e6081ac2c34b" providerId="LiveId" clId="{B913838B-1199-4404-B519-81474CCC2AB1}" dt="2025-07-03T19:55:54.499" v="85"/>
        <pc:sldMkLst>
          <pc:docMk/>
          <pc:sldMk cId="2300385311" sldId="337"/>
        </pc:sldMkLst>
      </pc:sldChg>
      <pc:sldChg chg="modSp mod modTransition">
        <pc:chgData name="kashish kaushal" userId="1a64e6081ac2c34b" providerId="LiveId" clId="{B913838B-1199-4404-B519-81474CCC2AB1}" dt="2025-07-07T15:53:39.605" v="235" actId="20577"/>
        <pc:sldMkLst>
          <pc:docMk/>
          <pc:sldMk cId="2231217509" sldId="338"/>
        </pc:sldMkLst>
        <pc:spChg chg="mod">
          <ac:chgData name="kashish kaushal" userId="1a64e6081ac2c34b" providerId="LiveId" clId="{B913838B-1199-4404-B519-81474CCC2AB1}" dt="2025-07-07T15:53:39.605" v="235" actId="20577"/>
          <ac:spMkLst>
            <pc:docMk/>
            <pc:sldMk cId="2231217509" sldId="338"/>
            <ac:spMk id="776" creationId="{A4482BC4-960E-44A8-C0C1-57CF235BD671}"/>
          </ac:spMkLst>
        </pc:spChg>
      </pc:sldChg>
      <pc:sldChg chg="modTransition">
        <pc:chgData name="kashish kaushal" userId="1a64e6081ac2c34b" providerId="LiveId" clId="{B913838B-1199-4404-B519-81474CCC2AB1}" dt="2025-07-03T19:55:54.499" v="85"/>
        <pc:sldMkLst>
          <pc:docMk/>
          <pc:sldMk cId="1208189427" sldId="339"/>
        </pc:sldMkLst>
      </pc:sldChg>
      <pc:sldChg chg="modTransition">
        <pc:chgData name="kashish kaushal" userId="1a64e6081ac2c34b" providerId="LiveId" clId="{B913838B-1199-4404-B519-81474CCC2AB1}" dt="2025-07-03T19:55:54.499" v="85"/>
        <pc:sldMkLst>
          <pc:docMk/>
          <pc:sldMk cId="2691150980" sldId="340"/>
        </pc:sldMkLst>
      </pc:sldChg>
      <pc:sldChg chg="modTransition">
        <pc:chgData name="kashish kaushal" userId="1a64e6081ac2c34b" providerId="LiveId" clId="{B913838B-1199-4404-B519-81474CCC2AB1}" dt="2025-07-03T19:55:54.499" v="85"/>
        <pc:sldMkLst>
          <pc:docMk/>
          <pc:sldMk cId="2197604865" sldId="341"/>
        </pc:sldMkLst>
      </pc:sldChg>
      <pc:sldChg chg="modTransition">
        <pc:chgData name="kashish kaushal" userId="1a64e6081ac2c34b" providerId="LiveId" clId="{B913838B-1199-4404-B519-81474CCC2AB1}" dt="2025-07-03T19:55:54.499" v="85"/>
        <pc:sldMkLst>
          <pc:docMk/>
          <pc:sldMk cId="95023040" sldId="342"/>
        </pc:sldMkLst>
      </pc:sldChg>
      <pc:sldMasterChg chg="modTransition modSldLayout">
        <pc:chgData name="kashish kaushal" userId="1a64e6081ac2c34b" providerId="LiveId" clId="{B913838B-1199-4404-B519-81474CCC2AB1}" dt="2025-07-03T19:55:54.499" v="85"/>
        <pc:sldMasterMkLst>
          <pc:docMk/>
          <pc:sldMasterMk cId="0" sldId="2147483674"/>
        </pc:sldMasterMkLst>
        <pc:sldLayoutChg chg="modTransition">
          <pc:chgData name="kashish kaushal" userId="1a64e6081ac2c34b" providerId="LiveId" clId="{B913838B-1199-4404-B519-81474CCC2AB1}" dt="2025-07-03T19:55:54.499" v="85"/>
          <pc:sldLayoutMkLst>
            <pc:docMk/>
            <pc:sldMasterMk cId="0" sldId="2147483674"/>
            <pc:sldLayoutMk cId="0" sldId="2147483648"/>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0"/>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2"/>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3"/>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5"/>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8"/>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59"/>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62"/>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64"/>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65"/>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70"/>
          </pc:sldLayoutMkLst>
        </pc:sldLayoutChg>
        <pc:sldLayoutChg chg="modTransition">
          <pc:chgData name="kashish kaushal" userId="1a64e6081ac2c34b" providerId="LiveId" clId="{B913838B-1199-4404-B519-81474CCC2AB1}" dt="2025-07-03T19:55:54.499" v="85"/>
          <pc:sldLayoutMkLst>
            <pc:docMk/>
            <pc:sldMasterMk cId="0" sldId="2147483674"/>
            <pc:sldLayoutMk cId="0"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Large amount of hospital data is generated.</a:t>
            </a:r>
            <a:br>
              <a:rPr lang="en-US" dirty="0"/>
            </a:br>
            <a:r>
              <a:rPr lang="en-US" dirty="0"/>
              <a:t>Edge–Fog–Cloud architecture helps in reducing delay by processing critical data close to source while allowing complex tasks to be handled at Fog or Cloud, achieving both </a:t>
            </a:r>
            <a:r>
              <a:rPr lang="en-US" b="1" dirty="0"/>
              <a:t>speed and scalability</a:t>
            </a:r>
            <a:r>
              <a:rPr lang="en-US" dirty="0"/>
              <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BFE2E836-83D2-1F94-894A-84F2D0CE10F5}"/>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7977A1DD-6370-F7CC-B9B5-4372BB18FF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CF15B25B-4E90-C000-B805-43AD4545B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1942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3C563081-C2F9-6DEC-1174-1405655D201F}"/>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5DD1565E-C45B-09F7-AC6F-E066A52E0C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5A89DA9B-2965-2BFE-EB30-A572C7EB42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1822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97851D08-300A-1CA9-0756-170B1E36875E}"/>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73DFD2F1-D7FC-3D87-BA2D-E757F483FC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E57D9490-3848-A2AA-7BFA-07A93EF8F4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692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30151F0D-AC56-8DD9-957A-F70D7D99D1BA}"/>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F864597B-4A43-F83B-CAB7-130CA9F92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5801F785-B401-E344-5DAE-388B4CDA37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8931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2CE7EBDA-DDA7-629A-C474-64DD3808AA7F}"/>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57654AEF-48BC-3716-2B7E-0147BF7948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41F47B30-EE8D-A343-5D51-7BC3B6FA7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560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44B43023-424B-6102-A497-E78B04666180}"/>
            </a:ext>
          </a:extLst>
        </p:cNvPr>
        <p:cNvGrpSpPr/>
        <p:nvPr/>
      </p:nvGrpSpPr>
      <p:grpSpPr>
        <a:xfrm>
          <a:off x="0" y="0"/>
          <a:ext cx="0" cy="0"/>
          <a:chOff x="0" y="0"/>
          <a:chExt cx="0" cy="0"/>
        </a:xfrm>
      </p:grpSpPr>
      <p:sp>
        <p:nvSpPr>
          <p:cNvPr id="292" name="Google Shape;292;g133f6155f6d_0_3:notes">
            <a:extLst>
              <a:ext uri="{FF2B5EF4-FFF2-40B4-BE49-F238E27FC236}">
                <a16:creationId xmlns:a16="http://schemas.microsoft.com/office/drawing/2014/main" id="{2D779E64-0677-10B5-91B2-FBB33A0950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a:extLst>
              <a:ext uri="{FF2B5EF4-FFF2-40B4-BE49-F238E27FC236}">
                <a16:creationId xmlns:a16="http://schemas.microsoft.com/office/drawing/2014/main" id="{BC1E1A53-272F-04B5-826D-68DF41D3D4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6531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A61467C5-1BEC-94E6-4171-65B90209832A}"/>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9D7B8E91-9BB5-5F89-4896-B309E466EE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5ABFF7BA-2363-5C3E-88CC-0400179AE6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067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4AA90E48-6420-B469-4EE6-FD6A21F7E696}"/>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44F99818-2512-EF23-A641-F8D9E5E37E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0B6B3302-5622-A693-7B2F-E3CDA485F5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0296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1496356A-C080-A01F-2055-085BBF468BDD}"/>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8FC65A78-D90B-6562-8789-00D6C5C478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5F138B56-246E-CEC0-A643-10966218FF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028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2BAE810C-BC54-7573-D36A-21A1D6C96085}"/>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2EC08409-BEB6-AF4B-841E-7C4F6A5626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13A058B9-8DED-4239-21C6-4AD012709B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208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CDC4CD88-AF10-5569-1E9F-486C04C128FD}"/>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867B986E-D7C7-15B4-FEDA-973AE1260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467CA555-5E35-81A1-1C6B-3F2D775FBC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4810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46610DF1-D493-2F21-8B10-0CBE14F79DC7}"/>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640E6845-DC40-D94C-99F1-F7C583248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4FBF82E7-04AE-7144-EE26-787585017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6232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13E2E5A2-6D20-7B3B-B695-A1FA60675B7D}"/>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C7D64EE8-54A0-3F0E-7E81-03C380B2C9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EEE13607-94C4-306E-5ED3-9B27D79BF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7188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B647C985-275D-BFC4-B994-67851358BAE5}"/>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926CBCA0-4A78-3542-A9F8-1B1A8D15E0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918D9E91-343E-0B40-6F05-C4E4F07B4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8904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FD1D44A8-0B02-AA68-62CA-C8B22CD9E4E9}"/>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EDF6D225-4236-8303-DE88-B9858F02B0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D7A8D19C-F5B3-3724-AB47-2CDFA4A97E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3623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AE9A9674-9D91-FE08-BD27-0DD06639DCDB}"/>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8295D028-C68C-564D-4D3A-7AD9DF1A06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69E67536-5875-3626-F936-5731D085F6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8346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9C6669A6-9E1F-0B00-A709-5960C6EBFBB2}"/>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AE648B99-66DF-1092-AD3B-DBFBF855A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871DAFB4-1F22-6EFE-168A-BE57DDC36A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26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57FF9A56-9F0B-0BFF-9B0C-E804951AA16F}"/>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4BE63E3F-8D82-12CF-8A98-4EFB0E067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2624AE86-EEC9-E298-FF97-F8F6EEBDF4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6406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A4D743D7-44CD-6D6D-9CE2-E69685DDD71D}"/>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A8F694E4-126F-69E5-E625-35BBA24D7C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27FD6CD7-BEB2-1A57-34EA-21351A1995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194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9817A064-E19D-5AB7-554A-AC401E7E02E1}"/>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C3F0C544-9CE5-1984-071D-01C8A94AC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DE0EBDDC-565B-3EAA-9506-9911CF99F8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195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A1106484-1356-351D-D8DA-E8CF5EBA945C}"/>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65661796-755E-98E0-9293-796295C9C0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FD00FEE9-FB76-0A09-7714-E7C7394585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2662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C5A51763-0E2B-FCB4-9D3C-5A1808B54002}"/>
            </a:ext>
          </a:extLst>
        </p:cNvPr>
        <p:cNvGrpSpPr/>
        <p:nvPr/>
      </p:nvGrpSpPr>
      <p:grpSpPr>
        <a:xfrm>
          <a:off x="0" y="0"/>
          <a:ext cx="0" cy="0"/>
          <a:chOff x="0" y="0"/>
          <a:chExt cx="0" cy="0"/>
        </a:xfrm>
      </p:grpSpPr>
      <p:sp>
        <p:nvSpPr>
          <p:cNvPr id="545" name="Google Shape;545;g54dda1946d_4_2679:notes">
            <a:extLst>
              <a:ext uri="{FF2B5EF4-FFF2-40B4-BE49-F238E27FC236}">
                <a16:creationId xmlns:a16="http://schemas.microsoft.com/office/drawing/2014/main" id="{574EA062-025A-311A-3B22-901B2CD75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a:extLst>
              <a:ext uri="{FF2B5EF4-FFF2-40B4-BE49-F238E27FC236}">
                <a16:creationId xmlns:a16="http://schemas.microsoft.com/office/drawing/2014/main" id="{F18924B2-9F4B-1E01-EDFE-55202FC711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67068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33f6155f6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33f6155f6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a:extLst>
            <a:ext uri="{FF2B5EF4-FFF2-40B4-BE49-F238E27FC236}">
              <a16:creationId xmlns:a16="http://schemas.microsoft.com/office/drawing/2014/main" id="{4D074A52-F173-A5AE-BD52-53B8145C69AB}"/>
            </a:ext>
          </a:extLst>
        </p:cNvPr>
        <p:cNvGrpSpPr/>
        <p:nvPr/>
      </p:nvGrpSpPr>
      <p:grpSpPr>
        <a:xfrm>
          <a:off x="0" y="0"/>
          <a:ext cx="0" cy="0"/>
          <a:chOff x="0" y="0"/>
          <a:chExt cx="0" cy="0"/>
        </a:xfrm>
      </p:grpSpPr>
      <p:sp>
        <p:nvSpPr>
          <p:cNvPr id="444" name="Google Shape;444;g133f6155f6d_0_69:notes">
            <a:extLst>
              <a:ext uri="{FF2B5EF4-FFF2-40B4-BE49-F238E27FC236}">
                <a16:creationId xmlns:a16="http://schemas.microsoft.com/office/drawing/2014/main" id="{CAB62E3D-110C-11A8-3DD4-970C0B0F34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33f6155f6d_0_69:notes">
            <a:extLst>
              <a:ext uri="{FF2B5EF4-FFF2-40B4-BE49-F238E27FC236}">
                <a16:creationId xmlns:a16="http://schemas.microsoft.com/office/drawing/2014/main" id="{849E10DE-ECCE-5D62-421F-AC44EC01A6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13250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F77626B8-AF3A-0237-C78D-7D7459F1704D}"/>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E31910F3-9FF6-B593-A738-129FFB7903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643574A3-9F18-421A-193A-1D1BA4592C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74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217C719A-A8C1-A9CB-DEF2-535FA0285FAD}"/>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31034015-B542-660E-F5C6-52AF718624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E7E30CD5-0341-4FB4-CA6A-3280BC823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3764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CF1BA2F0-1E18-6C3D-D36B-6515D2F0C56A}"/>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48797A98-A614-7FF1-413F-2D6AD904A6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871BC0C4-09C7-4CA0-6424-6C1ACE7204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90973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D2C39902-1ACE-9E92-BDD1-C6A11F201E60}"/>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5EA23776-192E-EA00-37CD-6141D42AC5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4F0D0A0B-830B-08EA-14EC-3D9293773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75643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62D77F7C-5FF0-4B00-481A-DAC42A2D9B8C}"/>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A0A8E07F-F2DA-EB80-4047-23DC25141C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83D4E0F9-CC7F-1DA3-B978-6D4C7902E3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62902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978CC4EE-47AD-3752-184B-D0FE0C3B3BC9}"/>
            </a:ext>
          </a:extLst>
        </p:cNvPr>
        <p:cNvGrpSpPr/>
        <p:nvPr/>
      </p:nvGrpSpPr>
      <p:grpSpPr>
        <a:xfrm>
          <a:off x="0" y="0"/>
          <a:ext cx="0" cy="0"/>
          <a:chOff x="0" y="0"/>
          <a:chExt cx="0" cy="0"/>
        </a:xfrm>
      </p:grpSpPr>
      <p:sp>
        <p:nvSpPr>
          <p:cNvPr id="772" name="Google Shape;772;g54dda1946d_6_322:notes">
            <a:extLst>
              <a:ext uri="{FF2B5EF4-FFF2-40B4-BE49-F238E27FC236}">
                <a16:creationId xmlns:a16="http://schemas.microsoft.com/office/drawing/2014/main" id="{F0ED08F9-6D7C-25BF-4691-C47B7D5E82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a:extLst>
              <a:ext uri="{FF2B5EF4-FFF2-40B4-BE49-F238E27FC236}">
                <a16:creationId xmlns:a16="http://schemas.microsoft.com/office/drawing/2014/main" id="{DD347452-FAD2-4464-1C62-082ACB498F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5222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a:extLst>
            <a:ext uri="{FF2B5EF4-FFF2-40B4-BE49-F238E27FC236}">
              <a16:creationId xmlns:a16="http://schemas.microsoft.com/office/drawing/2014/main" id="{6C6EA7CF-F199-5BB7-39F2-DD3F80B3CBC5}"/>
            </a:ext>
          </a:extLst>
        </p:cNvPr>
        <p:cNvGrpSpPr/>
        <p:nvPr/>
      </p:nvGrpSpPr>
      <p:grpSpPr>
        <a:xfrm>
          <a:off x="0" y="0"/>
          <a:ext cx="0" cy="0"/>
          <a:chOff x="0" y="0"/>
          <a:chExt cx="0" cy="0"/>
        </a:xfrm>
      </p:grpSpPr>
      <p:sp>
        <p:nvSpPr>
          <p:cNvPr id="779" name="Google Shape;779;g1dd46dd1d67_2_1016:notes">
            <a:extLst>
              <a:ext uri="{FF2B5EF4-FFF2-40B4-BE49-F238E27FC236}">
                <a16:creationId xmlns:a16="http://schemas.microsoft.com/office/drawing/2014/main" id="{A10B799E-A3D3-C202-448D-BF6DFB2F13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1dd46dd1d67_2_1016:notes">
            <a:extLst>
              <a:ext uri="{FF2B5EF4-FFF2-40B4-BE49-F238E27FC236}">
                <a16:creationId xmlns:a16="http://schemas.microsoft.com/office/drawing/2014/main" id="{E8BACFFF-E655-4398-8B97-68F2C0C470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9267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 name="Google Shape;51;p6"/>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52" name="Google Shape;52;p6"/>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53;p6"/>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54" name="Google Shape;54;p6"/>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55" name="Google Shape;55;p6"/>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56" name="Google Shape;56;p6"/>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57" name="Google Shape;5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8"/>
        <p:cNvGrpSpPr/>
        <p:nvPr/>
      </p:nvGrpSpPr>
      <p:grpSpPr>
        <a:xfrm>
          <a:off x="0" y="0"/>
          <a:ext cx="0" cy="0"/>
          <a:chOff x="0" y="0"/>
          <a:chExt cx="0" cy="0"/>
        </a:xfrm>
      </p:grpSpPr>
      <p:sp>
        <p:nvSpPr>
          <p:cNvPr id="59" name="Google Shape;59;p7"/>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7"/>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61" name="Google Shape;61;p7"/>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7"/>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63" name="Google Shape;63;p7"/>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64" name="Google Shape;64;p7"/>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65" name="Google Shape;65;p7"/>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66" name="Google Shape;66;p7"/>
          <p:cNvSpPr txBox="1">
            <a:spLocks noGrp="1"/>
          </p:cNvSpPr>
          <p:nvPr>
            <p:ph type="title"/>
          </p:nvPr>
        </p:nvSpPr>
        <p:spPr>
          <a:xfrm>
            <a:off x="720000" y="445025"/>
            <a:ext cx="6266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7" name="Google Shape;67;p7"/>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Tree>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Tree>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 name="Google Shape;98;p13"/>
          <p:cNvSpPr txBox="1">
            <a:spLocks noGrp="1"/>
          </p:cNvSpPr>
          <p:nvPr>
            <p:ph type="subTitle" idx="1"/>
          </p:nvPr>
        </p:nvSpPr>
        <p:spPr>
          <a:xfrm>
            <a:off x="713225" y="20181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13"/>
          <p:cNvSpPr txBox="1">
            <a:spLocks noGrp="1"/>
          </p:cNvSpPr>
          <p:nvPr>
            <p:ph type="subTitle" idx="2"/>
          </p:nvPr>
        </p:nvSpPr>
        <p:spPr>
          <a:xfrm>
            <a:off x="713225" y="3870728"/>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13"/>
          <p:cNvSpPr txBox="1">
            <a:spLocks noGrp="1"/>
          </p:cNvSpPr>
          <p:nvPr>
            <p:ph type="subTitle" idx="3"/>
          </p:nvPr>
        </p:nvSpPr>
        <p:spPr>
          <a:xfrm>
            <a:off x="3359125"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3"/>
          <p:cNvSpPr txBox="1">
            <a:spLocks noGrp="1"/>
          </p:cNvSpPr>
          <p:nvPr>
            <p:ph type="subTitle" idx="4"/>
          </p:nvPr>
        </p:nvSpPr>
        <p:spPr>
          <a:xfrm>
            <a:off x="3359125"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2" name="Google Shape;102;p13"/>
          <p:cNvSpPr txBox="1">
            <a:spLocks noGrp="1"/>
          </p:cNvSpPr>
          <p:nvPr>
            <p:ph type="title" idx="5" hasCustomPrompt="1"/>
          </p:nvPr>
        </p:nvSpPr>
        <p:spPr>
          <a:xfrm>
            <a:off x="713225" y="1141288"/>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title" idx="6" hasCustomPrompt="1"/>
          </p:nvPr>
        </p:nvSpPr>
        <p:spPr>
          <a:xfrm>
            <a:off x="33591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7" hasCustomPrompt="1"/>
          </p:nvPr>
        </p:nvSpPr>
        <p:spPr>
          <a:xfrm>
            <a:off x="7132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8" hasCustomPrompt="1"/>
          </p:nvPr>
        </p:nvSpPr>
        <p:spPr>
          <a:xfrm>
            <a:off x="3359125"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subTitle" idx="9"/>
          </p:nvPr>
        </p:nvSpPr>
        <p:spPr>
          <a:xfrm>
            <a:off x="5997638"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7" name="Google Shape;107;p13"/>
          <p:cNvSpPr txBox="1">
            <a:spLocks noGrp="1"/>
          </p:cNvSpPr>
          <p:nvPr>
            <p:ph type="subTitle" idx="13"/>
          </p:nvPr>
        </p:nvSpPr>
        <p:spPr>
          <a:xfrm>
            <a:off x="5997638"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 name="Google Shape;108;p13"/>
          <p:cNvSpPr txBox="1">
            <a:spLocks noGrp="1"/>
          </p:cNvSpPr>
          <p:nvPr>
            <p:ph type="title" idx="14" hasCustomPrompt="1"/>
          </p:nvPr>
        </p:nvSpPr>
        <p:spPr>
          <a:xfrm>
            <a:off x="5997638"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15" hasCustomPrompt="1"/>
          </p:nvPr>
        </p:nvSpPr>
        <p:spPr>
          <a:xfrm>
            <a:off x="5997638"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6"/>
          </p:nvPr>
        </p:nvSpPr>
        <p:spPr>
          <a:xfrm>
            <a:off x="7132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1" name="Google Shape;111;p13"/>
          <p:cNvSpPr txBox="1">
            <a:spLocks noGrp="1"/>
          </p:cNvSpPr>
          <p:nvPr>
            <p:ph type="subTitle" idx="17"/>
          </p:nvPr>
        </p:nvSpPr>
        <p:spPr>
          <a:xfrm>
            <a:off x="713225" y="3447136"/>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2" name="Google Shape;112;p13"/>
          <p:cNvSpPr txBox="1">
            <a:spLocks noGrp="1"/>
          </p:cNvSpPr>
          <p:nvPr>
            <p:ph type="subTitle" idx="18"/>
          </p:nvPr>
        </p:nvSpPr>
        <p:spPr>
          <a:xfrm>
            <a:off x="3359125"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3" name="Google Shape;113;p13"/>
          <p:cNvSpPr txBox="1">
            <a:spLocks noGrp="1"/>
          </p:cNvSpPr>
          <p:nvPr>
            <p:ph type="subTitle" idx="19"/>
          </p:nvPr>
        </p:nvSpPr>
        <p:spPr>
          <a:xfrm>
            <a:off x="33591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3"/>
          <p:cNvSpPr txBox="1">
            <a:spLocks noGrp="1"/>
          </p:cNvSpPr>
          <p:nvPr>
            <p:ph type="subTitle" idx="20"/>
          </p:nvPr>
        </p:nvSpPr>
        <p:spPr>
          <a:xfrm>
            <a:off x="5997638"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3"/>
          <p:cNvSpPr txBox="1">
            <a:spLocks noGrp="1"/>
          </p:cNvSpPr>
          <p:nvPr>
            <p:ph type="subTitle" idx="21"/>
          </p:nvPr>
        </p:nvSpPr>
        <p:spPr>
          <a:xfrm>
            <a:off x="5997638"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cxnSp>
        <p:nvCxnSpPr>
          <p:cNvPr id="116" name="Google Shape;116;p1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17" name="Google Shape;117;p1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 name="Google Shape;118;p1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19" name="Google Shape;119;p1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0" name="Google Shape;120;p1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43"/>
        <p:cNvGrpSpPr/>
        <p:nvPr/>
      </p:nvGrpSpPr>
      <p:grpSpPr>
        <a:xfrm>
          <a:off x="0" y="0"/>
          <a:ext cx="0" cy="0"/>
          <a:chOff x="0" y="0"/>
          <a:chExt cx="0" cy="0"/>
        </a:xfrm>
      </p:grpSpPr>
      <p:sp>
        <p:nvSpPr>
          <p:cNvPr id="144" name="Google Shape;144;p16"/>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 name="Google Shape;145;p16"/>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46" name="Google Shape;146;p16"/>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 name="Google Shape;147;p16"/>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48" name="Google Shape;148;p16"/>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49" name="Google Shape;149;p16"/>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50" name="Google Shape;150;p16"/>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51" name="Google Shape;151;p16"/>
          <p:cNvSpPr txBox="1">
            <a:spLocks noGrp="1"/>
          </p:cNvSpPr>
          <p:nvPr>
            <p:ph type="title"/>
          </p:nvPr>
        </p:nvSpPr>
        <p:spPr>
          <a:xfrm>
            <a:off x="720000" y="1568400"/>
            <a:ext cx="2891400" cy="700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2" name="Google Shape;152;p16"/>
          <p:cNvSpPr txBox="1">
            <a:spLocks noGrp="1"/>
          </p:cNvSpPr>
          <p:nvPr>
            <p:ph type="subTitle" idx="1"/>
          </p:nvPr>
        </p:nvSpPr>
        <p:spPr>
          <a:xfrm>
            <a:off x="720000" y="2268888"/>
            <a:ext cx="2891400" cy="1306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83"/>
        <p:cNvGrpSpPr/>
        <p:nvPr/>
      </p:nvGrpSpPr>
      <p:grpSpPr>
        <a:xfrm>
          <a:off x="0" y="0"/>
          <a:ext cx="0" cy="0"/>
          <a:chOff x="0" y="0"/>
          <a:chExt cx="0" cy="0"/>
        </a:xfrm>
      </p:grpSpPr>
      <p:sp>
        <p:nvSpPr>
          <p:cNvPr id="184" name="Google Shape;184;p19"/>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5" name="Google Shape;185;p19"/>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86" name="Google Shape;186;p19"/>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19"/>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88" name="Google Shape;188;p19"/>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89" name="Google Shape;189;p19"/>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90" name="Google Shape;190;p19"/>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91" name="Google Shape;191;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2" name="Google Shape;192;p19"/>
          <p:cNvSpPr txBox="1">
            <a:spLocks noGrp="1"/>
          </p:cNvSpPr>
          <p:nvPr>
            <p:ph type="subTitle" idx="1"/>
          </p:nvPr>
        </p:nvSpPr>
        <p:spPr>
          <a:xfrm>
            <a:off x="1381625" y="1718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3" name="Google Shape;193;p19"/>
          <p:cNvSpPr txBox="1">
            <a:spLocks noGrp="1"/>
          </p:cNvSpPr>
          <p:nvPr>
            <p:ph type="subTitle" idx="2"/>
          </p:nvPr>
        </p:nvSpPr>
        <p:spPr>
          <a:xfrm>
            <a:off x="1381635" y="2861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4" name="Google Shape;194;p19"/>
          <p:cNvSpPr txBox="1">
            <a:spLocks noGrp="1"/>
          </p:cNvSpPr>
          <p:nvPr>
            <p:ph type="subTitle" idx="3"/>
          </p:nvPr>
        </p:nvSpPr>
        <p:spPr>
          <a:xfrm>
            <a:off x="1381635" y="4004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5" name="Google Shape;195;p19"/>
          <p:cNvSpPr txBox="1">
            <a:spLocks noGrp="1"/>
          </p:cNvSpPr>
          <p:nvPr>
            <p:ph type="subTitle" idx="4"/>
          </p:nvPr>
        </p:nvSpPr>
        <p:spPr>
          <a:xfrm>
            <a:off x="1381625" y="140602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96" name="Google Shape;196;p19"/>
          <p:cNvSpPr txBox="1">
            <a:spLocks noGrp="1"/>
          </p:cNvSpPr>
          <p:nvPr>
            <p:ph type="subTitle" idx="5"/>
          </p:nvPr>
        </p:nvSpPr>
        <p:spPr>
          <a:xfrm>
            <a:off x="1381625" y="252657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97" name="Google Shape;197;p19"/>
          <p:cNvSpPr txBox="1">
            <a:spLocks noGrp="1"/>
          </p:cNvSpPr>
          <p:nvPr>
            <p:ph type="subTitle" idx="6"/>
          </p:nvPr>
        </p:nvSpPr>
        <p:spPr>
          <a:xfrm>
            <a:off x="1381625" y="364712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Tree>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transition>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5" r:id="rId5"/>
    <p:sldLayoutId id="2147483658" r:id="rId6"/>
    <p:sldLayoutId id="2147483659" r:id="rId7"/>
    <p:sldLayoutId id="2147483662" r:id="rId8"/>
    <p:sldLayoutId id="2147483664" r:id="rId9"/>
    <p:sldLayoutId id="2147483665" r:id="rId10"/>
    <p:sldLayoutId id="2147483670" r:id="rId11"/>
    <p:sldLayoutId id="2147483671" r:id="rId12"/>
  </p:sldLayoutIdLst>
  <p:transition>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609201" y="795740"/>
            <a:ext cx="5887626" cy="1220949"/>
          </a:xfrm>
          <a:prstGeom prst="rect">
            <a:avLst/>
          </a:prstGeom>
        </p:spPr>
        <p:txBody>
          <a:bodyPr spcFirstLastPara="1" wrap="square" lIns="91425" tIns="91425" rIns="91425" bIns="91425" anchor="ctr" anchorCtr="0">
            <a:noAutofit/>
          </a:bodyPr>
          <a:lstStyle/>
          <a:p>
            <a:pPr lvl="0"/>
            <a:r>
              <a:rPr lang="en" sz="6700" dirty="0">
                <a:solidFill>
                  <a:schemeClr val="bg2"/>
                </a:solidFill>
              </a:rPr>
              <a:t> </a:t>
            </a:r>
            <a:r>
              <a:rPr lang="en-US" sz="3200" b="1" dirty="0">
                <a:solidFill>
                  <a:schemeClr val="bg2"/>
                </a:solidFill>
              </a:rPr>
              <a:t>Security-aware Data Offloading and Optimization in Healthcare System</a:t>
            </a:r>
            <a:endParaRPr sz="5900" b="1" dirty="0">
              <a:solidFill>
                <a:schemeClr val="bg2"/>
              </a:solidFill>
            </a:endParaRPr>
          </a:p>
        </p:txBody>
      </p:sp>
      <p:sp>
        <p:nvSpPr>
          <p:cNvPr id="286" name="Google Shape;286;p29"/>
          <p:cNvSpPr txBox="1">
            <a:spLocks noGrp="1"/>
          </p:cNvSpPr>
          <p:nvPr>
            <p:ph type="subTitle" idx="1"/>
          </p:nvPr>
        </p:nvSpPr>
        <p:spPr>
          <a:xfrm>
            <a:off x="1720300" y="3035883"/>
            <a:ext cx="5898464" cy="969887"/>
          </a:xfrm>
          <a:prstGeom prst="rect">
            <a:avLst/>
          </a:prstGeom>
        </p:spPr>
        <p:txBody>
          <a:bodyPr spcFirstLastPara="1" wrap="square" lIns="91425" tIns="91425" rIns="91425" bIns="91425" anchor="t" anchorCtr="0">
            <a:noAutofit/>
          </a:bodyPr>
          <a:lstStyle/>
          <a:p>
            <a:pPr algn="l">
              <a:spcAft>
                <a:spcPts val="600"/>
              </a:spcAft>
            </a:pPr>
            <a:r>
              <a:rPr lang="en-IN" sz="1200" dirty="0">
                <a:solidFill>
                  <a:schemeClr val="bg2"/>
                </a:solidFill>
              </a:rPr>
              <a:t>By: </a:t>
            </a:r>
          </a:p>
          <a:p>
            <a:pPr algn="l">
              <a:spcAft>
                <a:spcPts val="600"/>
              </a:spcAft>
            </a:pPr>
            <a:r>
              <a:rPr lang="en-IN" sz="1200" dirty="0">
                <a:solidFill>
                  <a:schemeClr val="tx1"/>
                </a:solidFill>
              </a:rPr>
              <a:t>Kashish Kaushal</a:t>
            </a:r>
          </a:p>
          <a:p>
            <a:pPr algn="l">
              <a:spcAft>
                <a:spcPts val="600"/>
              </a:spcAft>
            </a:pPr>
            <a:r>
              <a:rPr lang="en-IN" sz="1200" dirty="0">
                <a:solidFill>
                  <a:schemeClr val="tx1"/>
                </a:solidFill>
              </a:rPr>
              <a:t>Roll No.: 802332039</a:t>
            </a:r>
          </a:p>
          <a:p>
            <a:pPr algn="l">
              <a:spcAft>
                <a:spcPts val="600"/>
              </a:spcAft>
            </a:pPr>
            <a:r>
              <a:rPr lang="en-IN" sz="1200" dirty="0">
                <a:solidFill>
                  <a:schemeClr val="tx1"/>
                </a:solidFill>
              </a:rPr>
              <a:t>ME(CSE)</a:t>
            </a:r>
          </a:p>
          <a:p>
            <a:pPr algn="r">
              <a:spcAft>
                <a:spcPts val="600"/>
              </a:spcAft>
            </a:pPr>
            <a:r>
              <a:rPr lang="en-IN" sz="1200" dirty="0"/>
              <a:t>			</a:t>
            </a:r>
          </a:p>
        </p:txBody>
      </p:sp>
      <p:cxnSp>
        <p:nvCxnSpPr>
          <p:cNvPr id="287" name="Google Shape;287;p29"/>
          <p:cNvCxnSpPr/>
          <p:nvPr/>
        </p:nvCxnSpPr>
        <p:spPr>
          <a:xfrm rot="10800000" flipH="1">
            <a:off x="1600600" y="2544888"/>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9200" y="697310"/>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1480900" y="1383274"/>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7432200" y="1390894"/>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AA47DA2F-E6B6-9FDF-6236-A67D42596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3272" y="2830006"/>
            <a:ext cx="1112088" cy="1106326"/>
          </a:xfrm>
          <a:prstGeom prst="rect">
            <a:avLst/>
          </a:prstGeom>
        </p:spPr>
      </p:pic>
      <p:sp>
        <p:nvSpPr>
          <p:cNvPr id="3" name="TextBox 2">
            <a:extLst>
              <a:ext uri="{FF2B5EF4-FFF2-40B4-BE49-F238E27FC236}">
                <a16:creationId xmlns:a16="http://schemas.microsoft.com/office/drawing/2014/main" id="{84B57EAD-6455-49C4-380A-F68FD93F995C}"/>
              </a:ext>
            </a:extLst>
          </p:cNvPr>
          <p:cNvSpPr txBox="1"/>
          <p:nvPr/>
        </p:nvSpPr>
        <p:spPr>
          <a:xfrm>
            <a:off x="5567819" y="3079688"/>
            <a:ext cx="2373682" cy="830997"/>
          </a:xfrm>
          <a:prstGeom prst="rect">
            <a:avLst/>
          </a:prstGeom>
          <a:noFill/>
        </p:spPr>
        <p:txBody>
          <a:bodyPr wrap="square" rtlCol="0">
            <a:spAutoFit/>
          </a:bodyPr>
          <a:lstStyle/>
          <a:p>
            <a:pPr>
              <a:spcAft>
                <a:spcPts val="600"/>
              </a:spcAft>
            </a:pPr>
            <a:r>
              <a:rPr lang="en-IN" sz="1200" dirty="0">
                <a:solidFill>
                  <a:schemeClr val="bg2"/>
                </a:solidFill>
                <a:latin typeface="Mulish" panose="020B0604020202020204" charset="0"/>
              </a:rPr>
              <a:t>Supervisors</a:t>
            </a:r>
            <a:r>
              <a:rPr lang="en-IN" dirty="0">
                <a:solidFill>
                  <a:schemeClr val="bg2"/>
                </a:solidFill>
                <a:latin typeface="Mulish" panose="020B0604020202020204" charset="0"/>
              </a:rPr>
              <a:t>:</a:t>
            </a:r>
          </a:p>
          <a:p>
            <a:pPr marL="171450" indent="-171450">
              <a:spcAft>
                <a:spcPts val="600"/>
              </a:spcAft>
              <a:buFont typeface="Arial" panose="020B0604020202020204" pitchFamily="34" charset="0"/>
              <a:buChar char="•"/>
            </a:pPr>
            <a:r>
              <a:rPr lang="en-IN" sz="1200" dirty="0">
                <a:solidFill>
                  <a:schemeClr val="tx1"/>
                </a:solidFill>
                <a:latin typeface="Mulish" panose="020B0604020202020204" charset="0"/>
              </a:rPr>
              <a:t>Dr. Rajkumar Tekchandani</a:t>
            </a:r>
          </a:p>
          <a:p>
            <a:pPr marL="171450" indent="-171450">
              <a:spcAft>
                <a:spcPts val="600"/>
              </a:spcAft>
              <a:buFont typeface="Arial" panose="020B0604020202020204" pitchFamily="34" charset="0"/>
              <a:buChar char="•"/>
            </a:pPr>
            <a:r>
              <a:rPr lang="en-IN" sz="1200" dirty="0">
                <a:solidFill>
                  <a:schemeClr val="tx1"/>
                </a:solidFill>
                <a:latin typeface="Mulish" panose="020B0604020202020204" charset="0"/>
              </a:rPr>
              <a:t> Dr. Anil Singh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tx1"/>
                </a:solidFill>
              </a:rPr>
              <a:t>C</a:t>
            </a:r>
            <a:r>
              <a:rPr lang="en" dirty="0"/>
              <a:t>ontents</a:t>
            </a:r>
            <a:endParaRPr dirty="0"/>
          </a:p>
        </p:txBody>
      </p:sp>
      <p:sp>
        <p:nvSpPr>
          <p:cNvPr id="296" name="Google Shape;296;p30"/>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a:buFont typeface="Wingdings" panose="05000000000000000000" pitchFamily="2" charset="2"/>
              <a:buChar char="Ø"/>
              <a:defRPr sz="2000">
                <a:latin typeface="Calibri"/>
              </a:defRPr>
            </a:pPr>
            <a:r>
              <a:rPr lang="en-US" dirty="0">
                <a:latin typeface="Mulish" panose="020B0604020202020204" charset="0"/>
              </a:rPr>
              <a:t>Introduction</a:t>
            </a:r>
          </a:p>
          <a:p>
            <a:pPr>
              <a:buFont typeface="Wingdings" panose="05000000000000000000" pitchFamily="2" charset="2"/>
              <a:buChar char="Ø"/>
              <a:defRPr sz="2000">
                <a:latin typeface="Calibri"/>
              </a:defRPr>
            </a:pPr>
            <a:r>
              <a:rPr lang="en-US" dirty="0">
                <a:latin typeface="Mulish" panose="020B0604020202020204" charset="0"/>
              </a:rPr>
              <a:t>Literature Review</a:t>
            </a:r>
          </a:p>
          <a:p>
            <a:pPr>
              <a:buFont typeface="Wingdings" panose="05000000000000000000" pitchFamily="2" charset="2"/>
              <a:buChar char="Ø"/>
              <a:defRPr sz="2000">
                <a:latin typeface="Calibri"/>
              </a:defRPr>
            </a:pPr>
            <a:r>
              <a:rPr lang="en-US" dirty="0">
                <a:latin typeface="Mulish" panose="020B0604020202020204" charset="0"/>
              </a:rPr>
              <a:t>Research Gaps</a:t>
            </a:r>
          </a:p>
          <a:p>
            <a:pPr>
              <a:buFont typeface="Wingdings" panose="05000000000000000000" pitchFamily="2" charset="2"/>
              <a:buChar char="Ø"/>
              <a:defRPr sz="2000">
                <a:latin typeface="Calibri"/>
              </a:defRPr>
            </a:pPr>
            <a:r>
              <a:rPr lang="en-US" dirty="0">
                <a:latin typeface="Mulish" panose="020B0604020202020204" charset="0"/>
              </a:rPr>
              <a:t>Problem Statement</a:t>
            </a:r>
          </a:p>
          <a:p>
            <a:pPr>
              <a:buFont typeface="Wingdings" panose="05000000000000000000" pitchFamily="2" charset="2"/>
              <a:buChar char="Ø"/>
              <a:defRPr sz="2000">
                <a:latin typeface="Calibri"/>
              </a:defRPr>
            </a:pPr>
            <a:r>
              <a:rPr lang="en-US" dirty="0">
                <a:latin typeface="Mulish" panose="020B0604020202020204" charset="0"/>
              </a:rPr>
              <a:t>Objectives</a:t>
            </a:r>
          </a:p>
          <a:p>
            <a:pPr>
              <a:buFont typeface="Wingdings" panose="05000000000000000000" pitchFamily="2" charset="2"/>
              <a:buChar char="Ø"/>
              <a:defRPr sz="2000">
                <a:latin typeface="Calibri"/>
              </a:defRPr>
            </a:pPr>
            <a:r>
              <a:rPr lang="en-US" dirty="0">
                <a:latin typeface="Mulish" panose="020B0604020202020204" charset="0"/>
              </a:rPr>
              <a:t>Methodology</a:t>
            </a:r>
          </a:p>
          <a:p>
            <a:pPr>
              <a:buFont typeface="Wingdings" panose="05000000000000000000" pitchFamily="2" charset="2"/>
              <a:buChar char="Ø"/>
              <a:defRPr sz="2000">
                <a:latin typeface="Calibri"/>
              </a:defRPr>
            </a:pPr>
            <a:r>
              <a:rPr lang="en-US" dirty="0">
                <a:latin typeface="Mulish" panose="020B0604020202020204" charset="0"/>
              </a:rPr>
              <a:t>Result &amp; Analysis</a:t>
            </a:r>
          </a:p>
          <a:p>
            <a:pPr>
              <a:buFont typeface="Wingdings" panose="05000000000000000000" pitchFamily="2" charset="2"/>
              <a:buChar char="Ø"/>
              <a:defRPr sz="2000">
                <a:latin typeface="Calibri"/>
              </a:defRPr>
            </a:pPr>
            <a:r>
              <a:rPr lang="en-US" dirty="0">
                <a:latin typeface="Mulish" panose="020B0604020202020204" charset="0"/>
              </a:rPr>
              <a:t>Conclusion &amp; Future Scope</a:t>
            </a:r>
          </a:p>
          <a:p>
            <a:pPr>
              <a:buFont typeface="Wingdings" panose="05000000000000000000" pitchFamily="2" charset="2"/>
              <a:buChar char="Ø"/>
              <a:defRPr sz="2000">
                <a:latin typeface="Calibri"/>
              </a:defRPr>
            </a:pPr>
            <a:r>
              <a:rPr lang="en-US" dirty="0">
                <a:latin typeface="Mulish" panose="020B0604020202020204" charset="0"/>
              </a:rPr>
              <a:t>References</a:t>
            </a:r>
          </a:p>
          <a:p>
            <a:pPr marL="0" lvl="0" indent="0" algn="l" rtl="0">
              <a:spcBef>
                <a:spcPts val="0"/>
              </a:spcBef>
              <a:spcAft>
                <a:spcPts val="0"/>
              </a:spcAft>
              <a:buNone/>
            </a:pPr>
            <a:endParaRPr dirty="0"/>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tx1"/>
                </a:solidFill>
              </a:rPr>
              <a:t>I</a:t>
            </a:r>
            <a:r>
              <a:rPr lang="en" dirty="0"/>
              <a:t>ntroduction</a:t>
            </a:r>
            <a:endParaRPr dirty="0"/>
          </a:p>
        </p:txBody>
      </p:sp>
      <p:sp>
        <p:nvSpPr>
          <p:cNvPr id="307" name="Google Shape;307;p31"/>
          <p:cNvSpPr txBox="1">
            <a:spLocks noGrp="1"/>
          </p:cNvSpPr>
          <p:nvPr>
            <p:ph type="subTitle" idx="1"/>
          </p:nvPr>
        </p:nvSpPr>
        <p:spPr>
          <a:xfrm>
            <a:off x="713225" y="2018124"/>
            <a:ext cx="2406129" cy="747935"/>
          </a:xfrm>
          <a:prstGeom prst="rect">
            <a:avLst/>
          </a:prstGeom>
        </p:spPr>
        <p:txBody>
          <a:bodyPr spcFirstLastPara="1" wrap="square" lIns="91425" tIns="91425" rIns="91425" bIns="91425" anchor="t" anchorCtr="0">
            <a:noAutofit/>
          </a:bodyPr>
          <a:lstStyle/>
          <a:p>
            <a:pPr marL="0" lvl="0" indent="0" algn="just"/>
            <a:r>
              <a:rPr lang="en-US" sz="1200" dirty="0"/>
              <a:t>Healthcare systems generates sensitive data like medical records, imaging, etc.</a:t>
            </a:r>
            <a:endParaRPr sz="1200" dirty="0"/>
          </a:p>
        </p:txBody>
      </p:sp>
      <p:sp>
        <p:nvSpPr>
          <p:cNvPr id="308" name="Google Shape;308;p31"/>
          <p:cNvSpPr txBox="1">
            <a:spLocks noGrp="1"/>
          </p:cNvSpPr>
          <p:nvPr>
            <p:ph type="subTitle" idx="2"/>
          </p:nvPr>
        </p:nvSpPr>
        <p:spPr>
          <a:xfrm>
            <a:off x="3673736" y="3741011"/>
            <a:ext cx="2426100" cy="538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200" dirty="0"/>
              <a:t>Edge-Fog-Cloud continuum improves data handling and latency</a:t>
            </a:r>
            <a:endParaRPr sz="1200" dirty="0"/>
          </a:p>
        </p:txBody>
      </p:sp>
      <p:sp>
        <p:nvSpPr>
          <p:cNvPr id="309" name="Google Shape;309;p31"/>
          <p:cNvSpPr txBox="1">
            <a:spLocks noGrp="1"/>
          </p:cNvSpPr>
          <p:nvPr>
            <p:ph type="subTitle" idx="4"/>
          </p:nvPr>
        </p:nvSpPr>
        <p:spPr>
          <a:xfrm>
            <a:off x="3359125" y="2018025"/>
            <a:ext cx="2426100" cy="538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200" dirty="0"/>
              <a:t>Sharing raw data violates privacy laws(e,g,. HIPAA)</a:t>
            </a:r>
            <a:endParaRPr sz="1200" dirty="0"/>
          </a:p>
        </p:txBody>
      </p:sp>
      <p:sp>
        <p:nvSpPr>
          <p:cNvPr id="310" name="Google Shape;310;p31"/>
          <p:cNvSpPr txBox="1">
            <a:spLocks noGrp="1"/>
          </p:cNvSpPr>
          <p:nvPr>
            <p:ph type="title" idx="5"/>
          </p:nvPr>
        </p:nvSpPr>
        <p:spPr>
          <a:xfrm>
            <a:off x="713225" y="1141288"/>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13" name="Google Shape;313;p31"/>
          <p:cNvSpPr txBox="1">
            <a:spLocks noGrp="1"/>
          </p:cNvSpPr>
          <p:nvPr>
            <p:ph type="title" idx="8"/>
          </p:nvPr>
        </p:nvSpPr>
        <p:spPr>
          <a:xfrm>
            <a:off x="3359125" y="1142055"/>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15" name="Google Shape;315;p31"/>
          <p:cNvSpPr txBox="1">
            <a:spLocks noGrp="1"/>
          </p:cNvSpPr>
          <p:nvPr>
            <p:ph type="subTitle" idx="13"/>
          </p:nvPr>
        </p:nvSpPr>
        <p:spPr>
          <a:xfrm>
            <a:off x="720000" y="3819695"/>
            <a:ext cx="2426100" cy="538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IN" sz="1200" dirty="0"/>
              <a:t>FL E</a:t>
            </a:r>
            <a:r>
              <a:rPr lang="en" sz="1200" dirty="0"/>
              <a:t>nables model training without data sharing</a:t>
            </a:r>
            <a:endParaRPr sz="1200" dirty="0"/>
          </a:p>
        </p:txBody>
      </p:sp>
      <p:sp>
        <p:nvSpPr>
          <p:cNvPr id="317" name="Google Shape;317;p31"/>
          <p:cNvSpPr txBox="1">
            <a:spLocks noGrp="1"/>
          </p:cNvSpPr>
          <p:nvPr>
            <p:ph type="title" idx="15"/>
          </p:nvPr>
        </p:nvSpPr>
        <p:spPr>
          <a:xfrm>
            <a:off x="720000" y="2933840"/>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18" name="Google Shape;318;p31"/>
          <p:cNvSpPr txBox="1">
            <a:spLocks noGrp="1"/>
          </p:cNvSpPr>
          <p:nvPr>
            <p:ph type="subTitle" idx="16"/>
          </p:nvPr>
        </p:nvSpPr>
        <p:spPr>
          <a:xfrm>
            <a:off x="696254" y="1594575"/>
            <a:ext cx="2423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Huge Data</a:t>
            </a:r>
            <a:endParaRPr dirty="0"/>
          </a:p>
        </p:txBody>
      </p:sp>
      <p:sp>
        <p:nvSpPr>
          <p:cNvPr id="319" name="Google Shape;319;p31"/>
          <p:cNvSpPr txBox="1">
            <a:spLocks noGrp="1"/>
          </p:cNvSpPr>
          <p:nvPr>
            <p:ph type="subTitle" idx="17"/>
          </p:nvPr>
        </p:nvSpPr>
        <p:spPr>
          <a:xfrm>
            <a:off x="3668302" y="3342314"/>
            <a:ext cx="2423100" cy="428400"/>
          </a:xfrm>
          <a:prstGeom prst="rect">
            <a:avLst/>
          </a:prstGeom>
        </p:spPr>
        <p:txBody>
          <a:bodyPr spcFirstLastPara="1" wrap="square" lIns="91425" tIns="91425" rIns="91425" bIns="91425" anchor="ctr" anchorCtr="0">
            <a:noAutofit/>
          </a:bodyPr>
          <a:lstStyle/>
          <a:p>
            <a:pPr marL="0" lvl="0" indent="0"/>
            <a:r>
              <a:rPr lang="en-IN" dirty="0"/>
              <a:t>Data Handling </a:t>
            </a:r>
            <a:endParaRPr dirty="0"/>
          </a:p>
        </p:txBody>
      </p:sp>
      <p:sp>
        <p:nvSpPr>
          <p:cNvPr id="321" name="Google Shape;321;p31"/>
          <p:cNvSpPr txBox="1">
            <a:spLocks noGrp="1"/>
          </p:cNvSpPr>
          <p:nvPr>
            <p:ph type="subTitle" idx="19"/>
          </p:nvPr>
        </p:nvSpPr>
        <p:spPr>
          <a:xfrm>
            <a:off x="3445765" y="1579288"/>
            <a:ext cx="2423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Privacy Laws</a:t>
            </a:r>
            <a:endParaRPr dirty="0"/>
          </a:p>
        </p:txBody>
      </p:sp>
      <p:sp>
        <p:nvSpPr>
          <p:cNvPr id="323" name="Google Shape;323;p31"/>
          <p:cNvSpPr txBox="1">
            <a:spLocks noGrp="1"/>
          </p:cNvSpPr>
          <p:nvPr>
            <p:ph type="subTitle" idx="21"/>
          </p:nvPr>
        </p:nvSpPr>
        <p:spPr>
          <a:xfrm>
            <a:off x="696254" y="3356211"/>
            <a:ext cx="2811082"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Federated Learning</a:t>
            </a:r>
            <a:endParaRPr dirty="0"/>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a:t>
            </a:r>
            <a:endParaRPr dirty="0"/>
          </a:p>
        </p:txBody>
      </p:sp>
      <p:sp>
        <p:nvSpPr>
          <p:cNvPr id="6" name="Google Shape;312;p31">
            <a:extLst>
              <a:ext uri="{FF2B5EF4-FFF2-40B4-BE49-F238E27FC236}">
                <a16:creationId xmlns:a16="http://schemas.microsoft.com/office/drawing/2014/main" id="{A01660C5-0CD3-779D-145F-DE2C37C54A85}"/>
              </a:ext>
            </a:extLst>
          </p:cNvPr>
          <p:cNvSpPr txBox="1">
            <a:spLocks/>
          </p:cNvSpPr>
          <p:nvPr/>
        </p:nvSpPr>
        <p:spPr>
          <a:xfrm>
            <a:off x="3641550" y="2918438"/>
            <a:ext cx="656100" cy="438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Quicksand"/>
              <a:buNone/>
              <a:defRPr sz="2800" b="1" i="0" u="none" strike="noStrike" cap="none">
                <a:solidFill>
                  <a:schemeClr val="dk2"/>
                </a:solidFill>
                <a:latin typeface="Quicksand"/>
                <a:ea typeface="Quicksand"/>
                <a:cs typeface="Quicksand"/>
                <a:sym typeface="Quicksand"/>
              </a:defRPr>
            </a:lvl1pPr>
            <a:lvl2pPr marR="0" lvl="1"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2pPr>
            <a:lvl3pPr marR="0" lvl="2"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3pPr>
            <a:lvl4pPr marR="0" lvl="3"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4pPr>
            <a:lvl5pPr marR="0" lvl="4"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5pPr>
            <a:lvl6pPr marR="0" lvl="5"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6pPr>
            <a:lvl7pPr marR="0" lvl="6"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7pPr>
            <a:lvl8pPr marR="0" lvl="7"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8pPr>
            <a:lvl9pPr marR="0" lvl="8"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9pPr>
          </a:lstStyle>
          <a:p>
            <a:r>
              <a:rPr lang="en" dirty="0"/>
              <a:t>04</a:t>
            </a:r>
          </a:p>
        </p:txBody>
      </p:sp>
      <p:pic>
        <p:nvPicPr>
          <p:cNvPr id="8" name="Picture 7" descr="A diagram of a health care system&#10;&#10;AI-generated content may be incorrect.">
            <a:extLst>
              <a:ext uri="{FF2B5EF4-FFF2-40B4-BE49-F238E27FC236}">
                <a16:creationId xmlns:a16="http://schemas.microsoft.com/office/drawing/2014/main" id="{A5883A46-B2F6-EE2C-9615-8A46202F70A5}"/>
              </a:ext>
            </a:extLst>
          </p:cNvPr>
          <p:cNvPicPr>
            <a:picLocks noChangeAspect="1"/>
          </p:cNvPicPr>
          <p:nvPr/>
        </p:nvPicPr>
        <p:blipFill>
          <a:blip r:embed="rId3"/>
          <a:stretch>
            <a:fillRect/>
          </a:stretch>
        </p:blipFill>
        <p:spPr>
          <a:xfrm>
            <a:off x="6207226" y="1434616"/>
            <a:ext cx="2463606" cy="2360495"/>
          </a:xfrm>
          <a:prstGeom prst="rect">
            <a:avLst/>
          </a:prstGeom>
        </p:spPr>
      </p:pic>
      <p:sp>
        <p:nvSpPr>
          <p:cNvPr id="11" name="TextBox 10">
            <a:extLst>
              <a:ext uri="{FF2B5EF4-FFF2-40B4-BE49-F238E27FC236}">
                <a16:creationId xmlns:a16="http://schemas.microsoft.com/office/drawing/2014/main" id="{CD93E24E-0D53-A828-8585-D63221D6C656}"/>
              </a:ext>
            </a:extLst>
          </p:cNvPr>
          <p:cNvSpPr txBox="1"/>
          <p:nvPr/>
        </p:nvSpPr>
        <p:spPr>
          <a:xfrm>
            <a:off x="6684800" y="3861581"/>
            <a:ext cx="4572000" cy="215444"/>
          </a:xfrm>
          <a:prstGeom prst="rect">
            <a:avLst/>
          </a:prstGeom>
          <a:noFill/>
        </p:spPr>
        <p:txBody>
          <a:bodyPr wrap="square">
            <a:spAutoFit/>
          </a:bodyPr>
          <a:lstStyle/>
          <a:p>
            <a:r>
              <a:rPr lang="en-US" sz="800" dirty="0"/>
              <a:t>Fig 1.</a:t>
            </a:r>
            <a:r>
              <a:rPr lang="en-IN" sz="800" dirty="0"/>
              <a:t> Smart Healthcare System</a:t>
            </a:r>
          </a:p>
        </p:txBody>
      </p:sp>
    </p:spTree>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2DEBC0D8-0598-3C95-C351-59DA87039A01}"/>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80FD8C7D-8569-5919-3BD4-083475118B8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tx1"/>
                </a:solidFill>
              </a:rPr>
              <a:t>Litrature Review</a:t>
            </a:r>
            <a:endParaRPr dirty="0">
              <a:solidFill>
                <a:schemeClr val="tx1"/>
              </a:solidFill>
            </a:endParaRPr>
          </a:p>
        </p:txBody>
      </p:sp>
      <p:sp>
        <p:nvSpPr>
          <p:cNvPr id="300" name="Google Shape;300;p30">
            <a:extLst>
              <a:ext uri="{FF2B5EF4-FFF2-40B4-BE49-F238E27FC236}">
                <a16:creationId xmlns:a16="http://schemas.microsoft.com/office/drawing/2014/main" id="{682C07BF-841B-FD67-ABEC-ECB8127B761D}"/>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dirty="0">
                <a:solidFill>
                  <a:srgbClr val="927C71"/>
                </a:solidFill>
              </a:rPr>
              <a:t>2</a:t>
            </a:r>
            <a:endParaRPr kumimoji="0" sz="1300" b="0" i="0" u="none" strike="noStrike" kern="0" cap="none" spc="0" normalizeH="0" baseline="0" noProof="0" dirty="0">
              <a:ln>
                <a:noFill/>
              </a:ln>
              <a:solidFill>
                <a:srgbClr val="927C71"/>
              </a:solidFill>
              <a:effectLst/>
              <a:uLnTx/>
              <a:uFillTx/>
              <a:latin typeface="Mulish"/>
              <a:sym typeface="Mulish"/>
            </a:endParaRPr>
          </a:p>
        </p:txBody>
      </p:sp>
      <p:graphicFrame>
        <p:nvGraphicFramePr>
          <p:cNvPr id="2" name="Table 1">
            <a:extLst>
              <a:ext uri="{FF2B5EF4-FFF2-40B4-BE49-F238E27FC236}">
                <a16:creationId xmlns:a16="http://schemas.microsoft.com/office/drawing/2014/main" id="{D57139B3-F160-2D8E-DD37-8718CD03E4EF}"/>
              </a:ext>
            </a:extLst>
          </p:cNvPr>
          <p:cNvGraphicFramePr>
            <a:graphicFrameLocks noGrp="1"/>
          </p:cNvGraphicFramePr>
          <p:nvPr>
            <p:extLst>
              <p:ext uri="{D42A27DB-BD31-4B8C-83A1-F6EECF244321}">
                <p14:modId xmlns:p14="http://schemas.microsoft.com/office/powerpoint/2010/main" val="1671025777"/>
              </p:ext>
            </p:extLst>
          </p:nvPr>
        </p:nvGraphicFramePr>
        <p:xfrm>
          <a:off x="792450" y="1272950"/>
          <a:ext cx="7704000" cy="2709160"/>
        </p:xfrm>
        <a:graphic>
          <a:graphicData uri="http://schemas.openxmlformats.org/drawingml/2006/table">
            <a:tbl>
              <a:tblPr firstRow="1" bandRow="1">
                <a:tableStyleId>{F5AB1C69-6EDB-4FF4-983F-18BD219EF322}</a:tableStyleId>
              </a:tblPr>
              <a:tblGrid>
                <a:gridCol w="1926000">
                  <a:extLst>
                    <a:ext uri="{9D8B030D-6E8A-4147-A177-3AD203B41FA5}">
                      <a16:colId xmlns:a16="http://schemas.microsoft.com/office/drawing/2014/main" val="3172827708"/>
                    </a:ext>
                  </a:extLst>
                </a:gridCol>
                <a:gridCol w="1921676">
                  <a:extLst>
                    <a:ext uri="{9D8B030D-6E8A-4147-A177-3AD203B41FA5}">
                      <a16:colId xmlns:a16="http://schemas.microsoft.com/office/drawing/2014/main" val="471470679"/>
                    </a:ext>
                  </a:extLst>
                </a:gridCol>
                <a:gridCol w="1930324">
                  <a:extLst>
                    <a:ext uri="{9D8B030D-6E8A-4147-A177-3AD203B41FA5}">
                      <a16:colId xmlns:a16="http://schemas.microsoft.com/office/drawing/2014/main" val="3343058707"/>
                    </a:ext>
                  </a:extLst>
                </a:gridCol>
                <a:gridCol w="1926000">
                  <a:extLst>
                    <a:ext uri="{9D8B030D-6E8A-4147-A177-3AD203B41FA5}">
                      <a16:colId xmlns:a16="http://schemas.microsoft.com/office/drawing/2014/main" val="203549041"/>
                    </a:ext>
                  </a:extLst>
                </a:gridCol>
              </a:tblGrid>
              <a:tr h="0">
                <a:tc>
                  <a:txBody>
                    <a:bodyPr/>
                    <a:lstStyle/>
                    <a:p>
                      <a:pPr algn="ctr">
                        <a:lnSpc>
                          <a:spcPct val="200000"/>
                        </a:lnSpc>
                      </a:pPr>
                      <a:r>
                        <a:rPr lang="en-US" sz="1400" dirty="0">
                          <a:solidFill>
                            <a:schemeClr val="bg2"/>
                          </a:solidFill>
                          <a:effectLst>
                            <a:outerShdw blurRad="38100" dist="38100" dir="2700000" algn="tl">
                              <a:srgbClr val="000000">
                                <a:alpha val="43137"/>
                              </a:srgbClr>
                            </a:outerShdw>
                          </a:effectLst>
                          <a:latin typeface="Quicksand" panose="020B0604020202020204" charset="0"/>
                        </a:rPr>
                        <a:t>Authors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IN" sz="1400" dirty="0">
                          <a:solidFill>
                            <a:schemeClr val="bg2"/>
                          </a:solidFill>
                          <a:effectLst>
                            <a:outerShdw blurRad="38100" dist="38100" dir="2700000" algn="tl">
                              <a:srgbClr val="000000">
                                <a:alpha val="43137"/>
                              </a:srgbClr>
                            </a:outerShdw>
                          </a:effectLst>
                          <a:latin typeface="Quicksand" panose="020B0604020202020204" charset="0"/>
                        </a:rPr>
                        <a:t>Methodology</a:t>
                      </a: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Advantages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Limitations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extLst>
                  <a:ext uri="{0D108BD9-81ED-4DB2-BD59-A6C34878D82A}">
                    <a16:rowId xmlns:a16="http://schemas.microsoft.com/office/drawing/2014/main" val="4236116340"/>
                  </a:ext>
                </a:extLst>
              </a:tr>
              <a:tr h="731110">
                <a:tc>
                  <a:txBody>
                    <a:bodyPr/>
                    <a:lstStyle/>
                    <a:p>
                      <a:pPr algn="ctr"/>
                      <a:r>
                        <a:rPr lang="en-IN" sz="1400" dirty="0">
                          <a:latin typeface="Mulish" panose="020B0604020202020204" charset="0"/>
                        </a:rPr>
                        <a:t>Zhang et al. [1] </a:t>
                      </a:r>
                    </a:p>
                  </a:txBody>
                  <a:tcPr/>
                </a:tc>
                <a:tc>
                  <a:txBody>
                    <a:bodyPr/>
                    <a:lstStyle/>
                    <a:p>
                      <a:pPr algn="ctr"/>
                      <a:r>
                        <a:rPr lang="en-IN" sz="1400" dirty="0">
                          <a:latin typeface="Mulish" panose="020B0604020202020204" charset="0"/>
                        </a:rPr>
                        <a:t>Comprehensive survey on FL</a:t>
                      </a:r>
                    </a:p>
                  </a:txBody>
                  <a:tcPr/>
                </a:tc>
                <a:tc>
                  <a:txBody>
                    <a:bodyPr/>
                    <a:lstStyle/>
                    <a:p>
                      <a:pPr algn="ctr"/>
                      <a:r>
                        <a:rPr lang="en-US" sz="1400" dirty="0">
                          <a:latin typeface="Mulish" panose="020B0604020202020204" charset="0"/>
                        </a:rPr>
                        <a:t>Covers a wide range of FL techniques</a:t>
                      </a:r>
                      <a:endParaRPr lang="en-IN" sz="1400" dirty="0">
                        <a:latin typeface="Mulish" panose="020B0604020202020204" charset="0"/>
                      </a:endParaRPr>
                    </a:p>
                  </a:txBody>
                  <a:tcPr/>
                </a:tc>
                <a:tc>
                  <a:txBody>
                    <a:bodyPr/>
                    <a:lstStyle/>
                    <a:p>
                      <a:pPr algn="ctr"/>
                      <a:r>
                        <a:rPr lang="en-IN" sz="1400" dirty="0">
                          <a:latin typeface="Mulish" panose="020B0604020202020204" charset="0"/>
                        </a:rPr>
                        <a:t>Not specific to healthcare</a:t>
                      </a:r>
                    </a:p>
                  </a:txBody>
                  <a:tcPr/>
                </a:tc>
                <a:extLst>
                  <a:ext uri="{0D108BD9-81ED-4DB2-BD59-A6C34878D82A}">
                    <a16:rowId xmlns:a16="http://schemas.microsoft.com/office/drawing/2014/main" val="3289436087"/>
                  </a:ext>
                </a:extLst>
              </a:tr>
              <a:tr h="754380">
                <a:tc>
                  <a:txBody>
                    <a:bodyPr/>
                    <a:lstStyle/>
                    <a:p>
                      <a:pPr algn="ctr"/>
                      <a:r>
                        <a:rPr lang="en-IN" sz="1400" dirty="0">
                          <a:latin typeface="Mulish" panose="020B0604020202020204" charset="0"/>
                        </a:rPr>
                        <a:t>Arikumar et al. [4] </a:t>
                      </a:r>
                    </a:p>
                  </a:txBody>
                  <a:tcPr/>
                </a:tc>
                <a:tc>
                  <a:txBody>
                    <a:bodyPr/>
                    <a:lstStyle/>
                    <a:p>
                      <a:pPr algn="ctr"/>
                      <a:r>
                        <a:rPr lang="en-US" sz="1400" dirty="0">
                          <a:latin typeface="Mulish" panose="020B0604020202020204" charset="0"/>
                        </a:rPr>
                        <a:t>FL-PMI system for wearable device data</a:t>
                      </a:r>
                      <a:endParaRPr lang="en-IN" sz="1400" dirty="0">
                        <a:latin typeface="Mulish" panose="020B0604020202020204" charset="0"/>
                      </a:endParaRPr>
                    </a:p>
                  </a:txBody>
                  <a:tcPr/>
                </a:tc>
                <a:tc>
                  <a:txBody>
                    <a:bodyPr/>
                    <a:lstStyle/>
                    <a:p>
                      <a:pPr algn="ctr"/>
                      <a:r>
                        <a:rPr lang="en-IN" sz="1400" dirty="0">
                          <a:latin typeface="Mulish" panose="020B0604020202020204" charset="0"/>
                        </a:rPr>
                        <a:t>Smart healthcare integration</a:t>
                      </a:r>
                    </a:p>
                  </a:txBody>
                  <a:tcPr/>
                </a:tc>
                <a:tc>
                  <a:txBody>
                    <a:bodyPr/>
                    <a:lstStyle/>
                    <a:p>
                      <a:pPr algn="ctr"/>
                      <a:r>
                        <a:rPr lang="en-IN" sz="1400" dirty="0">
                          <a:latin typeface="Mulish" panose="020B0604020202020204" charset="0"/>
                        </a:rPr>
                        <a:t>Limited to specific devices </a:t>
                      </a:r>
                    </a:p>
                  </a:txBody>
                  <a:tcPr/>
                </a:tc>
                <a:extLst>
                  <a:ext uri="{0D108BD9-81ED-4DB2-BD59-A6C34878D82A}">
                    <a16:rowId xmlns:a16="http://schemas.microsoft.com/office/drawing/2014/main" val="706796289"/>
                  </a:ext>
                </a:extLst>
              </a:tr>
              <a:tr h="769518">
                <a:tc>
                  <a:txBody>
                    <a:bodyPr/>
                    <a:lstStyle/>
                    <a:p>
                      <a:pPr algn="ctr"/>
                      <a:r>
                        <a:rPr lang="en-IN" sz="1400" dirty="0">
                          <a:latin typeface="Mulish" panose="020B0604020202020204" charset="0"/>
                        </a:rPr>
                        <a:t>Gupta et al. [11]</a:t>
                      </a:r>
                    </a:p>
                  </a:txBody>
                  <a:tcPr/>
                </a:tc>
                <a:tc>
                  <a:txBody>
                    <a:bodyPr/>
                    <a:lstStyle/>
                    <a:p>
                      <a:pPr algn="ctr"/>
                      <a:r>
                        <a:rPr lang="en-US" sz="1400" dirty="0">
                          <a:latin typeface="Mulish" panose="020B0604020202020204" charset="0"/>
                        </a:rPr>
                        <a:t>FogSim toolkit for edge/fog simulation</a:t>
                      </a:r>
                      <a:endParaRPr lang="en-IN" sz="1400" dirty="0">
                        <a:latin typeface="Mulish" panose="020B0604020202020204" charset="0"/>
                      </a:endParaRPr>
                    </a:p>
                  </a:txBody>
                  <a:tcPr/>
                </a:tc>
                <a:tc>
                  <a:txBody>
                    <a:bodyPr/>
                    <a:lstStyle/>
                    <a:p>
                      <a:pPr algn="ctr"/>
                      <a:r>
                        <a:rPr lang="en-IN" sz="1400" dirty="0">
                          <a:latin typeface="Mulish" panose="020B0604020202020204" charset="0"/>
                        </a:rPr>
                        <a:t>Useful for performance evaluation</a:t>
                      </a:r>
                    </a:p>
                  </a:txBody>
                  <a:tcPr/>
                </a:tc>
                <a:tc>
                  <a:txBody>
                    <a:bodyPr/>
                    <a:lstStyle/>
                    <a:p>
                      <a:pPr algn="ctr"/>
                      <a:r>
                        <a:rPr lang="en-IN" sz="1400" dirty="0">
                          <a:latin typeface="Mulish" panose="020B0604020202020204" charset="0"/>
                        </a:rPr>
                        <a:t>Simulation-based; lacks real-time analysis</a:t>
                      </a:r>
                    </a:p>
                  </a:txBody>
                  <a:tcPr/>
                </a:tc>
                <a:extLst>
                  <a:ext uri="{0D108BD9-81ED-4DB2-BD59-A6C34878D82A}">
                    <a16:rowId xmlns:a16="http://schemas.microsoft.com/office/drawing/2014/main" val="1829029880"/>
                  </a:ext>
                </a:extLst>
              </a:tr>
            </a:tbl>
          </a:graphicData>
        </a:graphic>
      </p:graphicFrame>
    </p:spTree>
    <p:extLst>
      <p:ext uri="{BB962C8B-B14F-4D97-AF65-F5344CB8AC3E}">
        <p14:creationId xmlns:p14="http://schemas.microsoft.com/office/powerpoint/2010/main" val="905501430"/>
      </p:ext>
    </p:extLst>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3CC2B841-ADEF-1F2B-2DA2-2BE653B2E951}"/>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DAD95DC4-61AE-C75B-11FD-8D96DCCEA98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solidFill>
                  <a:schemeClr val="tx1"/>
                </a:solidFill>
              </a:rPr>
              <a:t>Litrature Review contd</a:t>
            </a:r>
            <a:r>
              <a:rPr lang="en" dirty="0">
                <a:solidFill>
                  <a:schemeClr val="tx1"/>
                </a:solidFill>
              </a:rPr>
              <a:t>.</a:t>
            </a:r>
            <a:endParaRPr dirty="0">
              <a:solidFill>
                <a:schemeClr val="tx1"/>
              </a:solidFill>
            </a:endParaRPr>
          </a:p>
        </p:txBody>
      </p:sp>
      <p:sp>
        <p:nvSpPr>
          <p:cNvPr id="300" name="Google Shape;300;p30">
            <a:extLst>
              <a:ext uri="{FF2B5EF4-FFF2-40B4-BE49-F238E27FC236}">
                <a16:creationId xmlns:a16="http://schemas.microsoft.com/office/drawing/2014/main" id="{9EBF2C99-ED60-222F-F7FD-9121D563E8D9}"/>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dirty="0">
                <a:solidFill>
                  <a:srgbClr val="927C71"/>
                </a:solidFill>
              </a:rPr>
              <a:t>3</a:t>
            </a:r>
            <a:endParaRPr kumimoji="0" sz="1300" b="0" i="0" u="none" strike="noStrike" kern="0" cap="none" spc="0" normalizeH="0" baseline="0" noProof="0" dirty="0">
              <a:ln>
                <a:noFill/>
              </a:ln>
              <a:solidFill>
                <a:srgbClr val="927C71"/>
              </a:solidFill>
              <a:effectLst/>
              <a:uLnTx/>
              <a:uFillTx/>
              <a:latin typeface="Mulish"/>
              <a:sym typeface="Mulish"/>
            </a:endParaRPr>
          </a:p>
        </p:txBody>
      </p:sp>
      <p:graphicFrame>
        <p:nvGraphicFramePr>
          <p:cNvPr id="2" name="Table 1">
            <a:extLst>
              <a:ext uri="{FF2B5EF4-FFF2-40B4-BE49-F238E27FC236}">
                <a16:creationId xmlns:a16="http://schemas.microsoft.com/office/drawing/2014/main" id="{407BD7C4-C06B-4302-DF0A-763D90EB4DA3}"/>
              </a:ext>
            </a:extLst>
          </p:cNvPr>
          <p:cNvGraphicFramePr>
            <a:graphicFrameLocks noGrp="1"/>
          </p:cNvGraphicFramePr>
          <p:nvPr>
            <p:extLst>
              <p:ext uri="{D42A27DB-BD31-4B8C-83A1-F6EECF244321}">
                <p14:modId xmlns:p14="http://schemas.microsoft.com/office/powerpoint/2010/main" val="553896346"/>
              </p:ext>
            </p:extLst>
          </p:nvPr>
        </p:nvGraphicFramePr>
        <p:xfrm>
          <a:off x="792450" y="1272950"/>
          <a:ext cx="7704000" cy="2884522"/>
        </p:xfrm>
        <a:graphic>
          <a:graphicData uri="http://schemas.openxmlformats.org/drawingml/2006/table">
            <a:tbl>
              <a:tblPr firstRow="1" bandRow="1">
                <a:tableStyleId>{F5AB1C69-6EDB-4FF4-983F-18BD219EF322}</a:tableStyleId>
              </a:tblPr>
              <a:tblGrid>
                <a:gridCol w="1926000">
                  <a:extLst>
                    <a:ext uri="{9D8B030D-6E8A-4147-A177-3AD203B41FA5}">
                      <a16:colId xmlns:a16="http://schemas.microsoft.com/office/drawing/2014/main" val="3172827708"/>
                    </a:ext>
                  </a:extLst>
                </a:gridCol>
                <a:gridCol w="1921676">
                  <a:extLst>
                    <a:ext uri="{9D8B030D-6E8A-4147-A177-3AD203B41FA5}">
                      <a16:colId xmlns:a16="http://schemas.microsoft.com/office/drawing/2014/main" val="471470679"/>
                    </a:ext>
                  </a:extLst>
                </a:gridCol>
                <a:gridCol w="1930324">
                  <a:extLst>
                    <a:ext uri="{9D8B030D-6E8A-4147-A177-3AD203B41FA5}">
                      <a16:colId xmlns:a16="http://schemas.microsoft.com/office/drawing/2014/main" val="3343058707"/>
                    </a:ext>
                  </a:extLst>
                </a:gridCol>
                <a:gridCol w="1926000">
                  <a:extLst>
                    <a:ext uri="{9D8B030D-6E8A-4147-A177-3AD203B41FA5}">
                      <a16:colId xmlns:a16="http://schemas.microsoft.com/office/drawing/2014/main" val="203549041"/>
                    </a:ext>
                  </a:extLst>
                </a:gridCol>
              </a:tblGrid>
              <a:tr h="0">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US" sz="1400" dirty="0">
                          <a:solidFill>
                            <a:schemeClr val="bg2"/>
                          </a:solidFill>
                          <a:effectLst>
                            <a:outerShdw blurRad="38100" dist="38100" dir="2700000" algn="tl">
                              <a:srgbClr val="000000">
                                <a:alpha val="43137"/>
                              </a:srgbClr>
                            </a:outerShdw>
                          </a:effectLst>
                          <a:latin typeface="Quicksand" panose="020B0604020202020204" charset="0"/>
                        </a:rPr>
                        <a:t>Authors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IN" sz="1400" dirty="0">
                          <a:solidFill>
                            <a:schemeClr val="bg2"/>
                          </a:solidFill>
                          <a:effectLst>
                            <a:outerShdw blurRad="38100" dist="38100" dir="2700000" algn="tl">
                              <a:srgbClr val="000000">
                                <a:alpha val="43137"/>
                              </a:srgbClr>
                            </a:outerShdw>
                          </a:effectLst>
                          <a:latin typeface="Quicksand" panose="020B0604020202020204" charset="0"/>
                        </a:rPr>
                        <a:t>Methodology</a:t>
                      </a: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Advantages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Limitations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extLst>
                  <a:ext uri="{0D108BD9-81ED-4DB2-BD59-A6C34878D82A}">
                    <a16:rowId xmlns:a16="http://schemas.microsoft.com/office/drawing/2014/main" val="4236116340"/>
                  </a:ext>
                </a:extLst>
              </a:tr>
              <a:tr h="731110">
                <a:tc>
                  <a:txBody>
                    <a:bodyPr/>
                    <a:lstStyle/>
                    <a:p>
                      <a:pPr algn="ctr"/>
                      <a:r>
                        <a:rPr lang="en-IN" dirty="0">
                          <a:latin typeface="Mulish" panose="020B0604020202020204" charset="0"/>
                        </a:rPr>
                        <a:t>Antunes et al. [3]</a:t>
                      </a:r>
                    </a:p>
                  </a:txBody>
                  <a:tcPr/>
                </a:tc>
                <a:tc>
                  <a:txBody>
                    <a:bodyPr/>
                    <a:lstStyle/>
                    <a:p>
                      <a:pPr algn="ctr"/>
                      <a:r>
                        <a:rPr lang="en-US" dirty="0">
                          <a:latin typeface="Mulish" panose="020B0604020202020204" charset="0"/>
                        </a:rPr>
                        <a:t>Systematic review on FL in healthcare</a:t>
                      </a:r>
                      <a:endParaRPr lang="en-IN" dirty="0">
                        <a:latin typeface="Mulish" panose="020B0604020202020204" charset="0"/>
                      </a:endParaRPr>
                    </a:p>
                  </a:txBody>
                  <a:tcPr/>
                </a:tc>
                <a:tc>
                  <a:txBody>
                    <a:bodyPr/>
                    <a:lstStyle/>
                    <a:p>
                      <a:pPr algn="ctr"/>
                      <a:r>
                        <a:rPr lang="en-IN" dirty="0">
                          <a:latin typeface="Mulish" panose="020B0604020202020204" charset="0"/>
                        </a:rPr>
                        <a:t>Architecture proposal</a:t>
                      </a:r>
                    </a:p>
                  </a:txBody>
                  <a:tcPr/>
                </a:tc>
                <a:tc>
                  <a:txBody>
                    <a:bodyPr/>
                    <a:lstStyle/>
                    <a:p>
                      <a:pPr algn="ctr"/>
                      <a:r>
                        <a:rPr lang="en-IN" dirty="0">
                          <a:latin typeface="Mulish" panose="020B0604020202020204" charset="0"/>
                        </a:rPr>
                        <a:t>implementation details lacking</a:t>
                      </a:r>
                    </a:p>
                  </a:txBody>
                  <a:tcPr/>
                </a:tc>
                <a:extLst>
                  <a:ext uri="{0D108BD9-81ED-4DB2-BD59-A6C34878D82A}">
                    <a16:rowId xmlns:a16="http://schemas.microsoft.com/office/drawing/2014/main" val="3289436087"/>
                  </a:ext>
                </a:extLst>
              </a:tr>
              <a:tr h="754380">
                <a:tc>
                  <a:txBody>
                    <a:bodyPr/>
                    <a:lstStyle/>
                    <a:p>
                      <a:pPr algn="ctr"/>
                      <a:r>
                        <a:rPr lang="en-IN" dirty="0">
                          <a:latin typeface="Mulish" panose="020B0604020202020204" charset="0"/>
                        </a:rPr>
                        <a:t>Nguyen et al. [2] </a:t>
                      </a:r>
                    </a:p>
                  </a:txBody>
                  <a:tcPr/>
                </a:tc>
                <a:tc>
                  <a:txBody>
                    <a:bodyPr/>
                    <a:lstStyle/>
                    <a:p>
                      <a:pPr algn="ctr"/>
                      <a:r>
                        <a:rPr lang="en-US" dirty="0">
                          <a:latin typeface="Mulish" panose="020B0604020202020204" charset="0"/>
                        </a:rPr>
                        <a:t>Survey on FL for smart healthcare</a:t>
                      </a:r>
                      <a:endParaRPr lang="en-IN" dirty="0">
                        <a:latin typeface="Mulish" panose="020B0604020202020204" charset="0"/>
                      </a:endParaRPr>
                    </a:p>
                  </a:txBody>
                  <a:tcPr/>
                </a:tc>
                <a:tc>
                  <a:txBody>
                    <a:bodyPr/>
                    <a:lstStyle/>
                    <a:p>
                      <a:pPr algn="ctr"/>
                      <a:r>
                        <a:rPr lang="en-IN" dirty="0">
                          <a:latin typeface="Mulish" panose="020B0604020202020204" charset="0"/>
                        </a:rPr>
                        <a:t>Detailed comparison </a:t>
                      </a:r>
                    </a:p>
                  </a:txBody>
                  <a:tcPr/>
                </a:tc>
                <a:tc>
                  <a:txBody>
                    <a:bodyPr/>
                    <a:lstStyle/>
                    <a:p>
                      <a:pPr algn="ctr"/>
                      <a:r>
                        <a:rPr lang="en-IN" dirty="0">
                          <a:latin typeface="Mulish" panose="020B0604020202020204" charset="0"/>
                        </a:rPr>
                        <a:t>No new framework</a:t>
                      </a:r>
                    </a:p>
                  </a:txBody>
                  <a:tcPr/>
                </a:tc>
                <a:extLst>
                  <a:ext uri="{0D108BD9-81ED-4DB2-BD59-A6C34878D82A}">
                    <a16:rowId xmlns:a16="http://schemas.microsoft.com/office/drawing/2014/main" val="706796289"/>
                  </a:ext>
                </a:extLst>
              </a:tr>
              <a:tr h="769518">
                <a:tc>
                  <a:txBody>
                    <a:bodyPr/>
                    <a:lstStyle/>
                    <a:p>
                      <a:pPr algn="ctr"/>
                      <a:r>
                        <a:rPr lang="en-IN" dirty="0">
                          <a:latin typeface="Mulish" panose="020B0604020202020204" charset="0"/>
                        </a:rPr>
                        <a:t>Chauhan et al. [13]</a:t>
                      </a:r>
                    </a:p>
                  </a:txBody>
                  <a:tcPr/>
                </a:tc>
                <a:tc>
                  <a:txBody>
                    <a:bodyPr/>
                    <a:lstStyle/>
                    <a:p>
                      <a:pPr algn="ctr"/>
                      <a:r>
                        <a:rPr lang="en-IN" dirty="0">
                          <a:latin typeface="Mulish" panose="020B0604020202020204" charset="0"/>
                        </a:rPr>
                        <a:t>SecDOAR architecture for security orchestration</a:t>
                      </a:r>
                    </a:p>
                  </a:txBody>
                  <a:tcPr/>
                </a:tc>
                <a:tc>
                  <a:txBody>
                    <a:bodyPr/>
                    <a:lstStyle/>
                    <a:p>
                      <a:pPr algn="ctr"/>
                      <a:r>
                        <a:rPr lang="en-IN" dirty="0">
                          <a:latin typeface="Mulish" panose="020B0604020202020204" charset="0"/>
                        </a:rPr>
                        <a:t>Modular and semantic de-sign</a:t>
                      </a:r>
                    </a:p>
                  </a:txBody>
                  <a:tcPr/>
                </a:tc>
                <a:tc>
                  <a:txBody>
                    <a:bodyPr/>
                    <a:lstStyle/>
                    <a:p>
                      <a:pPr algn="ctr"/>
                      <a:r>
                        <a:rPr lang="en-IN" dirty="0">
                          <a:latin typeface="Mulish" panose="020B0604020202020204" charset="0"/>
                        </a:rPr>
                        <a:t>Not healthcare-specific</a:t>
                      </a:r>
                    </a:p>
                  </a:txBody>
                  <a:tcPr/>
                </a:tc>
                <a:extLst>
                  <a:ext uri="{0D108BD9-81ED-4DB2-BD59-A6C34878D82A}">
                    <a16:rowId xmlns:a16="http://schemas.microsoft.com/office/drawing/2014/main" val="1829029880"/>
                  </a:ext>
                </a:extLst>
              </a:tr>
            </a:tbl>
          </a:graphicData>
        </a:graphic>
      </p:graphicFrame>
    </p:spTree>
    <p:extLst>
      <p:ext uri="{BB962C8B-B14F-4D97-AF65-F5344CB8AC3E}">
        <p14:creationId xmlns:p14="http://schemas.microsoft.com/office/powerpoint/2010/main" val="1756618113"/>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46E72A83-B17E-949B-7C9C-C175F6E9937F}"/>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F3C64EB8-17A8-AB83-20E5-0AC8285AF1A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solidFill>
                  <a:schemeClr val="tx1"/>
                </a:solidFill>
              </a:rPr>
              <a:t>Litrature Review contd.</a:t>
            </a:r>
            <a:endParaRPr b="0" dirty="0">
              <a:solidFill>
                <a:schemeClr val="tx1"/>
              </a:solidFill>
            </a:endParaRPr>
          </a:p>
        </p:txBody>
      </p:sp>
      <p:sp>
        <p:nvSpPr>
          <p:cNvPr id="300" name="Google Shape;300;p30">
            <a:extLst>
              <a:ext uri="{FF2B5EF4-FFF2-40B4-BE49-F238E27FC236}">
                <a16:creationId xmlns:a16="http://schemas.microsoft.com/office/drawing/2014/main" id="{C32016FB-E459-25D2-B1D3-995B5231E73E}"/>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dirty="0">
                <a:solidFill>
                  <a:srgbClr val="927C71"/>
                </a:solidFill>
              </a:rPr>
              <a:t>4</a:t>
            </a:r>
            <a:endParaRPr kumimoji="0" sz="1300" b="0" i="0" u="none" strike="noStrike" kern="0" cap="none" spc="0" normalizeH="0" baseline="0" noProof="0" dirty="0">
              <a:ln>
                <a:noFill/>
              </a:ln>
              <a:solidFill>
                <a:srgbClr val="927C71"/>
              </a:solidFill>
              <a:effectLst/>
              <a:uLnTx/>
              <a:uFillTx/>
              <a:latin typeface="Mulish"/>
              <a:sym typeface="Mulish"/>
            </a:endParaRPr>
          </a:p>
        </p:txBody>
      </p:sp>
      <p:graphicFrame>
        <p:nvGraphicFramePr>
          <p:cNvPr id="2" name="Table 1">
            <a:extLst>
              <a:ext uri="{FF2B5EF4-FFF2-40B4-BE49-F238E27FC236}">
                <a16:creationId xmlns:a16="http://schemas.microsoft.com/office/drawing/2014/main" id="{60EE5050-BE97-C3C2-AE1E-52656136C746}"/>
              </a:ext>
            </a:extLst>
          </p:cNvPr>
          <p:cNvGraphicFramePr>
            <a:graphicFrameLocks noGrp="1"/>
          </p:cNvGraphicFramePr>
          <p:nvPr>
            <p:extLst>
              <p:ext uri="{D42A27DB-BD31-4B8C-83A1-F6EECF244321}">
                <p14:modId xmlns:p14="http://schemas.microsoft.com/office/powerpoint/2010/main" val="2117793029"/>
              </p:ext>
            </p:extLst>
          </p:nvPr>
        </p:nvGraphicFramePr>
        <p:xfrm>
          <a:off x="792450" y="1272950"/>
          <a:ext cx="7704000" cy="2709570"/>
        </p:xfrm>
        <a:graphic>
          <a:graphicData uri="http://schemas.openxmlformats.org/drawingml/2006/table">
            <a:tbl>
              <a:tblPr firstRow="1" bandRow="1">
                <a:tableStyleId>{F5AB1C69-6EDB-4FF4-983F-18BD219EF322}</a:tableStyleId>
              </a:tblPr>
              <a:tblGrid>
                <a:gridCol w="1926000">
                  <a:extLst>
                    <a:ext uri="{9D8B030D-6E8A-4147-A177-3AD203B41FA5}">
                      <a16:colId xmlns:a16="http://schemas.microsoft.com/office/drawing/2014/main" val="3172827708"/>
                    </a:ext>
                  </a:extLst>
                </a:gridCol>
                <a:gridCol w="1921676">
                  <a:extLst>
                    <a:ext uri="{9D8B030D-6E8A-4147-A177-3AD203B41FA5}">
                      <a16:colId xmlns:a16="http://schemas.microsoft.com/office/drawing/2014/main" val="471470679"/>
                    </a:ext>
                  </a:extLst>
                </a:gridCol>
                <a:gridCol w="1930324">
                  <a:extLst>
                    <a:ext uri="{9D8B030D-6E8A-4147-A177-3AD203B41FA5}">
                      <a16:colId xmlns:a16="http://schemas.microsoft.com/office/drawing/2014/main" val="3343058707"/>
                    </a:ext>
                  </a:extLst>
                </a:gridCol>
                <a:gridCol w="1926000">
                  <a:extLst>
                    <a:ext uri="{9D8B030D-6E8A-4147-A177-3AD203B41FA5}">
                      <a16:colId xmlns:a16="http://schemas.microsoft.com/office/drawing/2014/main" val="203549041"/>
                    </a:ext>
                  </a:extLst>
                </a:gridCol>
              </a:tblGrid>
              <a:tr h="0">
                <a:tc>
                  <a:txBody>
                    <a:bodyPr/>
                    <a:lstStyle/>
                    <a:p>
                      <a:pPr algn="ctr">
                        <a:lnSpc>
                          <a:spcPct val="200000"/>
                        </a:lnSpc>
                      </a:pPr>
                      <a:r>
                        <a:rPr lang="en-US" sz="1400" dirty="0">
                          <a:solidFill>
                            <a:schemeClr val="bg2"/>
                          </a:solidFill>
                          <a:effectLst>
                            <a:outerShdw blurRad="38100" dist="38100" dir="2700000" algn="tl">
                              <a:srgbClr val="000000">
                                <a:alpha val="43137"/>
                              </a:srgbClr>
                            </a:outerShdw>
                          </a:effectLst>
                          <a:latin typeface="Quicksand" panose="020B0604020202020204" charset="0"/>
                        </a:rPr>
                        <a:t>Authors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IN" sz="1400" dirty="0">
                          <a:solidFill>
                            <a:schemeClr val="bg2"/>
                          </a:solidFill>
                          <a:effectLst>
                            <a:outerShdw blurRad="38100" dist="38100" dir="2700000" algn="tl">
                              <a:srgbClr val="000000">
                                <a:alpha val="43137"/>
                              </a:srgbClr>
                            </a:outerShdw>
                          </a:effectLst>
                          <a:latin typeface="Quicksand" panose="020B0604020202020204" charset="0"/>
                        </a:rPr>
                        <a:t>Methodology</a:t>
                      </a: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Advantages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Limitations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extLst>
                  <a:ext uri="{0D108BD9-81ED-4DB2-BD59-A6C34878D82A}">
                    <a16:rowId xmlns:a16="http://schemas.microsoft.com/office/drawing/2014/main" val="4236116340"/>
                  </a:ext>
                </a:extLst>
              </a:tr>
              <a:tr h="731110">
                <a:tc>
                  <a:txBody>
                    <a:bodyPr/>
                    <a:lstStyle/>
                    <a:p>
                      <a:pPr algn="ctr"/>
                      <a:r>
                        <a:rPr lang="en-IN" dirty="0">
                          <a:latin typeface="Mulish" panose="020B0604020202020204" charset="0"/>
                        </a:rPr>
                        <a:t>Guduri et al. [27]</a:t>
                      </a:r>
                    </a:p>
                  </a:txBody>
                  <a:tcPr/>
                </a:tc>
                <a:tc>
                  <a:txBody>
                    <a:bodyPr/>
                    <a:lstStyle/>
                    <a:p>
                      <a:pPr algn="ctr"/>
                      <a:r>
                        <a:rPr lang="en-IN" dirty="0">
                          <a:latin typeface="Mulish" panose="020B0604020202020204" charset="0"/>
                        </a:rPr>
                        <a:t>Blockchain-enhanced FL for EHRs</a:t>
                      </a:r>
                    </a:p>
                  </a:txBody>
                  <a:tcPr/>
                </a:tc>
                <a:tc>
                  <a:txBody>
                    <a:bodyPr/>
                    <a:lstStyle/>
                    <a:p>
                      <a:pPr algn="ctr"/>
                      <a:r>
                        <a:rPr lang="en-IN" dirty="0">
                          <a:latin typeface="Mulish" panose="020B0604020202020204" charset="0"/>
                        </a:rPr>
                        <a:t>Privacy-preserving architecture</a:t>
                      </a:r>
                    </a:p>
                  </a:txBody>
                  <a:tcPr/>
                </a:tc>
                <a:tc>
                  <a:txBody>
                    <a:bodyPr/>
                    <a:lstStyle/>
                    <a:p>
                      <a:pPr algn="ctr"/>
                      <a:r>
                        <a:rPr lang="en-IN" dirty="0">
                          <a:latin typeface="Mulish" panose="020B0604020202020204" charset="0"/>
                        </a:rPr>
                        <a:t>Ethereum overhead</a:t>
                      </a:r>
                    </a:p>
                  </a:txBody>
                  <a:tcPr/>
                </a:tc>
                <a:extLst>
                  <a:ext uri="{0D108BD9-81ED-4DB2-BD59-A6C34878D82A}">
                    <a16:rowId xmlns:a16="http://schemas.microsoft.com/office/drawing/2014/main" val="3289436087"/>
                  </a:ext>
                </a:extLst>
              </a:tr>
              <a:tr h="754380">
                <a:tc>
                  <a:txBody>
                    <a:bodyPr/>
                    <a:lstStyle/>
                    <a:p>
                      <a:pPr algn="ctr"/>
                      <a:r>
                        <a:rPr lang="en-IN" dirty="0">
                          <a:latin typeface="Mulish" panose="020B0604020202020204" charset="0"/>
                        </a:rPr>
                        <a:t>Shitharth et al. [30]</a:t>
                      </a:r>
                    </a:p>
                  </a:txBody>
                  <a:tcPr/>
                </a:tc>
                <a:tc>
                  <a:txBody>
                    <a:bodyPr/>
                    <a:lstStyle/>
                    <a:p>
                      <a:pPr algn="ctr"/>
                      <a:r>
                        <a:rPr lang="en-IN" dirty="0">
                          <a:latin typeface="Mulish" panose="020B0604020202020204" charset="0"/>
                        </a:rPr>
                        <a:t>Blockchain-based offloading strategy</a:t>
                      </a:r>
                    </a:p>
                  </a:txBody>
                  <a:tcPr/>
                </a:tc>
                <a:tc>
                  <a:txBody>
                    <a:bodyPr/>
                    <a:lstStyle/>
                    <a:p>
                      <a:pPr algn="ctr"/>
                      <a:r>
                        <a:rPr lang="en-IN" dirty="0">
                          <a:latin typeface="Mulish" panose="020B0604020202020204" charset="0"/>
                        </a:rPr>
                        <a:t>Enhanced security</a:t>
                      </a:r>
                    </a:p>
                  </a:txBody>
                  <a:tcPr/>
                </a:tc>
                <a:tc>
                  <a:txBody>
                    <a:bodyPr/>
                    <a:lstStyle/>
                    <a:p>
                      <a:pPr algn="ctr"/>
                      <a:r>
                        <a:rPr lang="en-IN" dirty="0">
                          <a:latin typeface="Mulish" panose="020B0604020202020204" charset="0"/>
                        </a:rPr>
                        <a:t>High resource usage</a:t>
                      </a:r>
                    </a:p>
                  </a:txBody>
                  <a:tcPr/>
                </a:tc>
                <a:extLst>
                  <a:ext uri="{0D108BD9-81ED-4DB2-BD59-A6C34878D82A}">
                    <a16:rowId xmlns:a16="http://schemas.microsoft.com/office/drawing/2014/main" val="706796289"/>
                  </a:ext>
                </a:extLst>
              </a:tr>
              <a:tr h="769518">
                <a:tc>
                  <a:txBody>
                    <a:bodyPr/>
                    <a:lstStyle/>
                    <a:p>
                      <a:pPr algn="ctr"/>
                      <a:r>
                        <a:rPr lang="en-IN" dirty="0">
                          <a:latin typeface="Mulish" panose="020B0604020202020204" charset="0"/>
                        </a:rPr>
                        <a:t>Nguyen and Thai [28]</a:t>
                      </a:r>
                    </a:p>
                  </a:txBody>
                  <a:tcPr/>
                </a:tc>
                <a:tc>
                  <a:txBody>
                    <a:bodyPr/>
                    <a:lstStyle/>
                    <a:p>
                      <a:pPr algn="ctr"/>
                      <a:r>
                        <a:rPr lang="en-US" dirty="0">
                          <a:latin typeface="Mulish" panose="020B0604020202020204" charset="0"/>
                        </a:rPr>
                        <a:t>Survey on preserving FL privacy</a:t>
                      </a:r>
                      <a:endParaRPr lang="en-IN" dirty="0">
                        <a:latin typeface="Mulish" panose="020B0604020202020204" charset="0"/>
                      </a:endParaRPr>
                    </a:p>
                  </a:txBody>
                  <a:tcPr/>
                </a:tc>
                <a:tc>
                  <a:txBody>
                    <a:bodyPr/>
                    <a:lstStyle/>
                    <a:p>
                      <a:pPr algn="ctr"/>
                      <a:r>
                        <a:rPr lang="en-IN" dirty="0">
                          <a:latin typeface="Mulish" panose="020B0604020202020204" charset="0"/>
                        </a:rPr>
                        <a:t>Broad coverage</a:t>
                      </a:r>
                    </a:p>
                  </a:txBody>
                  <a:tcPr/>
                </a:tc>
                <a:tc>
                  <a:txBody>
                    <a:bodyPr/>
                    <a:lstStyle/>
                    <a:p>
                      <a:pPr algn="ctr"/>
                      <a:r>
                        <a:rPr lang="en-IN" dirty="0">
                          <a:latin typeface="Mulish" panose="020B0604020202020204" charset="0"/>
                        </a:rPr>
                        <a:t>No comparative metrics</a:t>
                      </a:r>
                    </a:p>
                  </a:txBody>
                  <a:tcPr/>
                </a:tc>
                <a:extLst>
                  <a:ext uri="{0D108BD9-81ED-4DB2-BD59-A6C34878D82A}">
                    <a16:rowId xmlns:a16="http://schemas.microsoft.com/office/drawing/2014/main" val="1829029880"/>
                  </a:ext>
                </a:extLst>
              </a:tr>
            </a:tbl>
          </a:graphicData>
        </a:graphic>
      </p:graphicFrame>
    </p:spTree>
    <p:extLst>
      <p:ext uri="{BB962C8B-B14F-4D97-AF65-F5344CB8AC3E}">
        <p14:creationId xmlns:p14="http://schemas.microsoft.com/office/powerpoint/2010/main" val="919165752"/>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04065206-BF22-BDAC-515E-E6B3EADE15DE}"/>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60CAD2CB-7E9C-BF33-4617-4AEF139D764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solidFill>
                  <a:schemeClr val="tx1"/>
                </a:solidFill>
              </a:rPr>
              <a:t>Litrature Review contd.</a:t>
            </a:r>
            <a:endParaRPr b="0" dirty="0">
              <a:solidFill>
                <a:schemeClr val="tx1"/>
              </a:solidFill>
            </a:endParaRPr>
          </a:p>
        </p:txBody>
      </p:sp>
      <p:sp>
        <p:nvSpPr>
          <p:cNvPr id="300" name="Google Shape;300;p30">
            <a:extLst>
              <a:ext uri="{FF2B5EF4-FFF2-40B4-BE49-F238E27FC236}">
                <a16:creationId xmlns:a16="http://schemas.microsoft.com/office/drawing/2014/main" id="{74503311-DEA2-9B74-66B2-33A5D398FC93}"/>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300" b="0" i="0" u="none" strike="noStrike" kern="0" cap="none" spc="0" normalizeH="0" baseline="0" noProof="0" dirty="0">
                <a:ln>
                  <a:noFill/>
                </a:ln>
                <a:solidFill>
                  <a:srgbClr val="927C71"/>
                </a:solidFill>
                <a:effectLst/>
                <a:uLnTx/>
                <a:uFillTx/>
                <a:latin typeface="Mulish"/>
                <a:sym typeface="Mulish"/>
              </a:rPr>
              <a:t>5</a:t>
            </a:r>
            <a:endParaRPr kumimoji="0" sz="1300" b="0" i="0" u="none" strike="noStrike" kern="0" cap="none" spc="0" normalizeH="0" baseline="0" noProof="0" dirty="0">
              <a:ln>
                <a:noFill/>
              </a:ln>
              <a:solidFill>
                <a:srgbClr val="927C71"/>
              </a:solidFill>
              <a:effectLst/>
              <a:uLnTx/>
              <a:uFillTx/>
              <a:latin typeface="Mulish"/>
              <a:sym typeface="Mulish"/>
            </a:endParaRPr>
          </a:p>
        </p:txBody>
      </p:sp>
      <p:graphicFrame>
        <p:nvGraphicFramePr>
          <p:cNvPr id="2" name="Table 1">
            <a:extLst>
              <a:ext uri="{FF2B5EF4-FFF2-40B4-BE49-F238E27FC236}">
                <a16:creationId xmlns:a16="http://schemas.microsoft.com/office/drawing/2014/main" id="{0F1E4046-23B3-0AF5-9A1C-E7A09A25C185}"/>
              </a:ext>
            </a:extLst>
          </p:cNvPr>
          <p:cNvGraphicFramePr>
            <a:graphicFrameLocks noGrp="1"/>
          </p:cNvGraphicFramePr>
          <p:nvPr>
            <p:extLst>
              <p:ext uri="{D42A27DB-BD31-4B8C-83A1-F6EECF244321}">
                <p14:modId xmlns:p14="http://schemas.microsoft.com/office/powerpoint/2010/main" val="3505446880"/>
              </p:ext>
            </p:extLst>
          </p:nvPr>
        </p:nvGraphicFramePr>
        <p:xfrm>
          <a:off x="792450" y="1272950"/>
          <a:ext cx="7810531" cy="2963483"/>
        </p:xfrm>
        <a:graphic>
          <a:graphicData uri="http://schemas.openxmlformats.org/drawingml/2006/table">
            <a:tbl>
              <a:tblPr firstRow="1" bandRow="1">
                <a:tableStyleId>{F5AB1C69-6EDB-4FF4-983F-18BD219EF322}</a:tableStyleId>
              </a:tblPr>
              <a:tblGrid>
                <a:gridCol w="1952633">
                  <a:extLst>
                    <a:ext uri="{9D8B030D-6E8A-4147-A177-3AD203B41FA5}">
                      <a16:colId xmlns:a16="http://schemas.microsoft.com/office/drawing/2014/main" val="3172827708"/>
                    </a:ext>
                  </a:extLst>
                </a:gridCol>
                <a:gridCol w="1948249">
                  <a:extLst>
                    <a:ext uri="{9D8B030D-6E8A-4147-A177-3AD203B41FA5}">
                      <a16:colId xmlns:a16="http://schemas.microsoft.com/office/drawing/2014/main" val="471470679"/>
                    </a:ext>
                  </a:extLst>
                </a:gridCol>
                <a:gridCol w="1957016">
                  <a:extLst>
                    <a:ext uri="{9D8B030D-6E8A-4147-A177-3AD203B41FA5}">
                      <a16:colId xmlns:a16="http://schemas.microsoft.com/office/drawing/2014/main" val="3343058707"/>
                    </a:ext>
                  </a:extLst>
                </a:gridCol>
                <a:gridCol w="1952633">
                  <a:extLst>
                    <a:ext uri="{9D8B030D-6E8A-4147-A177-3AD203B41FA5}">
                      <a16:colId xmlns:a16="http://schemas.microsoft.com/office/drawing/2014/main" val="203549041"/>
                    </a:ext>
                  </a:extLst>
                </a:gridCol>
              </a:tblGrid>
              <a:tr h="626184">
                <a:tc>
                  <a:txBody>
                    <a:bodyPr/>
                    <a:lstStyle/>
                    <a:p>
                      <a:pPr algn="ctr">
                        <a:lnSpc>
                          <a:spcPct val="200000"/>
                        </a:lnSpc>
                      </a:pPr>
                      <a:r>
                        <a:rPr lang="en-US" sz="1400" dirty="0">
                          <a:solidFill>
                            <a:schemeClr val="bg2"/>
                          </a:solidFill>
                          <a:effectLst>
                            <a:outerShdw blurRad="38100" dist="38100" dir="2700000" algn="tl">
                              <a:srgbClr val="000000">
                                <a:alpha val="43137"/>
                              </a:srgbClr>
                            </a:outerShdw>
                          </a:effectLst>
                          <a:latin typeface="Quicksand" panose="020B0604020202020204" charset="0"/>
                        </a:rPr>
                        <a:t>Authors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IN" sz="1400" dirty="0">
                          <a:solidFill>
                            <a:schemeClr val="bg2"/>
                          </a:solidFill>
                          <a:effectLst>
                            <a:outerShdw blurRad="38100" dist="38100" dir="2700000" algn="tl">
                              <a:srgbClr val="000000">
                                <a:alpha val="43137"/>
                              </a:srgbClr>
                            </a:outerShdw>
                          </a:effectLst>
                          <a:latin typeface="Quicksand" panose="020B0604020202020204" charset="0"/>
                        </a:rPr>
                        <a:t>Methodology</a:t>
                      </a: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Advantages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tc>
                  <a:txBody>
                    <a:bodyPr/>
                    <a:lstStyle/>
                    <a:p>
                      <a:pPr algn="ctr">
                        <a:lnSpc>
                          <a:spcPct val="200000"/>
                        </a:lnSpc>
                      </a:pPr>
                      <a:r>
                        <a:rPr lang="en" sz="1400" b="1" dirty="0">
                          <a:solidFill>
                            <a:schemeClr val="bg2"/>
                          </a:solidFill>
                          <a:effectLst>
                            <a:outerShdw blurRad="38100" dist="38100" dir="2700000" algn="tl">
                              <a:srgbClr val="000000">
                                <a:alpha val="43137"/>
                              </a:srgbClr>
                            </a:outerShdw>
                          </a:effectLst>
                          <a:latin typeface="Quicksand" panose="020B0604020202020204" charset="0"/>
                          <a:sym typeface="Quicksand"/>
                        </a:rPr>
                        <a:t>Limitations</a:t>
                      </a:r>
                      <a:endParaRPr lang="en-IN" sz="1400" dirty="0">
                        <a:solidFill>
                          <a:schemeClr val="bg2"/>
                        </a:solidFill>
                        <a:effectLst>
                          <a:outerShdw blurRad="38100" dist="38100" dir="2700000" algn="tl">
                            <a:srgbClr val="000000">
                              <a:alpha val="43137"/>
                            </a:srgbClr>
                          </a:outerShdw>
                        </a:effectLst>
                        <a:latin typeface="Quicksand" panose="020B0604020202020204" charset="0"/>
                      </a:endParaRPr>
                    </a:p>
                  </a:txBody>
                  <a:tcPr/>
                </a:tc>
                <a:extLst>
                  <a:ext uri="{0D108BD9-81ED-4DB2-BD59-A6C34878D82A}">
                    <a16:rowId xmlns:a16="http://schemas.microsoft.com/office/drawing/2014/main" val="4236116340"/>
                  </a:ext>
                </a:extLst>
              </a:tr>
              <a:tr h="554506">
                <a:tc>
                  <a:txBody>
                    <a:bodyPr/>
                    <a:lstStyle/>
                    <a:p>
                      <a:pPr algn="ctr"/>
                      <a:r>
                        <a:rPr lang="en-IN" dirty="0">
                          <a:latin typeface="Mulish" panose="020B0604020202020204" charset="0"/>
                        </a:rPr>
                        <a:t>Nguyen et al. [16]</a:t>
                      </a:r>
                    </a:p>
                  </a:txBody>
                  <a:tcPr/>
                </a:tc>
                <a:tc>
                  <a:txBody>
                    <a:bodyPr/>
                    <a:lstStyle/>
                    <a:p>
                      <a:pPr algn="ctr"/>
                      <a:r>
                        <a:rPr lang="en-IN" dirty="0">
                          <a:latin typeface="Mulish" panose="020B0604020202020204" charset="0"/>
                        </a:rPr>
                        <a:t>BEdgeHealth using blockchain + MEC</a:t>
                      </a:r>
                    </a:p>
                  </a:txBody>
                  <a:tcPr/>
                </a:tc>
                <a:tc>
                  <a:txBody>
                    <a:bodyPr/>
                    <a:lstStyle/>
                    <a:p>
                      <a:pPr algn="ctr"/>
                      <a:r>
                        <a:rPr lang="en-IN" dirty="0">
                          <a:latin typeface="Mulish" panose="020B0604020202020204" charset="0"/>
                        </a:rPr>
                        <a:t>Low-latency design</a:t>
                      </a:r>
                    </a:p>
                  </a:txBody>
                  <a:tcPr/>
                </a:tc>
                <a:tc>
                  <a:txBody>
                    <a:bodyPr/>
                    <a:lstStyle/>
                    <a:p>
                      <a:pPr algn="ctr"/>
                      <a:r>
                        <a:rPr lang="en-IN" dirty="0">
                          <a:latin typeface="Mulish" panose="020B0604020202020204" charset="0"/>
                        </a:rPr>
                        <a:t>Architecture complexity</a:t>
                      </a:r>
                    </a:p>
                  </a:txBody>
                  <a:tcPr/>
                </a:tc>
                <a:extLst>
                  <a:ext uri="{0D108BD9-81ED-4DB2-BD59-A6C34878D82A}">
                    <a16:rowId xmlns:a16="http://schemas.microsoft.com/office/drawing/2014/main" val="3289436087"/>
                  </a:ext>
                </a:extLst>
              </a:tr>
              <a:tr h="480060">
                <a:tc>
                  <a:txBody>
                    <a:bodyPr/>
                    <a:lstStyle/>
                    <a:p>
                      <a:pPr algn="ctr"/>
                      <a:r>
                        <a:rPr lang="en-IN" dirty="0">
                          <a:latin typeface="Mulish" panose="020B0604020202020204" charset="0"/>
                        </a:rPr>
                        <a:t>Siddiqui et al. [12] </a:t>
                      </a:r>
                    </a:p>
                  </a:txBody>
                  <a:tcPr/>
                </a:tc>
                <a:tc>
                  <a:txBody>
                    <a:bodyPr/>
                    <a:lstStyle/>
                    <a:p>
                      <a:pPr algn="ctr"/>
                      <a:r>
                        <a:rPr lang="en-IN" dirty="0">
                          <a:latin typeface="Mulish" panose="020B0604020202020204" charset="0"/>
                        </a:rPr>
                        <a:t>Lightweight secure comms for IoT</a:t>
                      </a:r>
                    </a:p>
                  </a:txBody>
                  <a:tcPr/>
                </a:tc>
                <a:tc>
                  <a:txBody>
                    <a:bodyPr/>
                    <a:lstStyle/>
                    <a:p>
                      <a:pPr algn="ctr"/>
                      <a:r>
                        <a:rPr lang="en-IN" dirty="0">
                          <a:latin typeface="Mulish" panose="020B0604020202020204" charset="0"/>
                        </a:rPr>
                        <a:t>Energy-efficient</a:t>
                      </a:r>
                    </a:p>
                  </a:txBody>
                  <a:tcPr/>
                </a:tc>
                <a:tc>
                  <a:txBody>
                    <a:bodyPr/>
                    <a:lstStyle/>
                    <a:p>
                      <a:pPr algn="ctr"/>
                      <a:r>
                        <a:rPr lang="en-IN" dirty="0">
                          <a:latin typeface="Mulish" panose="020B0604020202020204" charset="0"/>
                        </a:rPr>
                        <a:t>Not FL-specific</a:t>
                      </a:r>
                    </a:p>
                  </a:txBody>
                  <a:tcPr/>
                </a:tc>
                <a:extLst>
                  <a:ext uri="{0D108BD9-81ED-4DB2-BD59-A6C34878D82A}">
                    <a16:rowId xmlns:a16="http://schemas.microsoft.com/office/drawing/2014/main" val="706796289"/>
                  </a:ext>
                </a:extLst>
              </a:tr>
              <a:tr h="533113">
                <a:tc>
                  <a:txBody>
                    <a:bodyPr/>
                    <a:lstStyle/>
                    <a:p>
                      <a:pPr algn="ctr"/>
                      <a:r>
                        <a:rPr lang="en-IN" dirty="0">
                          <a:latin typeface="Mulish" panose="020B0604020202020204" charset="0"/>
                        </a:rPr>
                        <a:t>Karatza [29]</a:t>
                      </a:r>
                    </a:p>
                  </a:txBody>
                  <a:tcPr/>
                </a:tc>
                <a:tc>
                  <a:txBody>
                    <a:bodyPr/>
                    <a:lstStyle/>
                    <a:p>
                      <a:pPr algn="ctr"/>
                      <a:r>
                        <a:rPr lang="en-IN" dirty="0">
                          <a:latin typeface="Mulish" panose="020B0604020202020204" charset="0"/>
                        </a:rPr>
                        <a:t>Workflow scheduling with security constraints</a:t>
                      </a:r>
                    </a:p>
                  </a:txBody>
                  <a:tcPr/>
                </a:tc>
                <a:tc>
                  <a:txBody>
                    <a:bodyPr/>
                    <a:lstStyle/>
                    <a:p>
                      <a:pPr algn="ctr"/>
                      <a:r>
                        <a:rPr lang="en-IN" dirty="0">
                          <a:latin typeface="Mulish" panose="020B0604020202020204" charset="0"/>
                        </a:rPr>
                        <a:t>Fog-cloud integration</a:t>
                      </a:r>
                    </a:p>
                  </a:txBody>
                  <a:tcPr/>
                </a:tc>
                <a:tc>
                  <a:txBody>
                    <a:bodyPr/>
                    <a:lstStyle/>
                    <a:p>
                      <a:pPr algn="ctr"/>
                      <a:r>
                        <a:rPr lang="en-IN" dirty="0">
                          <a:latin typeface="Mulish" panose="020B0604020202020204" charset="0"/>
                        </a:rPr>
                        <a:t>No privacy in FL considered</a:t>
                      </a:r>
                    </a:p>
                  </a:txBody>
                  <a:tcPr/>
                </a:tc>
                <a:extLst>
                  <a:ext uri="{0D108BD9-81ED-4DB2-BD59-A6C34878D82A}">
                    <a16:rowId xmlns:a16="http://schemas.microsoft.com/office/drawing/2014/main" val="1829029880"/>
                  </a:ext>
                </a:extLst>
              </a:tr>
              <a:tr h="533113">
                <a:tc>
                  <a:txBody>
                    <a:bodyPr/>
                    <a:lstStyle/>
                    <a:p>
                      <a:pPr algn="ctr"/>
                      <a:r>
                        <a:rPr lang="en-IN" dirty="0">
                          <a:latin typeface="Mulish" panose="020B0604020202020204" charset="0"/>
                        </a:rPr>
                        <a:t>Fan et al. [31]</a:t>
                      </a:r>
                    </a:p>
                  </a:txBody>
                  <a:tcPr/>
                </a:tc>
                <a:tc>
                  <a:txBody>
                    <a:bodyPr/>
                    <a:lstStyle/>
                    <a:p>
                      <a:pPr algn="ctr"/>
                      <a:r>
                        <a:rPr lang="en-US" dirty="0">
                          <a:latin typeface="Mulish" panose="020B0604020202020204" charset="0"/>
                        </a:rPr>
                        <a:t>Lightweight privacy frame-work for FL</a:t>
                      </a:r>
                      <a:endParaRPr lang="en-IN" dirty="0">
                        <a:latin typeface="Mulish" panose="020B0604020202020204" charset="0"/>
                      </a:endParaRPr>
                    </a:p>
                  </a:txBody>
                  <a:tcPr/>
                </a:tc>
                <a:tc>
                  <a:txBody>
                    <a:bodyPr/>
                    <a:lstStyle/>
                    <a:p>
                      <a:pPr algn="ctr"/>
                      <a:r>
                        <a:rPr lang="en-IN" dirty="0">
                          <a:latin typeface="Mulish" panose="020B0604020202020204" charset="0"/>
                        </a:rPr>
                        <a:t>Blockchain integration</a:t>
                      </a:r>
                    </a:p>
                  </a:txBody>
                  <a:tcPr/>
                </a:tc>
                <a:tc>
                  <a:txBody>
                    <a:bodyPr/>
                    <a:lstStyle/>
                    <a:p>
                      <a:pPr algn="ctr"/>
                      <a:r>
                        <a:rPr lang="en-IN" dirty="0">
                          <a:latin typeface="Mulish" panose="020B0604020202020204" charset="0"/>
                        </a:rPr>
                        <a:t>Scalability concerns</a:t>
                      </a:r>
                    </a:p>
                  </a:txBody>
                  <a:tcPr/>
                </a:tc>
                <a:extLst>
                  <a:ext uri="{0D108BD9-81ED-4DB2-BD59-A6C34878D82A}">
                    <a16:rowId xmlns:a16="http://schemas.microsoft.com/office/drawing/2014/main" val="1901026905"/>
                  </a:ext>
                </a:extLst>
              </a:tr>
            </a:tbl>
          </a:graphicData>
        </a:graphic>
      </p:graphicFrame>
    </p:spTree>
    <p:extLst>
      <p:ext uri="{BB962C8B-B14F-4D97-AF65-F5344CB8AC3E}">
        <p14:creationId xmlns:p14="http://schemas.microsoft.com/office/powerpoint/2010/main" val="2102751585"/>
      </p:ext>
    </p:extLst>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3A3DED0A-0356-2176-3688-031FF38DA9A4}"/>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11F4F36D-2DAC-C114-FC37-D608CEA4BE0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solidFill>
                  <a:schemeClr val="tx1"/>
                </a:solidFill>
              </a:rPr>
              <a:t>Research gaps</a:t>
            </a:r>
            <a:endParaRPr dirty="0"/>
          </a:p>
        </p:txBody>
      </p:sp>
      <p:sp>
        <p:nvSpPr>
          <p:cNvPr id="296" name="Google Shape;296;p30">
            <a:extLst>
              <a:ext uri="{FF2B5EF4-FFF2-40B4-BE49-F238E27FC236}">
                <a16:creationId xmlns:a16="http://schemas.microsoft.com/office/drawing/2014/main" id="{611CB48F-E84D-30CD-06E7-7A815AE53CE0}"/>
              </a:ext>
            </a:extLst>
          </p:cNvPr>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algn="just">
              <a:buFont typeface="Wingdings" panose="05000000000000000000" pitchFamily="2" charset="2"/>
              <a:buChar char="Ø"/>
              <a:defRPr sz="2000">
                <a:latin typeface="Calibri"/>
              </a:defRPr>
            </a:pPr>
            <a:r>
              <a:rPr lang="en-US" sz="1650" dirty="0">
                <a:latin typeface="Mulish" panose="020B0604020202020204" charset="0"/>
              </a:rPr>
              <a:t>Lack of Intelligent Data Classification in FL-Based Healthcare Systems</a:t>
            </a:r>
          </a:p>
          <a:p>
            <a:pPr algn="just">
              <a:buFont typeface="Wingdings" panose="05000000000000000000" pitchFamily="2" charset="2"/>
              <a:buChar char="Ø"/>
              <a:defRPr sz="2000">
                <a:latin typeface="Calibri"/>
              </a:defRPr>
            </a:pPr>
            <a:r>
              <a:rPr lang="en-US" sz="1650" dirty="0">
                <a:latin typeface="Mulish" panose="020B0604020202020204" charset="0"/>
              </a:rPr>
              <a:t>Absence of Unified Edge-Fog–Cloud FL Architectures for Cost Efficiency</a:t>
            </a:r>
          </a:p>
          <a:p>
            <a:pPr algn="just">
              <a:buFont typeface="Wingdings" panose="05000000000000000000" pitchFamily="2" charset="2"/>
              <a:buChar char="Ø"/>
              <a:defRPr sz="2000">
                <a:latin typeface="Calibri"/>
              </a:defRPr>
            </a:pPr>
            <a:r>
              <a:rPr lang="en-US" sz="1650" dirty="0">
                <a:latin typeface="Mulish" panose="020B0604020202020204" charset="0"/>
              </a:rPr>
              <a:t>Under-addressed Tradeoffs Between Offloading and Data Security</a:t>
            </a:r>
          </a:p>
          <a:p>
            <a:pPr algn="just">
              <a:buFont typeface="Wingdings" panose="05000000000000000000" pitchFamily="2" charset="2"/>
              <a:buChar char="Ø"/>
              <a:defRPr sz="2000">
                <a:latin typeface="Calibri"/>
              </a:defRPr>
            </a:pPr>
            <a:r>
              <a:rPr lang="en-US" sz="1650" dirty="0">
                <a:latin typeface="Mulish" panose="020B0604020202020204" charset="0"/>
              </a:rPr>
              <a:t>Inefficient Load Balancing Strategies in Federated Learning Environments</a:t>
            </a:r>
          </a:p>
          <a:p>
            <a:pPr algn="just">
              <a:buFont typeface="Wingdings" panose="05000000000000000000" pitchFamily="2" charset="2"/>
              <a:buChar char="Ø"/>
              <a:defRPr sz="2000">
                <a:latin typeface="Calibri"/>
              </a:defRPr>
            </a:pPr>
            <a:r>
              <a:rPr lang="en-US" sz="1650" dirty="0">
                <a:latin typeface="Mulish" panose="020B0604020202020204" charset="0"/>
              </a:rPr>
              <a:t>Limited Integration of Lightweight Security Mechanisms in FL Model</a:t>
            </a:r>
            <a:endParaRPr sz="1650" dirty="0">
              <a:latin typeface="Mulish" panose="020B0604020202020204" charset="0"/>
            </a:endParaRPr>
          </a:p>
        </p:txBody>
      </p:sp>
      <p:sp>
        <p:nvSpPr>
          <p:cNvPr id="300" name="Google Shape;300;p30">
            <a:extLst>
              <a:ext uri="{FF2B5EF4-FFF2-40B4-BE49-F238E27FC236}">
                <a16:creationId xmlns:a16="http://schemas.microsoft.com/office/drawing/2014/main" id="{C3C9593B-9995-FBA3-94C5-FFAC19646549}"/>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6</a:t>
            </a:r>
            <a:endParaRPr dirty="0"/>
          </a:p>
        </p:txBody>
      </p:sp>
    </p:spTree>
    <p:extLst>
      <p:ext uri="{BB962C8B-B14F-4D97-AF65-F5344CB8AC3E}">
        <p14:creationId xmlns:p14="http://schemas.microsoft.com/office/powerpoint/2010/main" val="2067023824"/>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statement</a:t>
            </a:r>
            <a:endParaRPr dirty="0"/>
          </a:p>
        </p:txBody>
      </p:sp>
      <p:sp>
        <p:nvSpPr>
          <p:cNvPr id="342" name="Google Shape;342;p33"/>
          <p:cNvSpPr txBox="1">
            <a:spLocks noGrp="1"/>
          </p:cNvSpPr>
          <p:nvPr>
            <p:ph type="subTitle" idx="1"/>
          </p:nvPr>
        </p:nvSpPr>
        <p:spPr>
          <a:xfrm>
            <a:off x="719974" y="1696523"/>
            <a:ext cx="8012546" cy="561537"/>
          </a:xfrm>
          <a:prstGeom prst="rect">
            <a:avLst/>
          </a:prstGeom>
        </p:spPr>
        <p:txBody>
          <a:bodyPr spcFirstLastPara="1" wrap="square" lIns="91425" tIns="91425" rIns="91425" bIns="91425" anchor="t" anchorCtr="0">
            <a:noAutofit/>
          </a:bodyPr>
          <a:lstStyle/>
          <a:p>
            <a:pPr marL="0" lvl="0" indent="0" algn="just"/>
            <a:r>
              <a:rPr lang="en-US" sz="1200" dirty="0"/>
              <a:t>Federated Learning (FL) itself protects privacy by keeping raw patient data local. We categorize data by sensitivity and frequency, and route tasks to appropriate layers (Edge, Fog, Cloud) for secure and efficient processing.</a:t>
            </a:r>
            <a:endParaRPr sz="1200" dirty="0"/>
          </a:p>
        </p:txBody>
      </p:sp>
      <p:sp>
        <p:nvSpPr>
          <p:cNvPr id="343" name="Google Shape;343;p33"/>
          <p:cNvSpPr txBox="1">
            <a:spLocks noGrp="1"/>
          </p:cNvSpPr>
          <p:nvPr>
            <p:ph type="subTitle" idx="2"/>
          </p:nvPr>
        </p:nvSpPr>
        <p:spPr>
          <a:xfrm>
            <a:off x="719975" y="3019110"/>
            <a:ext cx="7704000" cy="527700"/>
          </a:xfrm>
          <a:prstGeom prst="rect">
            <a:avLst/>
          </a:prstGeom>
        </p:spPr>
        <p:txBody>
          <a:bodyPr spcFirstLastPara="1" wrap="square" lIns="91425" tIns="91425" rIns="91425" bIns="91425" anchor="t" anchorCtr="0">
            <a:noAutofit/>
          </a:bodyPr>
          <a:lstStyle/>
          <a:p>
            <a:pPr marL="0" lvl="0" indent="0" algn="just"/>
            <a:r>
              <a:rPr lang="en-US" sz="1200" dirty="0">
                <a:latin typeface="Mulish" panose="020B0604020202020204" charset="0"/>
              </a:rPr>
              <a:t>By offloading delay-sensitive tasks to edge/fog and less critical ones to underused or cheaper nodes, we reduce latency and cut execution cost</a:t>
            </a:r>
            <a:endParaRPr sz="1200" dirty="0">
              <a:latin typeface="Mulish" panose="020B0604020202020204" charset="0"/>
            </a:endParaRPr>
          </a:p>
        </p:txBody>
      </p:sp>
      <p:sp>
        <p:nvSpPr>
          <p:cNvPr id="344" name="Google Shape;344;p33"/>
          <p:cNvSpPr txBox="1">
            <a:spLocks noGrp="1"/>
          </p:cNvSpPr>
          <p:nvPr>
            <p:ph type="subTitle" idx="3"/>
          </p:nvPr>
        </p:nvSpPr>
        <p:spPr>
          <a:xfrm>
            <a:off x="719975" y="4251050"/>
            <a:ext cx="7704000" cy="527700"/>
          </a:xfrm>
          <a:prstGeom prst="rect">
            <a:avLst/>
          </a:prstGeom>
        </p:spPr>
        <p:txBody>
          <a:bodyPr spcFirstLastPara="1" wrap="square" lIns="91425" tIns="91425" rIns="91425" bIns="91425" anchor="t" anchorCtr="0">
            <a:noAutofit/>
          </a:bodyPr>
          <a:lstStyle/>
          <a:p>
            <a:pPr marL="0" lvl="0" indent="0" algn="just"/>
            <a:r>
              <a:rPr lang="en-US" dirty="0"/>
              <a:t>Our framework uses Kubernetes for real-time load balancing and job migration</a:t>
            </a:r>
            <a:endParaRPr dirty="0"/>
          </a:p>
        </p:txBody>
      </p:sp>
      <p:sp>
        <p:nvSpPr>
          <p:cNvPr id="345" name="Google Shape;345;p33"/>
          <p:cNvSpPr txBox="1">
            <a:spLocks noGrp="1"/>
          </p:cNvSpPr>
          <p:nvPr>
            <p:ph type="subTitle" idx="4"/>
          </p:nvPr>
        </p:nvSpPr>
        <p:spPr>
          <a:xfrm>
            <a:off x="719974" y="1115547"/>
            <a:ext cx="7921081" cy="647570"/>
          </a:xfrm>
          <a:prstGeom prst="rect">
            <a:avLst/>
          </a:prstGeom>
        </p:spPr>
        <p:txBody>
          <a:bodyPr spcFirstLastPara="1" wrap="square" lIns="91425" tIns="91425" rIns="91425" bIns="91425" anchor="ctr" anchorCtr="0">
            <a:noAutofit/>
          </a:bodyPr>
          <a:lstStyle/>
          <a:p>
            <a:pPr marL="0" lvl="0" indent="0" algn="just"/>
            <a:r>
              <a:rPr lang="en-US" sz="1800" dirty="0"/>
              <a:t>How can we offload healthcare data and tasks in FL while preserving sensitivity and security?</a:t>
            </a:r>
            <a:endParaRPr sz="1800" dirty="0"/>
          </a:p>
        </p:txBody>
      </p:sp>
      <p:sp>
        <p:nvSpPr>
          <p:cNvPr id="346" name="Google Shape;346;p33"/>
          <p:cNvSpPr txBox="1">
            <a:spLocks noGrp="1"/>
          </p:cNvSpPr>
          <p:nvPr>
            <p:ph type="subTitle" idx="5"/>
          </p:nvPr>
        </p:nvSpPr>
        <p:spPr>
          <a:xfrm>
            <a:off x="719975" y="2492387"/>
            <a:ext cx="7921080" cy="553860"/>
          </a:xfrm>
          <a:prstGeom prst="rect">
            <a:avLst/>
          </a:prstGeom>
        </p:spPr>
        <p:txBody>
          <a:bodyPr spcFirstLastPara="1" wrap="square" lIns="91425" tIns="91425" rIns="91425" bIns="91425" anchor="ctr" anchorCtr="0">
            <a:noAutofit/>
          </a:bodyPr>
          <a:lstStyle/>
          <a:p>
            <a:pPr marL="0" lvl="0" indent="0"/>
            <a:r>
              <a:rPr lang="en-US" sz="1800" dirty="0"/>
              <a:t>How can we reduce latency and communication overhead while optimizing cost?</a:t>
            </a:r>
            <a:endParaRPr sz="1800" dirty="0"/>
          </a:p>
        </p:txBody>
      </p:sp>
      <p:sp>
        <p:nvSpPr>
          <p:cNvPr id="347" name="Google Shape;347;p33"/>
          <p:cNvSpPr txBox="1">
            <a:spLocks noGrp="1"/>
          </p:cNvSpPr>
          <p:nvPr>
            <p:ph type="subTitle" idx="6"/>
          </p:nvPr>
        </p:nvSpPr>
        <p:spPr>
          <a:xfrm>
            <a:off x="719999" y="3714955"/>
            <a:ext cx="7921056" cy="631800"/>
          </a:xfrm>
          <a:prstGeom prst="rect">
            <a:avLst/>
          </a:prstGeom>
        </p:spPr>
        <p:txBody>
          <a:bodyPr spcFirstLastPara="1" wrap="square" lIns="91425" tIns="91425" rIns="91425" bIns="91425" anchor="ctr" anchorCtr="0">
            <a:noAutofit/>
          </a:bodyPr>
          <a:lstStyle/>
          <a:p>
            <a:pPr marL="0" lvl="0" indent="0"/>
            <a:r>
              <a:rPr lang="en-US" sz="1800" dirty="0"/>
              <a:t>How can we ensure scalable performance, high success ratio, and real-time efficiency?</a:t>
            </a:r>
            <a:endParaRPr sz="1800" dirty="0"/>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7</a:t>
            </a:r>
            <a:endParaRPr dirty="0"/>
          </a:p>
        </p:txBody>
      </p:sp>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1C539E97-F330-31F3-C79E-4DF6484A5362}"/>
            </a:ext>
          </a:extLst>
        </p:cNvPr>
        <p:cNvGrpSpPr/>
        <p:nvPr/>
      </p:nvGrpSpPr>
      <p:grpSpPr>
        <a:xfrm>
          <a:off x="0" y="0"/>
          <a:ext cx="0" cy="0"/>
          <a:chOff x="0" y="0"/>
          <a:chExt cx="0" cy="0"/>
        </a:xfrm>
      </p:grpSpPr>
      <p:sp>
        <p:nvSpPr>
          <p:cNvPr id="295" name="Google Shape;295;p30">
            <a:extLst>
              <a:ext uri="{FF2B5EF4-FFF2-40B4-BE49-F238E27FC236}">
                <a16:creationId xmlns:a16="http://schemas.microsoft.com/office/drawing/2014/main" id="{817AA9A5-8DDF-BD02-4CA9-C6F3C67B401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Objectives</a:t>
            </a:r>
            <a:endParaRPr dirty="0"/>
          </a:p>
        </p:txBody>
      </p:sp>
      <p:sp>
        <p:nvSpPr>
          <p:cNvPr id="296" name="Google Shape;296;p30">
            <a:extLst>
              <a:ext uri="{FF2B5EF4-FFF2-40B4-BE49-F238E27FC236}">
                <a16:creationId xmlns:a16="http://schemas.microsoft.com/office/drawing/2014/main" id="{04E20C1C-0D10-DA7D-B352-EFB2364BAF42}"/>
              </a:ext>
            </a:extLst>
          </p:cNvPr>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algn="just">
              <a:buFont typeface="Wingdings" panose="05000000000000000000" pitchFamily="2" charset="2"/>
              <a:buChar char="Ø"/>
              <a:defRPr sz="2000">
                <a:latin typeface="Calibri"/>
              </a:defRPr>
            </a:pPr>
            <a:r>
              <a:rPr lang="en-US" sz="1650" dirty="0">
                <a:latin typeface="Mulish" panose="020B0604020202020204" charset="0"/>
              </a:rPr>
              <a:t>To develop strategies for classifying and storing data based on sensitivity, delay and frequency of use.</a:t>
            </a:r>
          </a:p>
          <a:p>
            <a:pPr algn="just">
              <a:buFont typeface="Wingdings" panose="05000000000000000000" pitchFamily="2" charset="2"/>
              <a:buChar char="Ø"/>
              <a:defRPr sz="2000">
                <a:latin typeface="Calibri"/>
              </a:defRPr>
            </a:pPr>
            <a:r>
              <a:rPr lang="en-US" sz="1650" dirty="0">
                <a:latin typeface="Mulish" panose="020B0604020202020204" charset="0"/>
              </a:rPr>
              <a:t>To develop a cost-efficient Federated Learning framework integrated with edge, Fog, and Cloud nodes for secure and efficient healthcare data processing</a:t>
            </a:r>
          </a:p>
          <a:p>
            <a:pPr algn="just">
              <a:buFont typeface="Wingdings" panose="05000000000000000000" pitchFamily="2" charset="2"/>
              <a:buChar char="Ø"/>
              <a:defRPr sz="2000">
                <a:latin typeface="Calibri"/>
              </a:defRPr>
            </a:pPr>
            <a:r>
              <a:rPr lang="en-US" sz="1650" dirty="0">
                <a:latin typeface="Mulish" panose="020B0604020202020204" charset="0"/>
              </a:rPr>
              <a:t>To emphasize on data offloading while ensuring data security by keeping the most sensitive patient data on local servers.</a:t>
            </a:r>
          </a:p>
          <a:p>
            <a:pPr algn="just">
              <a:buFont typeface="Wingdings" panose="05000000000000000000" pitchFamily="2" charset="2"/>
              <a:buChar char="Ø"/>
              <a:defRPr sz="2000">
                <a:latin typeface="Calibri"/>
              </a:defRPr>
            </a:pPr>
            <a:r>
              <a:rPr lang="en-US" sz="1650" dirty="0">
                <a:latin typeface="Mulish" panose="020B0604020202020204" charset="0"/>
              </a:rPr>
              <a:t>To design a framework for node load balancing in federated learning in order to handle node overload and underutilization. </a:t>
            </a:r>
          </a:p>
          <a:p>
            <a:pPr algn="just">
              <a:buFont typeface="Wingdings" panose="05000000000000000000" pitchFamily="2" charset="2"/>
              <a:buChar char="Ø"/>
              <a:defRPr sz="2000">
                <a:latin typeface="Calibri"/>
              </a:defRPr>
            </a:pPr>
            <a:r>
              <a:rPr lang="en-US" sz="1650" dirty="0">
                <a:latin typeface="Mulish" panose="020B0604020202020204" charset="0"/>
              </a:rPr>
              <a:t>To include advanced security features like lightweight encryption, Merkle tree hash in order to protect shared model updates from attacks.</a:t>
            </a:r>
            <a:endParaRPr sz="1650" dirty="0">
              <a:latin typeface="Mulish" panose="020B0604020202020204" charset="0"/>
            </a:endParaRPr>
          </a:p>
        </p:txBody>
      </p:sp>
      <p:sp>
        <p:nvSpPr>
          <p:cNvPr id="300" name="Google Shape;300;p30">
            <a:extLst>
              <a:ext uri="{FF2B5EF4-FFF2-40B4-BE49-F238E27FC236}">
                <a16:creationId xmlns:a16="http://schemas.microsoft.com/office/drawing/2014/main" id="{E0DCDABC-7A57-0130-A031-8EF80A088539}"/>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8</a:t>
            </a:r>
            <a:endParaRPr dirty="0"/>
          </a:p>
        </p:txBody>
      </p:sp>
    </p:spTree>
    <p:extLst>
      <p:ext uri="{BB962C8B-B14F-4D97-AF65-F5344CB8AC3E}">
        <p14:creationId xmlns:p14="http://schemas.microsoft.com/office/powerpoint/2010/main" val="2845685978"/>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566" name="Google Shape;566;p47"/>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9</a:t>
            </a:r>
            <a:endParaRPr dirty="0"/>
          </a:p>
        </p:txBody>
      </p:sp>
      <p:sp>
        <p:nvSpPr>
          <p:cNvPr id="6" name="TextBox 5">
            <a:extLst>
              <a:ext uri="{FF2B5EF4-FFF2-40B4-BE49-F238E27FC236}">
                <a16:creationId xmlns:a16="http://schemas.microsoft.com/office/drawing/2014/main" id="{B5DEC161-44BD-0215-D09B-3F4FC0B677B7}"/>
              </a:ext>
            </a:extLst>
          </p:cNvPr>
          <p:cNvSpPr txBox="1"/>
          <p:nvPr/>
        </p:nvSpPr>
        <p:spPr>
          <a:xfrm>
            <a:off x="1485870" y="2157636"/>
            <a:ext cx="5242560" cy="2031325"/>
          </a:xfrm>
          <a:prstGeom prst="rect">
            <a:avLst/>
          </a:prstGeom>
          <a:noFill/>
        </p:spPr>
        <p:txBody>
          <a:bodyPr wrap="square" rtlCol="0">
            <a:spAutoFit/>
          </a:bodyPr>
          <a:lstStyle/>
          <a:p>
            <a:pPr algn="just"/>
            <a:r>
              <a:rPr lang="en-US" dirty="0">
                <a:latin typeface="Mulish" panose="020B0604020202020204" charset="0"/>
              </a:rPr>
              <a:t>The healthcare data is separated into several categories based on sensitivity, frequency of access and security requirements:</a:t>
            </a:r>
          </a:p>
          <a:p>
            <a:pPr marL="285750" indent="-285750" algn="just">
              <a:buFont typeface="Arial" panose="020B0604020202020204" pitchFamily="34" charset="0"/>
              <a:buChar char="•"/>
            </a:pPr>
            <a:r>
              <a:rPr lang="en-IN" dirty="0">
                <a:solidFill>
                  <a:schemeClr val="tx1"/>
                </a:solidFill>
                <a:latin typeface="Mulish" panose="020B0604020202020204" charset="0"/>
              </a:rPr>
              <a:t>Critical Patient-Centric Data (CPD)</a:t>
            </a:r>
          </a:p>
          <a:p>
            <a:pPr marL="285750" indent="-285750" algn="just">
              <a:buFont typeface="Arial" panose="020B0604020202020204" pitchFamily="34" charset="0"/>
              <a:buChar char="•"/>
            </a:pPr>
            <a:r>
              <a:rPr lang="en-US" dirty="0">
                <a:solidFill>
                  <a:schemeClr val="tx1"/>
                </a:solidFill>
                <a:latin typeface="Mulish" panose="020B0604020202020204" charset="0"/>
              </a:rPr>
              <a:t>Operational and Administrative Data (OAD)</a:t>
            </a:r>
          </a:p>
          <a:p>
            <a:pPr marL="285750" indent="-285750" algn="just">
              <a:buFont typeface="Arial" panose="020B0604020202020204" pitchFamily="34" charset="0"/>
              <a:buChar char="•"/>
            </a:pPr>
            <a:r>
              <a:rPr lang="en-US" dirty="0">
                <a:solidFill>
                  <a:schemeClr val="tx1"/>
                </a:solidFill>
                <a:latin typeface="Mulish" panose="020B0604020202020204" charset="0"/>
              </a:rPr>
              <a:t>Research and Public Health Data (RPD)</a:t>
            </a:r>
          </a:p>
          <a:p>
            <a:pPr marL="285750" indent="-285750" algn="just">
              <a:buFont typeface="Arial" panose="020B0604020202020204" pitchFamily="34" charset="0"/>
              <a:buChar char="•"/>
            </a:pPr>
            <a:r>
              <a:rPr lang="en-US" dirty="0">
                <a:solidFill>
                  <a:schemeClr val="tx1"/>
                </a:solidFill>
                <a:latin typeface="Mulish" panose="020B0604020202020204" charset="0"/>
              </a:rPr>
              <a:t>Educational and Reference Data (ERD)</a:t>
            </a:r>
          </a:p>
          <a:p>
            <a:pPr marL="285750" indent="-285750" algn="just">
              <a:buFont typeface="Arial" panose="020B0604020202020204" pitchFamily="34" charset="0"/>
              <a:buChar char="•"/>
            </a:pPr>
            <a:r>
              <a:rPr lang="en-US" dirty="0">
                <a:solidFill>
                  <a:schemeClr val="tx1"/>
                </a:solidFill>
                <a:latin typeface="Mulish" panose="020B0604020202020204" charset="0"/>
              </a:rPr>
              <a:t>Historical and Archived Data (HAD)</a:t>
            </a:r>
          </a:p>
          <a:p>
            <a:pPr marL="285750" indent="-285750" algn="just">
              <a:buFont typeface="Arial" panose="020B0604020202020204" pitchFamily="34" charset="0"/>
              <a:buChar char="•"/>
            </a:pPr>
            <a:r>
              <a:rPr lang="en-US" dirty="0">
                <a:solidFill>
                  <a:schemeClr val="tx1"/>
                </a:solidFill>
                <a:latin typeface="Mulish" panose="020B0604020202020204" charset="0"/>
              </a:rPr>
              <a:t>Frequently Used Operational Data (FOD)</a:t>
            </a:r>
            <a:endParaRPr lang="en-IN" dirty="0">
              <a:solidFill>
                <a:schemeClr val="tx1"/>
              </a:solidFill>
              <a:latin typeface="Mulish" panose="020B0604020202020204" charset="0"/>
            </a:endParaRPr>
          </a:p>
        </p:txBody>
      </p:sp>
      <p:sp>
        <p:nvSpPr>
          <p:cNvPr id="8" name="TextBox 7">
            <a:extLst>
              <a:ext uri="{FF2B5EF4-FFF2-40B4-BE49-F238E27FC236}">
                <a16:creationId xmlns:a16="http://schemas.microsoft.com/office/drawing/2014/main" id="{6DF5E77F-D8A4-C76D-1190-093A8D180FFC}"/>
              </a:ext>
            </a:extLst>
          </p:cNvPr>
          <p:cNvSpPr txBox="1"/>
          <p:nvPr/>
        </p:nvSpPr>
        <p:spPr>
          <a:xfrm>
            <a:off x="1485870" y="1570092"/>
            <a:ext cx="3882794"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2000" b="1" dirty="0">
                <a:solidFill>
                  <a:schemeClr val="bg2"/>
                </a:solidFill>
                <a:latin typeface="Quicksand" panose="020B0604020202020204" charset="0"/>
              </a:rPr>
              <a:t>Data Dividing and Categories:</a:t>
            </a:r>
          </a:p>
        </p:txBody>
      </p:sp>
      <p:sp>
        <p:nvSpPr>
          <p:cNvPr id="12" name="TextBox 11">
            <a:extLst>
              <a:ext uri="{FF2B5EF4-FFF2-40B4-BE49-F238E27FC236}">
                <a16:creationId xmlns:a16="http://schemas.microsoft.com/office/drawing/2014/main" id="{9A774AEE-7F51-9DCE-7216-8BB2D0995BD4}"/>
              </a:ext>
            </a:extLst>
          </p:cNvPr>
          <p:cNvSpPr txBox="1"/>
          <p:nvPr/>
        </p:nvSpPr>
        <p:spPr>
          <a:xfrm>
            <a:off x="1554450" y="1064460"/>
            <a:ext cx="542601" cy="523220"/>
          </a:xfrm>
          <a:prstGeom prst="rect">
            <a:avLst/>
          </a:prstGeom>
          <a:noFill/>
        </p:spPr>
        <p:txBody>
          <a:bodyPr wrap="square">
            <a:spAutoFit/>
          </a:bodyPr>
          <a:lstStyle/>
          <a:p>
            <a:r>
              <a:rPr lang="en" sz="2800" b="1" dirty="0">
                <a:solidFill>
                  <a:schemeClr val="bg2"/>
                </a:solidFill>
                <a:latin typeface="Quicksand" panose="020B0604020202020204" charset="0"/>
              </a:rPr>
              <a:t>01</a:t>
            </a:r>
            <a:endParaRPr lang="en-IN" sz="2800" b="1" dirty="0">
              <a:solidFill>
                <a:schemeClr val="bg2"/>
              </a:solidFill>
              <a:latin typeface="Quicksand" panose="020B0604020202020204" charset="0"/>
            </a:endParaRPr>
          </a:p>
        </p:txBody>
      </p:sp>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EE0DB678-8332-327D-05D0-0AEC4E45B85C}"/>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8CE90B28-B28C-CCFA-7A7C-F485AE42A8F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Methodology contd.</a:t>
            </a:r>
            <a:endParaRPr b="0" dirty="0"/>
          </a:p>
        </p:txBody>
      </p:sp>
      <p:sp>
        <p:nvSpPr>
          <p:cNvPr id="566" name="Google Shape;566;p47">
            <a:extLst>
              <a:ext uri="{FF2B5EF4-FFF2-40B4-BE49-F238E27FC236}">
                <a16:creationId xmlns:a16="http://schemas.microsoft.com/office/drawing/2014/main" id="{C1224A77-DA4E-FC6B-BBDD-580D05159E9D}"/>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10</a:t>
            </a:r>
            <a:endParaRPr dirty="0"/>
          </a:p>
        </p:txBody>
      </p:sp>
      <p:sp>
        <p:nvSpPr>
          <p:cNvPr id="6" name="TextBox 5">
            <a:extLst>
              <a:ext uri="{FF2B5EF4-FFF2-40B4-BE49-F238E27FC236}">
                <a16:creationId xmlns:a16="http://schemas.microsoft.com/office/drawing/2014/main" id="{D57542C7-2A4C-8283-BEEB-A3E1AE23D351}"/>
              </a:ext>
            </a:extLst>
          </p:cNvPr>
          <p:cNvSpPr txBox="1"/>
          <p:nvPr/>
        </p:nvSpPr>
        <p:spPr>
          <a:xfrm>
            <a:off x="1485870" y="2157636"/>
            <a:ext cx="5242560" cy="523220"/>
          </a:xfrm>
          <a:prstGeom prst="rect">
            <a:avLst/>
          </a:prstGeom>
          <a:noFill/>
        </p:spPr>
        <p:txBody>
          <a:bodyPr wrap="square" rtlCol="0">
            <a:spAutoFit/>
          </a:bodyPr>
          <a:lstStyle/>
          <a:p>
            <a:pPr algn="just"/>
            <a:r>
              <a:rPr lang="en-US" dirty="0">
                <a:latin typeface="Mulish" panose="020B0604020202020204" charset="0"/>
              </a:rPr>
              <a:t>Based on the data classification, each task is assigned a tag: Sensitivity (S), Size (Z), and Deadline (Δ)</a:t>
            </a:r>
          </a:p>
        </p:txBody>
      </p:sp>
      <p:sp>
        <p:nvSpPr>
          <p:cNvPr id="8" name="TextBox 7">
            <a:extLst>
              <a:ext uri="{FF2B5EF4-FFF2-40B4-BE49-F238E27FC236}">
                <a16:creationId xmlns:a16="http://schemas.microsoft.com/office/drawing/2014/main" id="{8D5136A2-F1F9-14B7-0EF7-DEB140ED35F4}"/>
              </a:ext>
            </a:extLst>
          </p:cNvPr>
          <p:cNvSpPr txBox="1"/>
          <p:nvPr/>
        </p:nvSpPr>
        <p:spPr>
          <a:xfrm>
            <a:off x="1485870" y="1570092"/>
            <a:ext cx="5995552"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b="1" dirty="0">
                <a:solidFill>
                  <a:schemeClr val="bg2"/>
                </a:solidFill>
                <a:latin typeface="Quicksand" panose="020B0604020202020204" charset="0"/>
              </a:rPr>
              <a:t>Route them to Edge, Fog, or Cloud accordingly</a:t>
            </a:r>
            <a:endParaRPr lang="en-IN" sz="2000" b="1" dirty="0">
              <a:solidFill>
                <a:schemeClr val="bg2"/>
              </a:solidFill>
              <a:latin typeface="Quicksand" panose="020B0604020202020204" charset="0"/>
            </a:endParaRPr>
          </a:p>
        </p:txBody>
      </p:sp>
      <p:sp>
        <p:nvSpPr>
          <p:cNvPr id="12" name="TextBox 11">
            <a:extLst>
              <a:ext uri="{FF2B5EF4-FFF2-40B4-BE49-F238E27FC236}">
                <a16:creationId xmlns:a16="http://schemas.microsoft.com/office/drawing/2014/main" id="{25FB198A-9E2B-FE87-24EB-A96F9A55C4FE}"/>
              </a:ext>
            </a:extLst>
          </p:cNvPr>
          <p:cNvSpPr txBox="1"/>
          <p:nvPr/>
        </p:nvSpPr>
        <p:spPr>
          <a:xfrm>
            <a:off x="1554450" y="1064461"/>
            <a:ext cx="640110" cy="523220"/>
          </a:xfrm>
          <a:prstGeom prst="rect">
            <a:avLst/>
          </a:prstGeom>
          <a:noFill/>
        </p:spPr>
        <p:txBody>
          <a:bodyPr wrap="square">
            <a:spAutoFit/>
          </a:bodyPr>
          <a:lstStyle/>
          <a:p>
            <a:r>
              <a:rPr lang="en" sz="2800" b="1" dirty="0">
                <a:solidFill>
                  <a:schemeClr val="bg2"/>
                </a:solidFill>
                <a:latin typeface="Quicksand" panose="020B0604020202020204" charset="0"/>
              </a:rPr>
              <a:t>02</a:t>
            </a:r>
            <a:endParaRPr lang="en-IN" sz="2800" b="1" dirty="0">
              <a:solidFill>
                <a:schemeClr val="bg2"/>
              </a:solidFill>
              <a:latin typeface="Quicksand" panose="020B0604020202020204" charset="0"/>
            </a:endParaRPr>
          </a:p>
        </p:txBody>
      </p:sp>
      <p:sp>
        <p:nvSpPr>
          <p:cNvPr id="2" name="TextBox 1">
            <a:extLst>
              <a:ext uri="{FF2B5EF4-FFF2-40B4-BE49-F238E27FC236}">
                <a16:creationId xmlns:a16="http://schemas.microsoft.com/office/drawing/2014/main" id="{F1E3809A-10EA-7D63-2B72-F575875F79CE}"/>
              </a:ext>
            </a:extLst>
          </p:cNvPr>
          <p:cNvSpPr txBox="1"/>
          <p:nvPr/>
        </p:nvSpPr>
        <p:spPr>
          <a:xfrm>
            <a:off x="1874505" y="2714401"/>
            <a:ext cx="5117106" cy="307777"/>
          </a:xfrm>
          <a:prstGeom prst="rect">
            <a:avLst/>
          </a:prstGeom>
          <a:noFill/>
        </p:spPr>
        <p:txBody>
          <a:bodyPr wrap="none" rtlCol="0">
            <a:spAutoFit/>
          </a:bodyPr>
          <a:lstStyle/>
          <a:p>
            <a:pPr marL="285750" indent="-285750">
              <a:buFont typeface="Wingdings" panose="05000000000000000000" pitchFamily="2" charset="2"/>
              <a:buChar char="Ø"/>
            </a:pPr>
            <a:r>
              <a:rPr lang="en-US" b="1" dirty="0">
                <a:solidFill>
                  <a:schemeClr val="tx1"/>
                </a:solidFill>
              </a:rPr>
              <a:t>Edge → time-sensitive &amp; high-privacy data (CPD, FOD)</a:t>
            </a:r>
            <a:endParaRPr lang="en-IN" dirty="0">
              <a:solidFill>
                <a:schemeClr val="tx1"/>
              </a:solidFill>
            </a:endParaRPr>
          </a:p>
        </p:txBody>
      </p:sp>
      <p:sp>
        <p:nvSpPr>
          <p:cNvPr id="9" name="TextBox 8">
            <a:extLst>
              <a:ext uri="{FF2B5EF4-FFF2-40B4-BE49-F238E27FC236}">
                <a16:creationId xmlns:a16="http://schemas.microsoft.com/office/drawing/2014/main" id="{4F19C12B-D27B-C62E-79B5-8136DDA23CBA}"/>
              </a:ext>
            </a:extLst>
          </p:cNvPr>
          <p:cNvSpPr txBox="1"/>
          <p:nvPr/>
        </p:nvSpPr>
        <p:spPr>
          <a:xfrm>
            <a:off x="1874505" y="3163445"/>
            <a:ext cx="4572000" cy="307777"/>
          </a:xfrm>
          <a:prstGeom prst="rect">
            <a:avLst/>
          </a:prstGeom>
          <a:noFill/>
        </p:spPr>
        <p:txBody>
          <a:bodyPr wrap="square">
            <a:spAutoFit/>
          </a:bodyPr>
          <a:lstStyle/>
          <a:p>
            <a:pPr marL="285750" indent="-285750">
              <a:buFont typeface="Wingdings" panose="05000000000000000000" pitchFamily="2" charset="2"/>
              <a:buChar char="Ø"/>
            </a:pPr>
            <a:r>
              <a:rPr lang="en-US" b="1" dirty="0">
                <a:solidFill>
                  <a:schemeClr val="tx1"/>
                </a:solidFill>
              </a:rPr>
              <a:t>Fog → intermediate tasks (OAD, FOD)</a:t>
            </a:r>
            <a:endParaRPr lang="en-IN" dirty="0">
              <a:solidFill>
                <a:schemeClr val="tx1"/>
              </a:solidFill>
            </a:endParaRPr>
          </a:p>
        </p:txBody>
      </p:sp>
      <p:sp>
        <p:nvSpPr>
          <p:cNvPr id="11" name="TextBox 10">
            <a:extLst>
              <a:ext uri="{FF2B5EF4-FFF2-40B4-BE49-F238E27FC236}">
                <a16:creationId xmlns:a16="http://schemas.microsoft.com/office/drawing/2014/main" id="{46F1FC56-A9DA-5013-95E1-B7B98999C755}"/>
              </a:ext>
            </a:extLst>
          </p:cNvPr>
          <p:cNvSpPr txBox="1"/>
          <p:nvPr/>
        </p:nvSpPr>
        <p:spPr>
          <a:xfrm>
            <a:off x="1821150" y="3612489"/>
            <a:ext cx="4572000" cy="523220"/>
          </a:xfrm>
          <a:prstGeom prst="rect">
            <a:avLst/>
          </a:prstGeom>
          <a:noFill/>
        </p:spPr>
        <p:txBody>
          <a:bodyPr wrap="square">
            <a:spAutoFit/>
          </a:bodyPr>
          <a:lstStyle/>
          <a:p>
            <a:pPr marL="285750" indent="-285750">
              <a:buFont typeface="Wingdings" panose="05000000000000000000" pitchFamily="2" charset="2"/>
              <a:buChar char="Ø"/>
            </a:pPr>
            <a:r>
              <a:rPr lang="en-US" b="1" dirty="0">
                <a:solidFill>
                  <a:schemeClr val="tx1"/>
                </a:solidFill>
              </a:rPr>
              <a:t>Cloud → delay-tolerant, large or anonymized tasks (RPD, ERD, HAD</a:t>
            </a:r>
            <a:endParaRPr lang="en-IN" dirty="0">
              <a:solidFill>
                <a:schemeClr val="tx1"/>
              </a:solidFill>
            </a:endParaRPr>
          </a:p>
        </p:txBody>
      </p:sp>
    </p:spTree>
    <p:extLst>
      <p:ext uri="{BB962C8B-B14F-4D97-AF65-F5344CB8AC3E}">
        <p14:creationId xmlns:p14="http://schemas.microsoft.com/office/powerpoint/2010/main" val="4106788162"/>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043DD0C0-D5A4-4E77-4759-94EDEEBB0844}"/>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6750A669-8F44-271D-A36A-792C2B44368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Methodology contd.</a:t>
            </a:r>
            <a:endParaRPr b="0" dirty="0"/>
          </a:p>
        </p:txBody>
      </p:sp>
      <p:sp>
        <p:nvSpPr>
          <p:cNvPr id="566" name="Google Shape;566;p47">
            <a:extLst>
              <a:ext uri="{FF2B5EF4-FFF2-40B4-BE49-F238E27FC236}">
                <a16:creationId xmlns:a16="http://schemas.microsoft.com/office/drawing/2014/main" id="{F1DE37FE-FA14-6967-70A1-3B22D47BF8ED}"/>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11</a:t>
            </a:r>
            <a:endParaRPr dirty="0"/>
          </a:p>
        </p:txBody>
      </p:sp>
      <p:sp>
        <p:nvSpPr>
          <p:cNvPr id="6" name="TextBox 5">
            <a:extLst>
              <a:ext uri="{FF2B5EF4-FFF2-40B4-BE49-F238E27FC236}">
                <a16:creationId xmlns:a16="http://schemas.microsoft.com/office/drawing/2014/main" id="{25356BAA-D994-91BA-7925-2560DBE6D89E}"/>
              </a:ext>
            </a:extLst>
          </p:cNvPr>
          <p:cNvSpPr txBox="1"/>
          <p:nvPr/>
        </p:nvSpPr>
        <p:spPr>
          <a:xfrm>
            <a:off x="1485870" y="2157636"/>
            <a:ext cx="5242560" cy="1600438"/>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Mulish" panose="020B0604020202020204" charset="0"/>
              </a:rPr>
              <a:t>Once routed, tasks are packaged into Docker containers</a:t>
            </a:r>
          </a:p>
          <a:p>
            <a:pPr marL="342900" indent="-342900" algn="just">
              <a:buFont typeface="Arial" panose="020B0604020202020204" pitchFamily="34" charset="0"/>
              <a:buChar char="•"/>
            </a:pPr>
            <a:r>
              <a:rPr lang="en-US" dirty="0">
                <a:latin typeface="Mulish" panose="020B0604020202020204" charset="0"/>
              </a:rPr>
              <a:t>Containers are deployed using Kubernetes across the 9-node testbed.</a:t>
            </a:r>
          </a:p>
          <a:p>
            <a:pPr marL="342900" lvl="4" indent="-342900" algn="just">
              <a:buFont typeface="Wingdings" panose="05000000000000000000" pitchFamily="2" charset="2"/>
              <a:buChar char="Ø"/>
            </a:pPr>
            <a:r>
              <a:rPr lang="en-IN" dirty="0"/>
              <a:t>                          4 Edge nodes, 4 Fog nodes, 1 Cloud node</a:t>
            </a:r>
            <a:endParaRPr lang="en-US" dirty="0">
              <a:latin typeface="Mulish" panose="020B0604020202020204" charset="0"/>
            </a:endParaRPr>
          </a:p>
          <a:p>
            <a:pPr marL="342900" indent="-342900" algn="just">
              <a:buFont typeface="Arial" panose="020B0604020202020204" pitchFamily="34" charset="0"/>
              <a:buChar char="•"/>
            </a:pPr>
            <a:r>
              <a:rPr lang="en-US" dirty="0">
                <a:latin typeface="Mulish" panose="020B0604020202020204" charset="0"/>
              </a:rPr>
              <a:t>This ensures isolated, manageable execution of healthcare jobs</a:t>
            </a:r>
            <a:br>
              <a:rPr lang="en-US" dirty="0">
                <a:latin typeface="Mulish" panose="020B0604020202020204" charset="0"/>
              </a:rPr>
            </a:br>
            <a:endParaRPr lang="en-US" dirty="0">
              <a:latin typeface="Mulish" panose="020B0604020202020204" charset="0"/>
            </a:endParaRPr>
          </a:p>
        </p:txBody>
      </p:sp>
      <p:sp>
        <p:nvSpPr>
          <p:cNvPr id="8" name="TextBox 7">
            <a:extLst>
              <a:ext uri="{FF2B5EF4-FFF2-40B4-BE49-F238E27FC236}">
                <a16:creationId xmlns:a16="http://schemas.microsoft.com/office/drawing/2014/main" id="{51154A3F-AFCC-1C9C-F0B0-F7FDDEF51C09}"/>
              </a:ext>
            </a:extLst>
          </p:cNvPr>
          <p:cNvSpPr txBox="1"/>
          <p:nvPr/>
        </p:nvSpPr>
        <p:spPr>
          <a:xfrm>
            <a:off x="1485870" y="1570092"/>
            <a:ext cx="3573414"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b="1" dirty="0">
                <a:solidFill>
                  <a:schemeClr val="bg2"/>
                </a:solidFill>
                <a:latin typeface="Quicksand" panose="020B0604020202020204" charset="0"/>
              </a:rPr>
              <a:t>Job Offloading &amp; Execution</a:t>
            </a:r>
            <a:endParaRPr lang="en-IN" sz="2000" b="1" dirty="0">
              <a:solidFill>
                <a:schemeClr val="bg2"/>
              </a:solidFill>
              <a:latin typeface="Quicksand" panose="020B0604020202020204" charset="0"/>
            </a:endParaRPr>
          </a:p>
        </p:txBody>
      </p:sp>
      <p:sp>
        <p:nvSpPr>
          <p:cNvPr id="12" name="TextBox 11">
            <a:extLst>
              <a:ext uri="{FF2B5EF4-FFF2-40B4-BE49-F238E27FC236}">
                <a16:creationId xmlns:a16="http://schemas.microsoft.com/office/drawing/2014/main" id="{53E2A2BA-B399-68D0-0937-254F72E95B87}"/>
              </a:ext>
            </a:extLst>
          </p:cNvPr>
          <p:cNvSpPr txBox="1"/>
          <p:nvPr/>
        </p:nvSpPr>
        <p:spPr>
          <a:xfrm>
            <a:off x="1554450" y="1064461"/>
            <a:ext cx="640110" cy="523220"/>
          </a:xfrm>
          <a:prstGeom prst="rect">
            <a:avLst/>
          </a:prstGeom>
          <a:noFill/>
        </p:spPr>
        <p:txBody>
          <a:bodyPr wrap="square">
            <a:spAutoFit/>
          </a:bodyPr>
          <a:lstStyle/>
          <a:p>
            <a:r>
              <a:rPr lang="en" sz="2800" b="1" dirty="0">
                <a:solidFill>
                  <a:schemeClr val="bg2"/>
                </a:solidFill>
                <a:latin typeface="Quicksand" panose="020B0604020202020204" charset="0"/>
              </a:rPr>
              <a:t>03</a:t>
            </a:r>
            <a:endParaRPr lang="en-IN" sz="2800" b="1" dirty="0">
              <a:solidFill>
                <a:schemeClr val="bg2"/>
              </a:solidFill>
              <a:latin typeface="Quicksand" panose="020B0604020202020204" charset="0"/>
            </a:endParaRPr>
          </a:p>
        </p:txBody>
      </p:sp>
    </p:spTree>
    <p:extLst>
      <p:ext uri="{BB962C8B-B14F-4D97-AF65-F5344CB8AC3E}">
        <p14:creationId xmlns:p14="http://schemas.microsoft.com/office/powerpoint/2010/main" val="87670010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C916E078-3E50-8810-ED10-5A7DA3D6E9B1}"/>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F5338ECB-4937-B86D-495A-79A5A7CEB6B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Methodology contd.</a:t>
            </a:r>
            <a:endParaRPr b="0" dirty="0"/>
          </a:p>
        </p:txBody>
      </p:sp>
      <p:sp>
        <p:nvSpPr>
          <p:cNvPr id="566" name="Google Shape;566;p47">
            <a:extLst>
              <a:ext uri="{FF2B5EF4-FFF2-40B4-BE49-F238E27FC236}">
                <a16:creationId xmlns:a16="http://schemas.microsoft.com/office/drawing/2014/main" id="{29B68DC3-2E19-C887-2911-461FBA0E268B}"/>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12</a:t>
            </a:r>
            <a:endParaRPr dirty="0"/>
          </a:p>
        </p:txBody>
      </p:sp>
      <p:sp>
        <p:nvSpPr>
          <p:cNvPr id="6" name="TextBox 5">
            <a:extLst>
              <a:ext uri="{FF2B5EF4-FFF2-40B4-BE49-F238E27FC236}">
                <a16:creationId xmlns:a16="http://schemas.microsoft.com/office/drawing/2014/main" id="{3FCD1F97-62B7-EB81-C345-D3F441334C0A}"/>
              </a:ext>
            </a:extLst>
          </p:cNvPr>
          <p:cNvSpPr txBox="1"/>
          <p:nvPr/>
        </p:nvSpPr>
        <p:spPr>
          <a:xfrm>
            <a:off x="1485870" y="2157636"/>
            <a:ext cx="5242560" cy="1169551"/>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Mulish" panose="020B0604020202020204" charset="0"/>
              </a:rPr>
              <a:t>Kubernetes continuously monitors node load and status</a:t>
            </a:r>
          </a:p>
          <a:p>
            <a:pPr marL="342900" indent="-342900" algn="just">
              <a:buFont typeface="Arial" panose="020B0604020202020204" pitchFamily="34" charset="0"/>
              <a:buChar char="•"/>
            </a:pPr>
            <a:r>
              <a:rPr lang="en-US" dirty="0">
                <a:latin typeface="Mulish" panose="020B0604020202020204" charset="0"/>
              </a:rPr>
              <a:t>If any node is overloaded or idle, Kubernetes migrates containers automatically</a:t>
            </a:r>
          </a:p>
          <a:p>
            <a:pPr marL="342900" indent="-342900" algn="just">
              <a:buFont typeface="Arial" panose="020B0604020202020204" pitchFamily="34" charset="0"/>
              <a:buChar char="•"/>
            </a:pPr>
            <a:r>
              <a:rPr lang="en-US" dirty="0">
                <a:latin typeface="Mulish" panose="020B0604020202020204" charset="0"/>
              </a:rPr>
              <a:t>Ensures efficient use of resources and prevents bottlenecks</a:t>
            </a:r>
          </a:p>
        </p:txBody>
      </p:sp>
      <p:sp>
        <p:nvSpPr>
          <p:cNvPr id="8" name="TextBox 7">
            <a:extLst>
              <a:ext uri="{FF2B5EF4-FFF2-40B4-BE49-F238E27FC236}">
                <a16:creationId xmlns:a16="http://schemas.microsoft.com/office/drawing/2014/main" id="{4CFE674F-4CB2-12C8-A3EF-213906D91D9D}"/>
              </a:ext>
            </a:extLst>
          </p:cNvPr>
          <p:cNvSpPr txBox="1"/>
          <p:nvPr/>
        </p:nvSpPr>
        <p:spPr>
          <a:xfrm>
            <a:off x="1485870" y="1570092"/>
            <a:ext cx="4253087"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b="1" dirty="0">
                <a:solidFill>
                  <a:schemeClr val="bg2"/>
                </a:solidFill>
                <a:latin typeface="Quicksand" panose="020B0604020202020204" charset="0"/>
              </a:rPr>
              <a:t> Load Balancing with Kubernetes</a:t>
            </a:r>
            <a:endParaRPr lang="en-IN" sz="2000" b="1" dirty="0">
              <a:solidFill>
                <a:schemeClr val="bg2"/>
              </a:solidFill>
              <a:latin typeface="Quicksand" panose="020B0604020202020204" charset="0"/>
            </a:endParaRPr>
          </a:p>
        </p:txBody>
      </p:sp>
      <p:sp>
        <p:nvSpPr>
          <p:cNvPr id="12" name="TextBox 11">
            <a:extLst>
              <a:ext uri="{FF2B5EF4-FFF2-40B4-BE49-F238E27FC236}">
                <a16:creationId xmlns:a16="http://schemas.microsoft.com/office/drawing/2014/main" id="{EBBCEAE8-4423-A9A2-B0C3-12920315DFCA}"/>
              </a:ext>
            </a:extLst>
          </p:cNvPr>
          <p:cNvSpPr txBox="1"/>
          <p:nvPr/>
        </p:nvSpPr>
        <p:spPr>
          <a:xfrm>
            <a:off x="1554450" y="1064461"/>
            <a:ext cx="640110" cy="523220"/>
          </a:xfrm>
          <a:prstGeom prst="rect">
            <a:avLst/>
          </a:prstGeom>
          <a:noFill/>
        </p:spPr>
        <p:txBody>
          <a:bodyPr wrap="square">
            <a:spAutoFit/>
          </a:bodyPr>
          <a:lstStyle/>
          <a:p>
            <a:r>
              <a:rPr lang="en" sz="2800" b="1" dirty="0">
                <a:solidFill>
                  <a:schemeClr val="bg2"/>
                </a:solidFill>
                <a:latin typeface="Quicksand" panose="020B0604020202020204" charset="0"/>
              </a:rPr>
              <a:t>04</a:t>
            </a:r>
            <a:endParaRPr lang="en-IN" sz="2800" b="1" dirty="0">
              <a:solidFill>
                <a:schemeClr val="bg2"/>
              </a:solidFill>
              <a:latin typeface="Quicksand" panose="020B0604020202020204" charset="0"/>
            </a:endParaRPr>
          </a:p>
        </p:txBody>
      </p:sp>
    </p:spTree>
    <p:extLst>
      <p:ext uri="{BB962C8B-B14F-4D97-AF65-F5344CB8AC3E}">
        <p14:creationId xmlns:p14="http://schemas.microsoft.com/office/powerpoint/2010/main" val="3119334132"/>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5F38E7D8-F8AA-2178-6B24-7D1C9F19FF7E}"/>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E4D74BD6-A618-FE7B-B59E-38CFEE44AA4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Methodology contd.</a:t>
            </a:r>
            <a:endParaRPr b="0" dirty="0"/>
          </a:p>
        </p:txBody>
      </p:sp>
      <p:sp>
        <p:nvSpPr>
          <p:cNvPr id="566" name="Google Shape;566;p47">
            <a:extLst>
              <a:ext uri="{FF2B5EF4-FFF2-40B4-BE49-F238E27FC236}">
                <a16:creationId xmlns:a16="http://schemas.microsoft.com/office/drawing/2014/main" id="{BA48040B-6B30-5159-F47C-B68C62CB13D1}"/>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13</a:t>
            </a:r>
            <a:endParaRPr dirty="0"/>
          </a:p>
        </p:txBody>
      </p:sp>
      <p:sp>
        <p:nvSpPr>
          <p:cNvPr id="6" name="TextBox 5">
            <a:extLst>
              <a:ext uri="{FF2B5EF4-FFF2-40B4-BE49-F238E27FC236}">
                <a16:creationId xmlns:a16="http://schemas.microsoft.com/office/drawing/2014/main" id="{FFA9C32B-C123-93EA-F95A-CD7030CF6AA9}"/>
              </a:ext>
            </a:extLst>
          </p:cNvPr>
          <p:cNvSpPr txBox="1"/>
          <p:nvPr/>
        </p:nvSpPr>
        <p:spPr>
          <a:xfrm>
            <a:off x="1485870" y="2157636"/>
            <a:ext cx="5242560" cy="1384995"/>
          </a:xfrm>
          <a:prstGeom prst="rect">
            <a:avLst/>
          </a:prstGeom>
          <a:noFill/>
        </p:spPr>
        <p:txBody>
          <a:bodyPr wrap="square" rtlCol="0">
            <a:spAutoFit/>
          </a:bodyPr>
          <a:lstStyle/>
          <a:p>
            <a:pPr algn="just"/>
            <a:r>
              <a:rPr lang="en-US" dirty="0">
                <a:latin typeface="Mulish" panose="020B0604020202020204" charset="0"/>
              </a:rPr>
              <a:t>The framework is compared with 3 baselines</a:t>
            </a:r>
          </a:p>
          <a:p>
            <a:pPr marL="342900" indent="-342900" algn="just">
              <a:buFont typeface="Arial" panose="020B0604020202020204" pitchFamily="34" charset="0"/>
              <a:buChar char="•"/>
            </a:pPr>
            <a:r>
              <a:rPr lang="en-IN" dirty="0">
                <a:latin typeface="Mulish" panose="020B0604020202020204" charset="0"/>
              </a:rPr>
              <a:t>RNS (Random Node Selector)</a:t>
            </a:r>
          </a:p>
          <a:p>
            <a:pPr marL="342900" indent="-342900" algn="just">
              <a:buFont typeface="Arial" panose="020B0604020202020204" pitchFamily="34" charset="0"/>
              <a:buChar char="•"/>
            </a:pPr>
            <a:r>
              <a:rPr lang="en-IN" dirty="0">
                <a:latin typeface="Mulish" panose="020B0604020202020204" charset="0"/>
              </a:rPr>
              <a:t>EHM (Edge-Heavy Method)</a:t>
            </a:r>
          </a:p>
          <a:p>
            <a:pPr marL="342900" indent="-342900" algn="just">
              <a:buFont typeface="Arial" panose="020B0604020202020204" pitchFamily="34" charset="0"/>
              <a:buChar char="•"/>
            </a:pPr>
            <a:r>
              <a:rPr lang="en-IN" dirty="0">
                <a:latin typeface="Mulish" panose="020B0604020202020204" charset="0"/>
              </a:rPr>
              <a:t>ELBO (Energy-Latency Balanced Offloading</a:t>
            </a:r>
          </a:p>
          <a:p>
            <a:pPr algn="just"/>
            <a:r>
              <a:rPr lang="en-US" dirty="0">
                <a:latin typeface="Mulish" panose="020B0604020202020204" charset="0"/>
              </a:rPr>
              <a:t>Metrics compared: Execution time, Cost, Success ratio, Throughput</a:t>
            </a:r>
          </a:p>
        </p:txBody>
      </p:sp>
      <p:sp>
        <p:nvSpPr>
          <p:cNvPr id="8" name="TextBox 7">
            <a:extLst>
              <a:ext uri="{FF2B5EF4-FFF2-40B4-BE49-F238E27FC236}">
                <a16:creationId xmlns:a16="http://schemas.microsoft.com/office/drawing/2014/main" id="{4030A969-AA2D-B3D4-E5D2-D2E1067167D1}"/>
              </a:ext>
            </a:extLst>
          </p:cNvPr>
          <p:cNvSpPr txBox="1"/>
          <p:nvPr/>
        </p:nvSpPr>
        <p:spPr>
          <a:xfrm>
            <a:off x="1485870" y="1570092"/>
            <a:ext cx="3119765"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2000" b="1" dirty="0">
                <a:solidFill>
                  <a:schemeClr val="bg2"/>
                </a:solidFill>
              </a:rPr>
              <a:t>Performance Evaluation</a:t>
            </a:r>
            <a:endParaRPr lang="en-IN" sz="2000" b="1" dirty="0">
              <a:solidFill>
                <a:schemeClr val="bg2"/>
              </a:solidFill>
              <a:latin typeface="Quicksand" panose="020B0604020202020204" charset="0"/>
            </a:endParaRPr>
          </a:p>
        </p:txBody>
      </p:sp>
      <p:sp>
        <p:nvSpPr>
          <p:cNvPr id="12" name="TextBox 11">
            <a:extLst>
              <a:ext uri="{FF2B5EF4-FFF2-40B4-BE49-F238E27FC236}">
                <a16:creationId xmlns:a16="http://schemas.microsoft.com/office/drawing/2014/main" id="{928E63E6-B954-F3D8-EE32-B873B3028781}"/>
              </a:ext>
            </a:extLst>
          </p:cNvPr>
          <p:cNvSpPr txBox="1"/>
          <p:nvPr/>
        </p:nvSpPr>
        <p:spPr>
          <a:xfrm>
            <a:off x="1554450" y="1064461"/>
            <a:ext cx="640110" cy="523220"/>
          </a:xfrm>
          <a:prstGeom prst="rect">
            <a:avLst/>
          </a:prstGeom>
          <a:noFill/>
        </p:spPr>
        <p:txBody>
          <a:bodyPr wrap="square">
            <a:spAutoFit/>
          </a:bodyPr>
          <a:lstStyle/>
          <a:p>
            <a:r>
              <a:rPr lang="en" sz="2800" b="1" dirty="0">
                <a:solidFill>
                  <a:schemeClr val="bg2"/>
                </a:solidFill>
                <a:latin typeface="Quicksand" panose="020B0604020202020204" charset="0"/>
              </a:rPr>
              <a:t>05</a:t>
            </a:r>
            <a:endParaRPr lang="en-IN" sz="2800" b="1" dirty="0">
              <a:solidFill>
                <a:schemeClr val="bg2"/>
              </a:solidFill>
              <a:latin typeface="Quicksand" panose="020B0604020202020204" charset="0"/>
            </a:endParaRPr>
          </a:p>
        </p:txBody>
      </p:sp>
    </p:spTree>
    <p:extLst>
      <p:ext uri="{BB962C8B-B14F-4D97-AF65-F5344CB8AC3E}">
        <p14:creationId xmlns:p14="http://schemas.microsoft.com/office/powerpoint/2010/main" val="1971210713"/>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F14DB771-922F-0CDA-FD04-8B88BB5922E2}"/>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4E4AC218-4C9E-C68A-DF08-6828DC12583B}"/>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14</a:t>
            </a:r>
          </a:p>
        </p:txBody>
      </p:sp>
      <p:sp>
        <p:nvSpPr>
          <p:cNvPr id="548" name="Google Shape;548;p47">
            <a:extLst>
              <a:ext uri="{FF2B5EF4-FFF2-40B4-BE49-F238E27FC236}">
                <a16:creationId xmlns:a16="http://schemas.microsoft.com/office/drawing/2014/main" id="{7DDE2409-B1EE-72BB-5836-AE7F3DDCE020}"/>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lvl="0">
              <a:lnSpc>
                <a:spcPct val="90000"/>
              </a:lnSpc>
            </a:pPr>
            <a:r>
              <a:rPr lang="en-IN" sz="2800"/>
              <a:t>Proposed Framework</a:t>
            </a:r>
          </a:p>
        </p:txBody>
      </p:sp>
      <p:sp>
        <p:nvSpPr>
          <p:cNvPr id="3" name="TextBox 2">
            <a:extLst>
              <a:ext uri="{FF2B5EF4-FFF2-40B4-BE49-F238E27FC236}">
                <a16:creationId xmlns:a16="http://schemas.microsoft.com/office/drawing/2014/main" id="{25D41FE4-3EF2-872A-FC53-4AC330ED2ADF}"/>
              </a:ext>
            </a:extLst>
          </p:cNvPr>
          <p:cNvSpPr txBox="1"/>
          <p:nvPr/>
        </p:nvSpPr>
        <p:spPr>
          <a:xfrm>
            <a:off x="713225" y="2163265"/>
            <a:ext cx="3668250" cy="1910895"/>
          </a:xfrm>
          <a:prstGeom prst="rect">
            <a:avLst/>
          </a:prstGeom>
          <a:noFill/>
          <a:ln>
            <a:noFill/>
          </a:ln>
        </p:spPr>
        <p:txBody>
          <a:bodyPr anchor="t">
            <a:normAutofit/>
          </a:bodyPr>
          <a:lstStyle/>
          <a:p>
            <a:pPr algn="just">
              <a:spcAft>
                <a:spcPts val="600"/>
              </a:spcAft>
            </a:pPr>
            <a:r>
              <a:rPr lang="en-US" b="0" i="0" u="none" strike="noStrike" cap="none" dirty="0">
                <a:solidFill>
                  <a:schemeClr val="dk1"/>
                </a:solidFill>
                <a:latin typeface="Mulish" panose="020B0604020202020204" charset="0"/>
              </a:rPr>
              <a:t>The proposed FL framework in healthcare securely manages sensitive data and smartly routes tasks across Edge, Fog, and Cloud layers based on data sensitivity, task size, and delay tolerance, as illustrated below.</a:t>
            </a:r>
          </a:p>
        </p:txBody>
      </p:sp>
      <p:pic>
        <p:nvPicPr>
          <p:cNvPr id="5" name="Picture 4" descr="A diagram of a computer program&#10;&#10;AI-generated content may be incorrect.">
            <a:extLst>
              <a:ext uri="{FF2B5EF4-FFF2-40B4-BE49-F238E27FC236}">
                <a16:creationId xmlns:a16="http://schemas.microsoft.com/office/drawing/2014/main" id="{FF04BAAE-FBF4-2A77-4B32-CC3238E88DE5}"/>
              </a:ext>
            </a:extLst>
          </p:cNvPr>
          <p:cNvPicPr>
            <a:picLocks noChangeAspect="1"/>
          </p:cNvPicPr>
          <p:nvPr/>
        </p:nvPicPr>
        <p:blipFill>
          <a:blip r:embed="rId3"/>
          <a:srcRect t="-564" r="4" b="-550"/>
          <a:stretch>
            <a:fillRect/>
          </a:stretch>
        </p:blipFill>
        <p:spPr>
          <a:xfrm>
            <a:off x="4762475" y="822960"/>
            <a:ext cx="3668250" cy="3505199"/>
          </a:xfrm>
          <a:prstGeom prst="rect">
            <a:avLst/>
          </a:prstGeom>
          <a:noFill/>
          <a:ln>
            <a:noFill/>
          </a:ln>
        </p:spPr>
      </p:pic>
      <p:sp>
        <p:nvSpPr>
          <p:cNvPr id="7" name="TextBox 6">
            <a:extLst>
              <a:ext uri="{FF2B5EF4-FFF2-40B4-BE49-F238E27FC236}">
                <a16:creationId xmlns:a16="http://schemas.microsoft.com/office/drawing/2014/main" id="{F6E6656D-EEC0-2AD9-28B9-B84E398AD7EF}"/>
              </a:ext>
            </a:extLst>
          </p:cNvPr>
          <p:cNvSpPr txBox="1"/>
          <p:nvPr/>
        </p:nvSpPr>
        <p:spPr>
          <a:xfrm>
            <a:off x="713225" y="1390440"/>
            <a:ext cx="3273653"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2000" b="1" dirty="0">
                <a:solidFill>
                  <a:schemeClr val="bg2"/>
                </a:solidFill>
                <a:latin typeface="Quicksand" panose="020B0604020202020204" charset="0"/>
              </a:rPr>
              <a:t>Dynamic Node Selection </a:t>
            </a:r>
          </a:p>
        </p:txBody>
      </p:sp>
      <p:sp>
        <p:nvSpPr>
          <p:cNvPr id="10" name="TextBox 9">
            <a:extLst>
              <a:ext uri="{FF2B5EF4-FFF2-40B4-BE49-F238E27FC236}">
                <a16:creationId xmlns:a16="http://schemas.microsoft.com/office/drawing/2014/main" id="{F1613529-5CE5-91DB-855E-24B6790767FC}"/>
              </a:ext>
            </a:extLst>
          </p:cNvPr>
          <p:cNvSpPr txBox="1"/>
          <p:nvPr/>
        </p:nvSpPr>
        <p:spPr>
          <a:xfrm>
            <a:off x="4762475" y="4387696"/>
            <a:ext cx="3802405" cy="338554"/>
          </a:xfrm>
          <a:prstGeom prst="rect">
            <a:avLst/>
          </a:prstGeom>
          <a:noFill/>
        </p:spPr>
        <p:txBody>
          <a:bodyPr wrap="square">
            <a:spAutoFit/>
          </a:bodyPr>
          <a:lstStyle/>
          <a:p>
            <a:pPr algn="ctr"/>
            <a:r>
              <a:rPr lang="en-IN" sz="800" dirty="0">
                <a:latin typeface="Mulish" panose="020B0604020202020204" charset="0"/>
              </a:rPr>
              <a:t>Dynamic Node Selection Based on Sensitivity, Delay Tolerance, and Task Size</a:t>
            </a:r>
          </a:p>
        </p:txBody>
      </p:sp>
    </p:spTree>
    <p:extLst>
      <p:ext uri="{BB962C8B-B14F-4D97-AF65-F5344CB8AC3E}">
        <p14:creationId xmlns:p14="http://schemas.microsoft.com/office/powerpoint/2010/main" val="245787351"/>
      </p:ext>
    </p:extLst>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48D6205F-CE56-16C0-C60F-C3A680FD44DD}"/>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5EEED068-FBE4-B086-D956-1F2A8CCE68A9}"/>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15</a:t>
            </a:r>
          </a:p>
        </p:txBody>
      </p:sp>
      <p:sp>
        <p:nvSpPr>
          <p:cNvPr id="548" name="Google Shape;548;p47">
            <a:extLst>
              <a:ext uri="{FF2B5EF4-FFF2-40B4-BE49-F238E27FC236}">
                <a16:creationId xmlns:a16="http://schemas.microsoft.com/office/drawing/2014/main" id="{6BD3B8D0-0CCF-AAF0-C608-D66630AC3EA9}"/>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lvl="0">
              <a:lnSpc>
                <a:spcPct val="90000"/>
              </a:lnSpc>
            </a:pPr>
            <a:r>
              <a:rPr lang="en-IN" sz="2800" b="0" dirty="0"/>
              <a:t>Proposed Framework contd.</a:t>
            </a:r>
          </a:p>
        </p:txBody>
      </p:sp>
      <p:pic>
        <p:nvPicPr>
          <p:cNvPr id="5" name="Picture 4">
            <a:extLst>
              <a:ext uri="{FF2B5EF4-FFF2-40B4-BE49-F238E27FC236}">
                <a16:creationId xmlns:a16="http://schemas.microsoft.com/office/drawing/2014/main" id="{0879C0F8-E0FB-29F5-99AC-0DF278247203}"/>
              </a:ext>
            </a:extLst>
          </p:cNvPr>
          <p:cNvPicPr>
            <a:picLocks noChangeAspect="1"/>
          </p:cNvPicPr>
          <p:nvPr/>
        </p:nvPicPr>
        <p:blipFill>
          <a:blip r:embed="rId3"/>
          <a:srcRect l="-2737" t="-2945" r="-1344" b="-4424"/>
          <a:stretch>
            <a:fillRect/>
          </a:stretch>
        </p:blipFill>
        <p:spPr>
          <a:xfrm>
            <a:off x="1076960" y="1017725"/>
            <a:ext cx="2397760" cy="3435502"/>
          </a:xfrm>
          <a:prstGeom prst="rect">
            <a:avLst/>
          </a:prstGeom>
          <a:noFill/>
          <a:ln>
            <a:noFill/>
          </a:ln>
        </p:spPr>
      </p:pic>
      <p:sp>
        <p:nvSpPr>
          <p:cNvPr id="3" name="TextBox 2">
            <a:extLst>
              <a:ext uri="{FF2B5EF4-FFF2-40B4-BE49-F238E27FC236}">
                <a16:creationId xmlns:a16="http://schemas.microsoft.com/office/drawing/2014/main" id="{69D43297-4D50-9011-C5FA-4DF539A1C31D}"/>
              </a:ext>
            </a:extLst>
          </p:cNvPr>
          <p:cNvSpPr txBox="1"/>
          <p:nvPr/>
        </p:nvSpPr>
        <p:spPr>
          <a:xfrm>
            <a:off x="4762475" y="2142405"/>
            <a:ext cx="3668250" cy="1504495"/>
          </a:xfrm>
          <a:prstGeom prst="rect">
            <a:avLst/>
          </a:prstGeom>
          <a:noFill/>
          <a:ln>
            <a:noFill/>
          </a:ln>
        </p:spPr>
        <p:txBody>
          <a:bodyPr anchor="t">
            <a:normAutofit/>
          </a:bodyPr>
          <a:lstStyle/>
          <a:p>
            <a:pPr algn="just">
              <a:spcAft>
                <a:spcPts val="600"/>
              </a:spcAft>
            </a:pPr>
            <a:r>
              <a:rPr lang="en-US" b="0" i="0" u="none" strike="noStrike" cap="none" dirty="0">
                <a:solidFill>
                  <a:schemeClr val="dk1"/>
                </a:solidFill>
                <a:latin typeface="Mulish" panose="020B0604020202020204" charset="0"/>
              </a:rPr>
              <a:t>To reduce delays and optimize performance, the system uses load balancing to dynamically offload jobs from overloaded nodes to underutilized ones</a:t>
            </a:r>
          </a:p>
        </p:txBody>
      </p:sp>
      <p:sp>
        <p:nvSpPr>
          <p:cNvPr id="2" name="TextBox 1">
            <a:extLst>
              <a:ext uri="{FF2B5EF4-FFF2-40B4-BE49-F238E27FC236}">
                <a16:creationId xmlns:a16="http://schemas.microsoft.com/office/drawing/2014/main" id="{B1C6B662-96A5-BC20-D5AD-9DEA1EA97D30}"/>
              </a:ext>
            </a:extLst>
          </p:cNvPr>
          <p:cNvSpPr txBox="1"/>
          <p:nvPr/>
        </p:nvSpPr>
        <p:spPr>
          <a:xfrm>
            <a:off x="4762475" y="1380010"/>
            <a:ext cx="2101857"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2000" b="1" dirty="0">
                <a:solidFill>
                  <a:schemeClr val="bg2"/>
                </a:solidFill>
                <a:latin typeface="Quicksand" panose="020B0604020202020204" charset="0"/>
              </a:rPr>
              <a:t>Load Balancing</a:t>
            </a:r>
          </a:p>
        </p:txBody>
      </p:sp>
    </p:spTree>
    <p:extLst>
      <p:ext uri="{BB962C8B-B14F-4D97-AF65-F5344CB8AC3E}">
        <p14:creationId xmlns:p14="http://schemas.microsoft.com/office/powerpoint/2010/main" val="1209328874"/>
      </p:ext>
    </p:extLst>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992C7B3A-69F8-A443-C2E5-A731DCC34B92}"/>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1A0CAD15-A683-5724-D78B-9C8780F50A24}"/>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16</a:t>
            </a:r>
          </a:p>
        </p:txBody>
      </p:sp>
      <p:sp>
        <p:nvSpPr>
          <p:cNvPr id="548" name="Google Shape;548;p47">
            <a:extLst>
              <a:ext uri="{FF2B5EF4-FFF2-40B4-BE49-F238E27FC236}">
                <a16:creationId xmlns:a16="http://schemas.microsoft.com/office/drawing/2014/main" id="{01A37F76-0EA6-0273-9630-FDE947CCC318}"/>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lvl="0">
              <a:lnSpc>
                <a:spcPct val="90000"/>
              </a:lnSpc>
            </a:pPr>
            <a:r>
              <a:rPr lang="en-IN" sz="2800" b="0" dirty="0"/>
              <a:t>Proposed Framework contd.</a:t>
            </a:r>
          </a:p>
        </p:txBody>
      </p:sp>
      <p:sp>
        <p:nvSpPr>
          <p:cNvPr id="3" name="TextBox 2">
            <a:extLst>
              <a:ext uri="{FF2B5EF4-FFF2-40B4-BE49-F238E27FC236}">
                <a16:creationId xmlns:a16="http://schemas.microsoft.com/office/drawing/2014/main" id="{30BECF84-9C10-06F2-6D2F-D7B447EE8375}"/>
              </a:ext>
            </a:extLst>
          </p:cNvPr>
          <p:cNvSpPr txBox="1"/>
          <p:nvPr/>
        </p:nvSpPr>
        <p:spPr>
          <a:xfrm>
            <a:off x="814825" y="2494542"/>
            <a:ext cx="3668250" cy="1504495"/>
          </a:xfrm>
          <a:prstGeom prst="rect">
            <a:avLst/>
          </a:prstGeom>
          <a:noFill/>
          <a:ln>
            <a:noFill/>
          </a:ln>
        </p:spPr>
        <p:txBody>
          <a:bodyPr anchor="t">
            <a:normAutofit/>
          </a:bodyPr>
          <a:lstStyle/>
          <a:p>
            <a:pPr marL="285750" indent="-285750">
              <a:spcAft>
                <a:spcPts val="600"/>
              </a:spcAft>
              <a:buFont typeface="Wingdings" panose="05000000000000000000" pitchFamily="2" charset="2"/>
              <a:buChar char="Ø"/>
            </a:pPr>
            <a:r>
              <a:rPr lang="en-US" dirty="0"/>
              <a:t>Organizes model updates in a tree structure using cryptographic hashes</a:t>
            </a:r>
          </a:p>
          <a:p>
            <a:pPr marL="285750" indent="-285750">
              <a:spcAft>
                <a:spcPts val="600"/>
              </a:spcAft>
              <a:buFont typeface="Wingdings" panose="05000000000000000000" pitchFamily="2" charset="2"/>
              <a:buChar char="Ø"/>
            </a:pPr>
            <a:r>
              <a:rPr lang="en-US" dirty="0"/>
              <a:t>Allows quick verification of data integrity</a:t>
            </a:r>
          </a:p>
          <a:p>
            <a:pPr marL="285750" indent="-285750">
              <a:spcAft>
                <a:spcPts val="600"/>
              </a:spcAft>
              <a:buFont typeface="Wingdings" panose="05000000000000000000" pitchFamily="2" charset="2"/>
              <a:buChar char="Ø"/>
            </a:pPr>
            <a:r>
              <a:rPr lang="en-US" dirty="0"/>
              <a:t>Detects any tampering with minimal computational overhead</a:t>
            </a:r>
            <a:endParaRPr lang="en-US" b="0" i="0" u="none" strike="noStrike" cap="none" dirty="0">
              <a:solidFill>
                <a:schemeClr val="dk1"/>
              </a:solidFill>
            </a:endParaRPr>
          </a:p>
        </p:txBody>
      </p:sp>
      <p:sp>
        <p:nvSpPr>
          <p:cNvPr id="2" name="TextBox 1">
            <a:extLst>
              <a:ext uri="{FF2B5EF4-FFF2-40B4-BE49-F238E27FC236}">
                <a16:creationId xmlns:a16="http://schemas.microsoft.com/office/drawing/2014/main" id="{1F5319D8-025C-3E77-6623-133590561AAE}"/>
              </a:ext>
            </a:extLst>
          </p:cNvPr>
          <p:cNvSpPr txBox="1"/>
          <p:nvPr/>
        </p:nvSpPr>
        <p:spPr>
          <a:xfrm>
            <a:off x="814825" y="1890704"/>
            <a:ext cx="2428870"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2000" b="1" dirty="0">
                <a:solidFill>
                  <a:schemeClr val="bg2"/>
                </a:solidFill>
                <a:latin typeface="Quicksand" panose="020B0604020202020204" charset="0"/>
              </a:rPr>
              <a:t>Merkle Tree Hash </a:t>
            </a:r>
          </a:p>
        </p:txBody>
      </p:sp>
      <p:pic>
        <p:nvPicPr>
          <p:cNvPr id="6" name="Picture 5" descr="A screenshot of a computer screen&#10;&#10;AI-generated content may be incorrect.">
            <a:extLst>
              <a:ext uri="{FF2B5EF4-FFF2-40B4-BE49-F238E27FC236}">
                <a16:creationId xmlns:a16="http://schemas.microsoft.com/office/drawing/2014/main" id="{1A704AD3-8DF2-C2EB-12BD-4A9BD84C78A1}"/>
              </a:ext>
            </a:extLst>
          </p:cNvPr>
          <p:cNvPicPr>
            <a:picLocks noChangeAspect="1"/>
          </p:cNvPicPr>
          <p:nvPr/>
        </p:nvPicPr>
        <p:blipFill>
          <a:blip r:embed="rId3"/>
          <a:stretch>
            <a:fillRect/>
          </a:stretch>
        </p:blipFill>
        <p:spPr>
          <a:xfrm>
            <a:off x="3657190" y="1496910"/>
            <a:ext cx="5272879" cy="1835570"/>
          </a:xfrm>
          <a:prstGeom prst="rect">
            <a:avLst/>
          </a:prstGeom>
        </p:spPr>
      </p:pic>
    </p:spTree>
    <p:extLst>
      <p:ext uri="{BB962C8B-B14F-4D97-AF65-F5344CB8AC3E}">
        <p14:creationId xmlns:p14="http://schemas.microsoft.com/office/powerpoint/2010/main" val="1599039508"/>
      </p:ext>
    </p:extLst>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ACA5CE5A-0842-3552-5511-75F71F68A469}"/>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558B9A4F-2638-6C64-C4CF-F2DE651D4D6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Result &amp; Analysis</a:t>
            </a:r>
            <a:endParaRPr dirty="0"/>
          </a:p>
        </p:txBody>
      </p:sp>
      <p:sp>
        <p:nvSpPr>
          <p:cNvPr id="566" name="Google Shape;566;p47">
            <a:extLst>
              <a:ext uri="{FF2B5EF4-FFF2-40B4-BE49-F238E27FC236}">
                <a16:creationId xmlns:a16="http://schemas.microsoft.com/office/drawing/2014/main" id="{5E833F4E-1924-C286-A5FC-CFC4F291EC41}"/>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17</a:t>
            </a:r>
          </a:p>
          <a:p>
            <a:pPr marL="0" lvl="0" indent="0" algn="ctr" rtl="0">
              <a:spcBef>
                <a:spcPts val="0"/>
              </a:spcBef>
              <a:spcAft>
                <a:spcPts val="0"/>
              </a:spcAft>
              <a:buNone/>
            </a:pPr>
            <a:endParaRPr dirty="0"/>
          </a:p>
        </p:txBody>
      </p:sp>
      <p:graphicFrame>
        <p:nvGraphicFramePr>
          <p:cNvPr id="19" name="Table 18">
            <a:extLst>
              <a:ext uri="{FF2B5EF4-FFF2-40B4-BE49-F238E27FC236}">
                <a16:creationId xmlns:a16="http://schemas.microsoft.com/office/drawing/2014/main" id="{3D2AC235-06D9-C513-14C8-6EA6C6050A27}"/>
              </a:ext>
            </a:extLst>
          </p:cNvPr>
          <p:cNvGraphicFramePr>
            <a:graphicFrameLocks noGrp="1"/>
          </p:cNvGraphicFramePr>
          <p:nvPr>
            <p:extLst>
              <p:ext uri="{D42A27DB-BD31-4B8C-83A1-F6EECF244321}">
                <p14:modId xmlns:p14="http://schemas.microsoft.com/office/powerpoint/2010/main" val="619909527"/>
              </p:ext>
            </p:extLst>
          </p:nvPr>
        </p:nvGraphicFramePr>
        <p:xfrm>
          <a:off x="833120" y="1606459"/>
          <a:ext cx="7924800" cy="3108960"/>
        </p:xfrm>
        <a:graphic>
          <a:graphicData uri="http://schemas.openxmlformats.org/drawingml/2006/table">
            <a:tbl>
              <a:tblPr firstRow="1" bandRow="1">
                <a:tableStyleId>{13B8F912-B81C-4288-96BF-150D89055785}</a:tableStyleId>
              </a:tblPr>
              <a:tblGrid>
                <a:gridCol w="7924800">
                  <a:extLst>
                    <a:ext uri="{9D8B030D-6E8A-4147-A177-3AD203B41FA5}">
                      <a16:colId xmlns:a16="http://schemas.microsoft.com/office/drawing/2014/main" val="509658014"/>
                    </a:ext>
                  </a:extLst>
                </a:gridCol>
              </a:tblGrid>
              <a:tr h="661878">
                <a:tc>
                  <a:txBody>
                    <a:bodyPr/>
                    <a:lstStyle/>
                    <a:p>
                      <a:pPr algn="just"/>
                      <a:r>
                        <a:rPr lang="en-IN" sz="1200" b="1" dirty="0">
                          <a:solidFill>
                            <a:schemeClr val="bg2"/>
                          </a:solidFill>
                        </a:rPr>
                        <a:t>RNS (Random </a:t>
                      </a:r>
                      <a:r>
                        <a:rPr lang="en-IN" sz="1200" b="1" dirty="0">
                          <a:solidFill>
                            <a:schemeClr val="bg2"/>
                          </a:solidFill>
                          <a:latin typeface="Quicksand" panose="020B0604020202020204" charset="0"/>
                        </a:rPr>
                        <a:t>Node</a:t>
                      </a:r>
                      <a:r>
                        <a:rPr lang="en-IN" sz="1200" b="1" dirty="0">
                          <a:solidFill>
                            <a:schemeClr val="bg2"/>
                          </a:solidFill>
                        </a:rPr>
                        <a:t> Selector):</a:t>
                      </a:r>
                      <a:endParaRPr lang="en-IN" sz="1200" b="1" dirty="0">
                        <a:solidFill>
                          <a:schemeClr val="bg2"/>
                        </a:solidFill>
                        <a:latin typeface="Mulish" panose="020B0604020202020204" charset="0"/>
                      </a:endParaRPr>
                    </a:p>
                    <a:p>
                      <a:pPr algn="just"/>
                      <a:r>
                        <a:rPr lang="en-US" sz="1200" dirty="0">
                          <a:solidFill>
                            <a:schemeClr val="tx1"/>
                          </a:solidFill>
                          <a:latin typeface="Mulish" panose="020B0604020202020204" charset="0"/>
                        </a:rPr>
                        <a:t>Selects nodes randomly without considering task urgency, cost, or load. Simple but inefficient under varying workloads</a:t>
                      </a:r>
                      <a:endParaRPr lang="en-IN" sz="1200" dirty="0">
                        <a:solidFill>
                          <a:schemeClr val="tx1"/>
                        </a:solidFill>
                        <a:latin typeface="Mulish" panose="020B0604020202020204" charset="0"/>
                      </a:endParaRPr>
                    </a:p>
                    <a:p>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194469"/>
                  </a:ext>
                </a:extLst>
              </a:tr>
              <a:tr h="51635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solidFill>
                            <a:schemeClr val="bg2"/>
                          </a:solidFill>
                          <a:latin typeface="Quicksand" panose="020B0604020202020204" charset="0"/>
                        </a:rPr>
                        <a:t>EHM (Edge-Heavy Method):</a:t>
                      </a:r>
                      <a:br>
                        <a:rPr lang="en-IN" sz="1200" dirty="0"/>
                      </a:br>
                      <a:r>
                        <a:rPr lang="en-US" sz="1200" dirty="0">
                          <a:latin typeface="Mulish" panose="020B0604020202020204" charset="0"/>
                        </a:rPr>
                        <a:t>Prefers assigning most jobs to edge nodes. Reduces latency but often leads to edge overload and failure</a:t>
                      </a:r>
                      <a:endParaRPr lang="en-IN" sz="1200" dirty="0">
                        <a:solidFill>
                          <a:schemeClr val="tx1"/>
                        </a:solidFill>
                        <a:latin typeface="Mulish" panose="020B0604020202020204" charset="0"/>
                      </a:endParaRPr>
                    </a:p>
                    <a:p>
                      <a:endParaRPr lang="en-IN" sz="12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04679103"/>
                  </a:ext>
                </a:extLst>
              </a:tr>
              <a:tr h="6618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 </a:t>
                      </a:r>
                      <a:r>
                        <a:rPr lang="en-US" sz="1200" b="1" dirty="0">
                          <a:solidFill>
                            <a:schemeClr val="bg2"/>
                          </a:solidFill>
                          <a:latin typeface="Quicksand" panose="020B0604020202020204" charset="0"/>
                        </a:rPr>
                        <a:t>ELBO (Energy and Latency Balanced Offloading):</a:t>
                      </a:r>
                      <a:br>
                        <a:rPr lang="en-US" sz="1200" dirty="0"/>
                      </a:br>
                      <a:r>
                        <a:rPr lang="en-US" sz="1200" dirty="0">
                          <a:latin typeface="Mulish" panose="020B0604020202020204" charset="0"/>
                        </a:rPr>
                        <a:t>Balances node selection by considering both energy consumption and latency constraints. More intelligent than RNS/EHM, but still lacks task sensitivity awareness</a:t>
                      </a:r>
                      <a:endParaRPr lang="en-IN" sz="1200" dirty="0">
                        <a:solidFill>
                          <a:schemeClr val="tx1"/>
                        </a:solidFill>
                        <a:latin typeface="Mulish" panose="020B0604020202020204" charset="0"/>
                      </a:endParaRPr>
                    </a:p>
                    <a:p>
                      <a:endParaRPr lang="en-IN" sz="1200" dirty="0"/>
                    </a:p>
                  </a:txBody>
                  <a:tcPr/>
                </a:tc>
                <a:extLst>
                  <a:ext uri="{0D108BD9-81ED-4DB2-BD59-A6C34878D82A}">
                    <a16:rowId xmlns:a16="http://schemas.microsoft.com/office/drawing/2014/main" val="1301128715"/>
                  </a:ext>
                </a:extLst>
              </a:tr>
              <a:tr h="661878">
                <a:tc>
                  <a:txBody>
                    <a:bodyPr/>
                    <a:lstStyle/>
                    <a:p>
                      <a:pPr algn="just"/>
                      <a:r>
                        <a:rPr lang="en-IN" sz="1200" b="1" dirty="0">
                          <a:solidFill>
                            <a:schemeClr val="bg2"/>
                          </a:solidFill>
                          <a:latin typeface="Quicksand" panose="020B0604020202020204" charset="0"/>
                        </a:rPr>
                        <a:t>PM (Proposed Method):</a:t>
                      </a:r>
                    </a:p>
                    <a:p>
                      <a:pPr algn="just"/>
                      <a:r>
                        <a:rPr lang="en-US" sz="1200" dirty="0">
                          <a:solidFill>
                            <a:schemeClr val="tx1"/>
                          </a:solidFill>
                          <a:latin typeface="Mulish" panose="020B0604020202020204" charset="0"/>
                        </a:rPr>
                        <a:t>Routes tasks based on Sensitivity (S), Size (Z), and Deadline (Δ)Achieves better load distribution, lower cost, and higher success ratio</a:t>
                      </a:r>
                      <a:endParaRPr lang="en-IN" sz="1200" dirty="0">
                        <a:solidFill>
                          <a:schemeClr val="tx1"/>
                        </a:solidFill>
                        <a:latin typeface="Mulish" panose="020B0604020202020204" charset="0"/>
                      </a:endParaRPr>
                    </a:p>
                    <a:p>
                      <a:endParaRPr lang="en-IN" sz="1200" dirty="0"/>
                    </a:p>
                  </a:txBody>
                  <a:tcPr/>
                </a:tc>
                <a:extLst>
                  <a:ext uri="{0D108BD9-81ED-4DB2-BD59-A6C34878D82A}">
                    <a16:rowId xmlns:a16="http://schemas.microsoft.com/office/drawing/2014/main" val="1309750674"/>
                  </a:ext>
                </a:extLst>
              </a:tr>
            </a:tbl>
          </a:graphicData>
        </a:graphic>
      </p:graphicFrame>
      <p:sp>
        <p:nvSpPr>
          <p:cNvPr id="8" name="TextBox 7">
            <a:extLst>
              <a:ext uri="{FF2B5EF4-FFF2-40B4-BE49-F238E27FC236}">
                <a16:creationId xmlns:a16="http://schemas.microsoft.com/office/drawing/2014/main" id="{44F916DB-60CA-9507-86FB-D0B38541B19E}"/>
              </a:ext>
            </a:extLst>
          </p:cNvPr>
          <p:cNvSpPr txBox="1"/>
          <p:nvPr/>
        </p:nvSpPr>
        <p:spPr>
          <a:xfrm>
            <a:off x="833120" y="1116634"/>
            <a:ext cx="4234210"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Baseline Policies for Comparison</a:t>
            </a:r>
          </a:p>
        </p:txBody>
      </p:sp>
    </p:spTree>
    <p:extLst>
      <p:ext uri="{BB962C8B-B14F-4D97-AF65-F5344CB8AC3E}">
        <p14:creationId xmlns:p14="http://schemas.microsoft.com/office/powerpoint/2010/main" val="179088097"/>
      </p:ext>
    </p:extLst>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D26A3A19-80A9-2EAA-EB08-5AA6DCB46E37}"/>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E4C10B56-98F4-635F-2568-88394D67574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dirty="0"/>
              <a:t>Result &amp; Analysis contd.</a:t>
            </a:r>
          </a:p>
        </p:txBody>
      </p:sp>
      <p:sp>
        <p:nvSpPr>
          <p:cNvPr id="566" name="Google Shape;566;p47">
            <a:extLst>
              <a:ext uri="{FF2B5EF4-FFF2-40B4-BE49-F238E27FC236}">
                <a16:creationId xmlns:a16="http://schemas.microsoft.com/office/drawing/2014/main" id="{336DF97D-8A24-1AC4-661F-8BDC6445C416}"/>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18</a:t>
            </a:r>
          </a:p>
        </p:txBody>
      </p:sp>
      <p:sp>
        <p:nvSpPr>
          <p:cNvPr id="8" name="TextBox 7">
            <a:extLst>
              <a:ext uri="{FF2B5EF4-FFF2-40B4-BE49-F238E27FC236}">
                <a16:creationId xmlns:a16="http://schemas.microsoft.com/office/drawing/2014/main" id="{CFAA25C1-1DD1-AF1A-E237-9D7A3DB346DA}"/>
              </a:ext>
            </a:extLst>
          </p:cNvPr>
          <p:cNvSpPr txBox="1"/>
          <p:nvPr/>
        </p:nvSpPr>
        <p:spPr>
          <a:xfrm>
            <a:off x="5147764" y="2295365"/>
            <a:ext cx="2949755"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Total Execution Time</a:t>
            </a:r>
          </a:p>
        </p:txBody>
      </p:sp>
      <p:pic>
        <p:nvPicPr>
          <p:cNvPr id="3" name="Picture 2">
            <a:extLst>
              <a:ext uri="{FF2B5EF4-FFF2-40B4-BE49-F238E27FC236}">
                <a16:creationId xmlns:a16="http://schemas.microsoft.com/office/drawing/2014/main" id="{CF177258-0318-BD30-FB5C-874722E22C6F}"/>
              </a:ext>
            </a:extLst>
          </p:cNvPr>
          <p:cNvPicPr>
            <a:picLocks noChangeAspect="1"/>
          </p:cNvPicPr>
          <p:nvPr/>
        </p:nvPicPr>
        <p:blipFill>
          <a:blip r:embed="rId3"/>
          <a:stretch>
            <a:fillRect/>
          </a:stretch>
        </p:blipFill>
        <p:spPr>
          <a:xfrm>
            <a:off x="230600" y="1866038"/>
            <a:ext cx="4341400" cy="2513330"/>
          </a:xfrm>
          <a:prstGeom prst="rect">
            <a:avLst/>
          </a:prstGeom>
        </p:spPr>
      </p:pic>
      <p:sp>
        <p:nvSpPr>
          <p:cNvPr id="7" name="TextBox 6">
            <a:extLst>
              <a:ext uri="{FF2B5EF4-FFF2-40B4-BE49-F238E27FC236}">
                <a16:creationId xmlns:a16="http://schemas.microsoft.com/office/drawing/2014/main" id="{CC08024B-A748-F990-8533-2F12DB889283}"/>
              </a:ext>
            </a:extLst>
          </p:cNvPr>
          <p:cNvSpPr txBox="1"/>
          <p:nvPr/>
        </p:nvSpPr>
        <p:spPr>
          <a:xfrm>
            <a:off x="508000" y="1214727"/>
            <a:ext cx="4500880"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Impact of Distributed Deployment</a:t>
            </a:r>
          </a:p>
        </p:txBody>
      </p:sp>
      <p:sp>
        <p:nvSpPr>
          <p:cNvPr id="9" name="Google Shape;310;p31">
            <a:extLst>
              <a:ext uri="{FF2B5EF4-FFF2-40B4-BE49-F238E27FC236}">
                <a16:creationId xmlns:a16="http://schemas.microsoft.com/office/drawing/2014/main" id="{26A3A912-7E9D-E23C-4CF2-7950CF0A000A}"/>
              </a:ext>
            </a:extLst>
          </p:cNvPr>
          <p:cNvSpPr txBox="1">
            <a:spLocks/>
          </p:cNvSpPr>
          <p:nvPr/>
        </p:nvSpPr>
        <p:spPr>
          <a:xfrm>
            <a:off x="5147764" y="1811839"/>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01</a:t>
            </a:r>
          </a:p>
        </p:txBody>
      </p:sp>
      <p:sp>
        <p:nvSpPr>
          <p:cNvPr id="10" name="TextBox 9">
            <a:extLst>
              <a:ext uri="{FF2B5EF4-FFF2-40B4-BE49-F238E27FC236}">
                <a16:creationId xmlns:a16="http://schemas.microsoft.com/office/drawing/2014/main" id="{3BA5513B-5216-D1B6-2CFB-615F8D43DC36}"/>
              </a:ext>
            </a:extLst>
          </p:cNvPr>
          <p:cNvSpPr txBox="1"/>
          <p:nvPr/>
        </p:nvSpPr>
        <p:spPr>
          <a:xfrm>
            <a:off x="4846350" y="2814926"/>
            <a:ext cx="4179349" cy="738664"/>
          </a:xfrm>
          <a:prstGeom prst="rect">
            <a:avLst/>
          </a:prstGeom>
          <a:noFill/>
        </p:spPr>
        <p:txBody>
          <a:bodyPr wrap="none" rtlCol="0">
            <a:spAutoFit/>
          </a:bodyPr>
          <a:lstStyle/>
          <a:p>
            <a:pPr marL="285750" indent="-285750">
              <a:buFont typeface="Arial" panose="020B0604020202020204" pitchFamily="34" charset="0"/>
              <a:buChar char="•"/>
            </a:pPr>
            <a:r>
              <a:rPr lang="en-US" b="1" dirty="0">
                <a:latin typeface="Mulish" panose="020B0604020202020204" charset="0"/>
              </a:rPr>
              <a:t>31.5% lower execution time</a:t>
            </a:r>
            <a:r>
              <a:rPr lang="en-US" dirty="0">
                <a:latin typeface="Mulish" panose="020B0604020202020204" charset="0"/>
              </a:rPr>
              <a:t> vs. Edge-Heavy</a:t>
            </a:r>
          </a:p>
          <a:p>
            <a:pPr marL="285750" indent="-285750">
              <a:buFont typeface="Arial" panose="020B0604020202020204" pitchFamily="34" charset="0"/>
              <a:buChar char="•"/>
            </a:pPr>
            <a:r>
              <a:rPr lang="en-US" b="1" dirty="0">
                <a:latin typeface="Mulish" panose="020B0604020202020204" charset="0"/>
              </a:rPr>
              <a:t>16.6% faster</a:t>
            </a:r>
            <a:r>
              <a:rPr lang="en-US" dirty="0">
                <a:latin typeface="Mulish" panose="020B0604020202020204" charset="0"/>
              </a:rPr>
              <a:t> than Random Node Selector</a:t>
            </a:r>
          </a:p>
          <a:p>
            <a:pPr marL="285750" indent="-285750">
              <a:buFont typeface="Arial" panose="020B0604020202020204" pitchFamily="34" charset="0"/>
              <a:buChar char="•"/>
            </a:pPr>
            <a:endParaRPr lang="en-IN" dirty="0">
              <a:latin typeface="Mulish" panose="020B0604020202020204" charset="0"/>
            </a:endParaRPr>
          </a:p>
        </p:txBody>
      </p:sp>
      <p:sp>
        <p:nvSpPr>
          <p:cNvPr id="11" name="TextBox 10">
            <a:extLst>
              <a:ext uri="{FF2B5EF4-FFF2-40B4-BE49-F238E27FC236}">
                <a16:creationId xmlns:a16="http://schemas.microsoft.com/office/drawing/2014/main" id="{2EE17982-DD0B-6D3E-1DE8-D7CCA25DBB8A}"/>
              </a:ext>
            </a:extLst>
          </p:cNvPr>
          <p:cNvSpPr txBox="1"/>
          <p:nvPr/>
        </p:nvSpPr>
        <p:spPr>
          <a:xfrm>
            <a:off x="5120700" y="3533901"/>
            <a:ext cx="3505140" cy="1169551"/>
          </a:xfrm>
          <a:prstGeom prst="rect">
            <a:avLst/>
          </a:prstGeom>
          <a:noFill/>
        </p:spPr>
        <p:txBody>
          <a:bodyPr wrap="square" rtlCol="0">
            <a:spAutoFit/>
          </a:bodyPr>
          <a:lstStyle/>
          <a:p>
            <a:pPr algn="just"/>
            <a:r>
              <a:rPr lang="en-US" dirty="0">
                <a:latin typeface="Mulish" panose="020B0604020202020204" charset="0"/>
              </a:rPr>
              <a:t>This confirms that effective scheduling and optimized data offloading significantly lower latency and improve responsiveness in distributed healthcare scenarios.</a:t>
            </a:r>
            <a:endParaRPr lang="en-IN" dirty="0">
              <a:latin typeface="Mulish" panose="020B0604020202020204" charset="0"/>
            </a:endParaRPr>
          </a:p>
        </p:txBody>
      </p:sp>
    </p:spTree>
    <p:extLst>
      <p:ext uri="{BB962C8B-B14F-4D97-AF65-F5344CB8AC3E}">
        <p14:creationId xmlns:p14="http://schemas.microsoft.com/office/powerpoint/2010/main" val="3032152878"/>
      </p:ext>
    </p:extLst>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D4156F42-F547-CD2D-C950-88B8F1F47151}"/>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FE2AEA06-5976-093B-5DCB-A0C5A90A40A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dirty="0"/>
              <a:t>Result &amp; Analysis contd.</a:t>
            </a:r>
          </a:p>
        </p:txBody>
      </p:sp>
      <p:sp>
        <p:nvSpPr>
          <p:cNvPr id="566" name="Google Shape;566;p47">
            <a:extLst>
              <a:ext uri="{FF2B5EF4-FFF2-40B4-BE49-F238E27FC236}">
                <a16:creationId xmlns:a16="http://schemas.microsoft.com/office/drawing/2014/main" id="{8E623D86-6DF4-4C18-B98C-0221EED72BAC}"/>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19</a:t>
            </a:r>
          </a:p>
        </p:txBody>
      </p:sp>
      <p:sp>
        <p:nvSpPr>
          <p:cNvPr id="8" name="TextBox 7">
            <a:extLst>
              <a:ext uri="{FF2B5EF4-FFF2-40B4-BE49-F238E27FC236}">
                <a16:creationId xmlns:a16="http://schemas.microsoft.com/office/drawing/2014/main" id="{912F5C5F-E8C6-4209-77FE-27882D808194}"/>
              </a:ext>
            </a:extLst>
          </p:cNvPr>
          <p:cNvSpPr txBox="1"/>
          <p:nvPr/>
        </p:nvSpPr>
        <p:spPr>
          <a:xfrm>
            <a:off x="5147764" y="1599642"/>
            <a:ext cx="3276236"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Average Execution Time</a:t>
            </a:r>
          </a:p>
        </p:txBody>
      </p:sp>
      <p:pic>
        <p:nvPicPr>
          <p:cNvPr id="3" name="Picture 2">
            <a:extLst>
              <a:ext uri="{FF2B5EF4-FFF2-40B4-BE49-F238E27FC236}">
                <a16:creationId xmlns:a16="http://schemas.microsoft.com/office/drawing/2014/main" id="{D7C2035E-E46D-BAAA-2046-413781F53B4A}"/>
              </a:ext>
            </a:extLst>
          </p:cNvPr>
          <p:cNvPicPr>
            <a:picLocks noChangeAspect="1"/>
          </p:cNvPicPr>
          <p:nvPr/>
        </p:nvPicPr>
        <p:blipFill>
          <a:blip r:embed="rId3"/>
          <a:srcRect/>
          <a:stretch/>
        </p:blipFill>
        <p:spPr>
          <a:xfrm>
            <a:off x="294789" y="1494399"/>
            <a:ext cx="4213022" cy="2513330"/>
          </a:xfrm>
          <a:prstGeom prst="rect">
            <a:avLst/>
          </a:prstGeom>
        </p:spPr>
      </p:pic>
      <p:sp>
        <p:nvSpPr>
          <p:cNvPr id="9" name="Google Shape;310;p31">
            <a:extLst>
              <a:ext uri="{FF2B5EF4-FFF2-40B4-BE49-F238E27FC236}">
                <a16:creationId xmlns:a16="http://schemas.microsoft.com/office/drawing/2014/main" id="{0FE72EEF-3259-13C8-BD20-B70A60750D7A}"/>
              </a:ext>
            </a:extLst>
          </p:cNvPr>
          <p:cNvSpPr txBox="1">
            <a:spLocks/>
          </p:cNvSpPr>
          <p:nvPr/>
        </p:nvSpPr>
        <p:spPr>
          <a:xfrm>
            <a:off x="5147764" y="1116116"/>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02</a:t>
            </a:r>
          </a:p>
        </p:txBody>
      </p:sp>
      <p:sp>
        <p:nvSpPr>
          <p:cNvPr id="10" name="TextBox 9">
            <a:extLst>
              <a:ext uri="{FF2B5EF4-FFF2-40B4-BE49-F238E27FC236}">
                <a16:creationId xmlns:a16="http://schemas.microsoft.com/office/drawing/2014/main" id="{53B43CE6-700C-1334-7FC5-FE6C63106528}"/>
              </a:ext>
            </a:extLst>
          </p:cNvPr>
          <p:cNvSpPr txBox="1"/>
          <p:nvPr/>
        </p:nvSpPr>
        <p:spPr>
          <a:xfrm>
            <a:off x="4846350" y="2149262"/>
            <a:ext cx="4067050" cy="73866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Mulish" panose="020B0604020202020204" charset="0"/>
              </a:rPr>
              <a:t>31.2% lower average execution time</a:t>
            </a:r>
            <a:r>
              <a:rPr lang="en-US" dirty="0">
                <a:latin typeface="Mulish" panose="020B0604020202020204" charset="0"/>
              </a:rPr>
              <a:t> vs. Edge-Heavy</a:t>
            </a:r>
          </a:p>
          <a:p>
            <a:pPr marL="285750" indent="-285750">
              <a:buFont typeface="Arial" panose="020B0604020202020204" pitchFamily="34" charset="0"/>
              <a:buChar char="•"/>
            </a:pPr>
            <a:r>
              <a:rPr lang="en-US" b="1" dirty="0">
                <a:latin typeface="Mulish" panose="020B0604020202020204" charset="0"/>
              </a:rPr>
              <a:t>16.8% faster</a:t>
            </a:r>
            <a:r>
              <a:rPr lang="en-US" dirty="0">
                <a:latin typeface="Mulish" panose="020B0604020202020204" charset="0"/>
              </a:rPr>
              <a:t> than Random Node Selector</a:t>
            </a:r>
            <a:endParaRPr lang="en-IN" dirty="0">
              <a:latin typeface="Mulish" panose="020B0604020202020204" charset="0"/>
            </a:endParaRPr>
          </a:p>
        </p:txBody>
      </p:sp>
      <p:sp>
        <p:nvSpPr>
          <p:cNvPr id="11" name="TextBox 10">
            <a:extLst>
              <a:ext uri="{FF2B5EF4-FFF2-40B4-BE49-F238E27FC236}">
                <a16:creationId xmlns:a16="http://schemas.microsoft.com/office/drawing/2014/main" id="{BB3F5039-0CEF-29DB-09EB-67AB99C9A0E5}"/>
              </a:ext>
            </a:extLst>
          </p:cNvPr>
          <p:cNvSpPr txBox="1"/>
          <p:nvPr/>
        </p:nvSpPr>
        <p:spPr>
          <a:xfrm>
            <a:off x="5127305" y="3037436"/>
            <a:ext cx="3505140" cy="1169551"/>
          </a:xfrm>
          <a:prstGeom prst="rect">
            <a:avLst/>
          </a:prstGeom>
          <a:noFill/>
        </p:spPr>
        <p:txBody>
          <a:bodyPr wrap="square" rtlCol="0">
            <a:spAutoFit/>
          </a:bodyPr>
          <a:lstStyle/>
          <a:p>
            <a:pPr algn="just"/>
            <a:r>
              <a:rPr lang="en-US" dirty="0">
                <a:latin typeface="Mulish" panose="020B0604020202020204" charset="0"/>
              </a:rPr>
              <a:t>This confirms that effective scheduling and optimized data offloading significantly lower latency and improve responsiveness in distributed healthcare scenarios.</a:t>
            </a:r>
            <a:endParaRPr lang="en-IN" dirty="0">
              <a:latin typeface="Mulish" panose="020B0604020202020204" charset="0"/>
            </a:endParaRPr>
          </a:p>
        </p:txBody>
      </p:sp>
    </p:spTree>
    <p:extLst>
      <p:ext uri="{BB962C8B-B14F-4D97-AF65-F5344CB8AC3E}">
        <p14:creationId xmlns:p14="http://schemas.microsoft.com/office/powerpoint/2010/main" val="2687962461"/>
      </p:ext>
    </p:extLst>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7DCBEE29-0E25-9BC6-FFA3-EF30D26400B1}"/>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F7A38943-89A7-BCC0-BBC6-CEAAFD0E190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dirty="0"/>
              <a:t>Result &amp; Analysis contd.</a:t>
            </a:r>
          </a:p>
        </p:txBody>
      </p:sp>
      <p:sp>
        <p:nvSpPr>
          <p:cNvPr id="566" name="Google Shape;566;p47">
            <a:extLst>
              <a:ext uri="{FF2B5EF4-FFF2-40B4-BE49-F238E27FC236}">
                <a16:creationId xmlns:a16="http://schemas.microsoft.com/office/drawing/2014/main" id="{F5A3EB15-E058-19B5-1130-F8426490A53C}"/>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20</a:t>
            </a:r>
          </a:p>
        </p:txBody>
      </p:sp>
      <p:sp>
        <p:nvSpPr>
          <p:cNvPr id="8" name="TextBox 7">
            <a:extLst>
              <a:ext uri="{FF2B5EF4-FFF2-40B4-BE49-F238E27FC236}">
                <a16:creationId xmlns:a16="http://schemas.microsoft.com/office/drawing/2014/main" id="{219691C5-BDFA-951E-0E44-8924A1420A12}"/>
              </a:ext>
            </a:extLst>
          </p:cNvPr>
          <p:cNvSpPr txBox="1"/>
          <p:nvPr/>
        </p:nvSpPr>
        <p:spPr>
          <a:xfrm>
            <a:off x="5147764" y="1980405"/>
            <a:ext cx="2949755"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Total Execution Time</a:t>
            </a:r>
          </a:p>
        </p:txBody>
      </p:sp>
      <p:pic>
        <p:nvPicPr>
          <p:cNvPr id="3" name="Picture 2">
            <a:extLst>
              <a:ext uri="{FF2B5EF4-FFF2-40B4-BE49-F238E27FC236}">
                <a16:creationId xmlns:a16="http://schemas.microsoft.com/office/drawing/2014/main" id="{4A2F560E-9D31-D6BD-C64C-FDBA688E9D2C}"/>
              </a:ext>
            </a:extLst>
          </p:cNvPr>
          <p:cNvPicPr>
            <a:picLocks noChangeAspect="1"/>
          </p:cNvPicPr>
          <p:nvPr/>
        </p:nvPicPr>
        <p:blipFill>
          <a:blip r:embed="rId3"/>
          <a:srcRect/>
          <a:stretch/>
        </p:blipFill>
        <p:spPr>
          <a:xfrm>
            <a:off x="294789" y="1866038"/>
            <a:ext cx="4213022" cy="2513330"/>
          </a:xfrm>
          <a:prstGeom prst="rect">
            <a:avLst/>
          </a:prstGeom>
        </p:spPr>
      </p:pic>
      <p:sp>
        <p:nvSpPr>
          <p:cNvPr id="7" name="TextBox 6">
            <a:extLst>
              <a:ext uri="{FF2B5EF4-FFF2-40B4-BE49-F238E27FC236}">
                <a16:creationId xmlns:a16="http://schemas.microsoft.com/office/drawing/2014/main" id="{69E62974-5FE6-5A57-DC26-3EF620A895F0}"/>
              </a:ext>
            </a:extLst>
          </p:cNvPr>
          <p:cNvSpPr txBox="1"/>
          <p:nvPr/>
        </p:nvSpPr>
        <p:spPr>
          <a:xfrm>
            <a:off x="508000" y="1214727"/>
            <a:ext cx="4500880"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Comparison with baseline policies</a:t>
            </a:r>
          </a:p>
        </p:txBody>
      </p:sp>
      <p:sp>
        <p:nvSpPr>
          <p:cNvPr id="9" name="Google Shape;310;p31">
            <a:extLst>
              <a:ext uri="{FF2B5EF4-FFF2-40B4-BE49-F238E27FC236}">
                <a16:creationId xmlns:a16="http://schemas.microsoft.com/office/drawing/2014/main" id="{42DDCC7C-0612-543F-6AE3-716D1AF1D5BB}"/>
              </a:ext>
            </a:extLst>
          </p:cNvPr>
          <p:cNvSpPr txBox="1">
            <a:spLocks/>
          </p:cNvSpPr>
          <p:nvPr/>
        </p:nvSpPr>
        <p:spPr>
          <a:xfrm>
            <a:off x="5147764" y="1496879"/>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03</a:t>
            </a:r>
          </a:p>
        </p:txBody>
      </p:sp>
      <p:sp>
        <p:nvSpPr>
          <p:cNvPr id="10" name="TextBox 9">
            <a:extLst>
              <a:ext uri="{FF2B5EF4-FFF2-40B4-BE49-F238E27FC236}">
                <a16:creationId xmlns:a16="http://schemas.microsoft.com/office/drawing/2014/main" id="{D0904C69-7C19-0ADD-E15A-40E1CF07BC53}"/>
              </a:ext>
            </a:extLst>
          </p:cNvPr>
          <p:cNvSpPr txBox="1"/>
          <p:nvPr/>
        </p:nvSpPr>
        <p:spPr>
          <a:xfrm>
            <a:off x="4846350" y="2499966"/>
            <a:ext cx="4341400" cy="116955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Mulish" panose="020B0604020202020204" charset="0"/>
              </a:rPr>
              <a:t>81.14% faster</a:t>
            </a:r>
            <a:r>
              <a:rPr lang="en-US" dirty="0">
                <a:latin typeface="Mulish" panose="020B0604020202020204" charset="0"/>
              </a:rPr>
              <a:t> than Edge-Heavy Method (EHM)</a:t>
            </a:r>
          </a:p>
          <a:p>
            <a:pPr marL="285750" indent="-285750">
              <a:buFont typeface="Arial" panose="020B0604020202020204" pitchFamily="34" charset="0"/>
              <a:buChar char="•"/>
            </a:pPr>
            <a:r>
              <a:rPr lang="en-US" b="1" dirty="0">
                <a:latin typeface="Mulish" panose="020B0604020202020204" charset="0"/>
              </a:rPr>
              <a:t>76.34% faster</a:t>
            </a:r>
            <a:r>
              <a:rPr lang="en-US" dirty="0">
                <a:latin typeface="Mulish" panose="020B0604020202020204" charset="0"/>
              </a:rPr>
              <a:t> than Random Node Selector (RNS)</a:t>
            </a:r>
          </a:p>
          <a:p>
            <a:pPr marL="285750" indent="-285750">
              <a:buFont typeface="Arial" panose="020B0604020202020204" pitchFamily="34" charset="0"/>
              <a:buChar char="•"/>
            </a:pPr>
            <a:r>
              <a:rPr lang="en-US" b="1" dirty="0">
                <a:latin typeface="Mulish" panose="020B0604020202020204" charset="0"/>
              </a:rPr>
              <a:t>80.87% faster</a:t>
            </a:r>
            <a:r>
              <a:rPr lang="en-US" dirty="0">
                <a:latin typeface="Mulish" panose="020B0604020202020204" charset="0"/>
              </a:rPr>
              <a:t> than ELBO-based Offloading</a:t>
            </a:r>
            <a:endParaRPr lang="en-IN" dirty="0">
              <a:latin typeface="Mulish" panose="020B0604020202020204" charset="0"/>
            </a:endParaRPr>
          </a:p>
        </p:txBody>
      </p:sp>
      <p:sp>
        <p:nvSpPr>
          <p:cNvPr id="11" name="TextBox 10">
            <a:extLst>
              <a:ext uri="{FF2B5EF4-FFF2-40B4-BE49-F238E27FC236}">
                <a16:creationId xmlns:a16="http://schemas.microsoft.com/office/drawing/2014/main" id="{7C409F0D-D8C7-F713-3C4F-27BA9B8E2649}"/>
              </a:ext>
            </a:extLst>
          </p:cNvPr>
          <p:cNvSpPr txBox="1"/>
          <p:nvPr/>
        </p:nvSpPr>
        <p:spPr>
          <a:xfrm>
            <a:off x="5120700" y="3744368"/>
            <a:ext cx="3653782" cy="954107"/>
          </a:xfrm>
          <a:prstGeom prst="rect">
            <a:avLst/>
          </a:prstGeom>
          <a:noFill/>
        </p:spPr>
        <p:txBody>
          <a:bodyPr wrap="square" rtlCol="0">
            <a:spAutoFit/>
          </a:bodyPr>
          <a:lstStyle/>
          <a:p>
            <a:pPr algn="just"/>
            <a:r>
              <a:rPr lang="en-US" dirty="0">
                <a:latin typeface="Mulish" panose="020B0604020202020204" charset="0"/>
              </a:rPr>
              <a:t>The Proposed Method ensures optimal scheduling with minimal overhead, making it ideal for latency-sensitive healthcare systems</a:t>
            </a:r>
            <a:endParaRPr lang="en-IN" dirty="0">
              <a:latin typeface="Mulish" panose="020B0604020202020204" charset="0"/>
            </a:endParaRPr>
          </a:p>
        </p:txBody>
      </p:sp>
    </p:spTree>
    <p:extLst>
      <p:ext uri="{BB962C8B-B14F-4D97-AF65-F5344CB8AC3E}">
        <p14:creationId xmlns:p14="http://schemas.microsoft.com/office/powerpoint/2010/main" val="4210252823"/>
      </p:ext>
    </p:extLst>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6FC7AC50-3A19-4DB7-DC3C-7761768C48AC}"/>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1820A62E-AE21-28CC-F409-75FFA70B271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dirty="0"/>
              <a:t>Result &amp; Analysis contd.</a:t>
            </a:r>
          </a:p>
        </p:txBody>
      </p:sp>
      <p:sp>
        <p:nvSpPr>
          <p:cNvPr id="566" name="Google Shape;566;p47">
            <a:extLst>
              <a:ext uri="{FF2B5EF4-FFF2-40B4-BE49-F238E27FC236}">
                <a16:creationId xmlns:a16="http://schemas.microsoft.com/office/drawing/2014/main" id="{F944E451-58FF-A35B-814D-674DCC3FCF71}"/>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21</a:t>
            </a:r>
          </a:p>
        </p:txBody>
      </p:sp>
      <p:sp>
        <p:nvSpPr>
          <p:cNvPr id="8" name="TextBox 7">
            <a:extLst>
              <a:ext uri="{FF2B5EF4-FFF2-40B4-BE49-F238E27FC236}">
                <a16:creationId xmlns:a16="http://schemas.microsoft.com/office/drawing/2014/main" id="{E2649C38-5845-6D86-B67C-54B80854E95F}"/>
              </a:ext>
            </a:extLst>
          </p:cNvPr>
          <p:cNvSpPr txBox="1"/>
          <p:nvPr/>
        </p:nvSpPr>
        <p:spPr>
          <a:xfrm>
            <a:off x="5147764" y="1415066"/>
            <a:ext cx="3203756"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Throughput Comparison</a:t>
            </a:r>
          </a:p>
        </p:txBody>
      </p:sp>
      <p:pic>
        <p:nvPicPr>
          <p:cNvPr id="3" name="Picture 2">
            <a:extLst>
              <a:ext uri="{FF2B5EF4-FFF2-40B4-BE49-F238E27FC236}">
                <a16:creationId xmlns:a16="http://schemas.microsoft.com/office/drawing/2014/main" id="{FB625033-5193-7DA4-5DED-27CBB2F80266}"/>
              </a:ext>
            </a:extLst>
          </p:cNvPr>
          <p:cNvPicPr>
            <a:picLocks noChangeAspect="1"/>
          </p:cNvPicPr>
          <p:nvPr/>
        </p:nvPicPr>
        <p:blipFill>
          <a:blip r:embed="rId3"/>
          <a:srcRect/>
          <a:stretch/>
        </p:blipFill>
        <p:spPr>
          <a:xfrm>
            <a:off x="294789" y="1494399"/>
            <a:ext cx="4213022" cy="2513329"/>
          </a:xfrm>
          <a:prstGeom prst="rect">
            <a:avLst/>
          </a:prstGeom>
        </p:spPr>
      </p:pic>
      <p:sp>
        <p:nvSpPr>
          <p:cNvPr id="9" name="Google Shape;310;p31">
            <a:extLst>
              <a:ext uri="{FF2B5EF4-FFF2-40B4-BE49-F238E27FC236}">
                <a16:creationId xmlns:a16="http://schemas.microsoft.com/office/drawing/2014/main" id="{9DA10859-6CDE-E707-2474-98B86CE9DE8B}"/>
              </a:ext>
            </a:extLst>
          </p:cNvPr>
          <p:cNvSpPr txBox="1">
            <a:spLocks/>
          </p:cNvSpPr>
          <p:nvPr/>
        </p:nvSpPr>
        <p:spPr>
          <a:xfrm>
            <a:off x="5218884" y="962510"/>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04</a:t>
            </a:r>
          </a:p>
        </p:txBody>
      </p:sp>
      <p:sp>
        <p:nvSpPr>
          <p:cNvPr id="10" name="TextBox 9">
            <a:extLst>
              <a:ext uri="{FF2B5EF4-FFF2-40B4-BE49-F238E27FC236}">
                <a16:creationId xmlns:a16="http://schemas.microsoft.com/office/drawing/2014/main" id="{2E4FDB3A-84B1-B0C5-DD89-4F3F7AAD6A1D}"/>
              </a:ext>
            </a:extLst>
          </p:cNvPr>
          <p:cNvSpPr txBox="1"/>
          <p:nvPr/>
        </p:nvSpPr>
        <p:spPr>
          <a:xfrm>
            <a:off x="4846350" y="1995657"/>
            <a:ext cx="4067050" cy="1692771"/>
          </a:xfrm>
          <a:prstGeom prst="rect">
            <a:avLst/>
          </a:prstGeom>
          <a:noFill/>
        </p:spPr>
        <p:txBody>
          <a:bodyPr wrap="square" rtlCol="0">
            <a:spAutoFit/>
          </a:bodyPr>
          <a:lstStyle/>
          <a:p>
            <a:r>
              <a:rPr lang="en-US" sz="1300" b="1" dirty="0">
                <a:latin typeface="Mulish" panose="020B0604020202020204" charset="0"/>
              </a:rPr>
              <a:t>PM achieved 10.80 throughput</a:t>
            </a:r>
            <a:r>
              <a:rPr lang="en-US" sz="1300" dirty="0">
                <a:latin typeface="Mulish" panose="020B0604020202020204" charset="0"/>
              </a:rPr>
              <a:t>, outperforming all baseline and SOTA methods</a:t>
            </a:r>
          </a:p>
          <a:p>
            <a:pPr marL="285750" indent="-285750">
              <a:buFont typeface="Arial" panose="020B0604020202020204" pitchFamily="34" charset="0"/>
              <a:buChar char="•"/>
            </a:pPr>
            <a:r>
              <a:rPr lang="en-US" sz="1300" b="1" dirty="0">
                <a:latin typeface="Mulish" panose="020B0604020202020204" charset="0"/>
              </a:rPr>
              <a:t>66.15% higher</a:t>
            </a:r>
            <a:r>
              <a:rPr lang="en-US" sz="1300" dirty="0">
                <a:latin typeface="Mulish" panose="020B0604020202020204" charset="0"/>
              </a:rPr>
              <a:t> than RNS (6.50) due to intelligent job placement</a:t>
            </a:r>
          </a:p>
          <a:p>
            <a:pPr marL="285750" indent="-285750">
              <a:buFont typeface="Arial" panose="020B0604020202020204" pitchFamily="34" charset="0"/>
              <a:buChar char="•"/>
            </a:pPr>
            <a:r>
              <a:rPr lang="en-US" sz="1300" b="1" dirty="0">
                <a:latin typeface="Mulish" panose="020B0604020202020204" charset="0"/>
              </a:rPr>
              <a:t>76.78% higher</a:t>
            </a:r>
            <a:r>
              <a:rPr lang="en-US" sz="1300" dirty="0">
                <a:latin typeface="Mulish" panose="020B0604020202020204" charset="0"/>
              </a:rPr>
              <a:t> than EHM (6.11), avoiding edge overload</a:t>
            </a:r>
          </a:p>
          <a:p>
            <a:pPr marL="285750" indent="-285750">
              <a:buFont typeface="Arial" panose="020B0604020202020204" pitchFamily="34" charset="0"/>
              <a:buChar char="•"/>
            </a:pPr>
            <a:r>
              <a:rPr lang="en-US" sz="1300" b="1" dirty="0">
                <a:latin typeface="Mulish" panose="020B0604020202020204" charset="0"/>
              </a:rPr>
              <a:t>147.71% higher</a:t>
            </a:r>
            <a:r>
              <a:rPr lang="en-US" sz="1300" dirty="0">
                <a:latin typeface="Mulish" panose="020B0604020202020204" charset="0"/>
              </a:rPr>
              <a:t> than ELBO (4.36), offering better overall system efficiency</a:t>
            </a:r>
            <a:endParaRPr lang="en-IN" sz="1300" dirty="0">
              <a:latin typeface="Mulish" panose="020B0604020202020204" charset="0"/>
            </a:endParaRPr>
          </a:p>
        </p:txBody>
      </p:sp>
      <p:sp>
        <p:nvSpPr>
          <p:cNvPr id="11" name="TextBox 10">
            <a:extLst>
              <a:ext uri="{FF2B5EF4-FFF2-40B4-BE49-F238E27FC236}">
                <a16:creationId xmlns:a16="http://schemas.microsoft.com/office/drawing/2014/main" id="{DA86288B-BDA4-4469-73F2-995C3D516EE9}"/>
              </a:ext>
            </a:extLst>
          </p:cNvPr>
          <p:cNvSpPr txBox="1"/>
          <p:nvPr/>
        </p:nvSpPr>
        <p:spPr>
          <a:xfrm>
            <a:off x="5218884" y="3811658"/>
            <a:ext cx="3505140" cy="738664"/>
          </a:xfrm>
          <a:prstGeom prst="rect">
            <a:avLst/>
          </a:prstGeom>
          <a:noFill/>
        </p:spPr>
        <p:txBody>
          <a:bodyPr wrap="square" rtlCol="0">
            <a:spAutoFit/>
          </a:bodyPr>
          <a:lstStyle/>
          <a:p>
            <a:pPr algn="just"/>
            <a:r>
              <a:rPr lang="en-US" dirty="0">
                <a:latin typeface="Mulish" panose="020B0604020202020204" charset="0"/>
              </a:rPr>
              <a:t>PM’s higher throughput proves its efficiency for high-load, time-critical healthcare tasks</a:t>
            </a:r>
            <a:endParaRPr lang="en-IN" dirty="0">
              <a:latin typeface="Mulish" panose="020B0604020202020204" charset="0"/>
            </a:endParaRPr>
          </a:p>
        </p:txBody>
      </p:sp>
    </p:spTree>
    <p:extLst>
      <p:ext uri="{BB962C8B-B14F-4D97-AF65-F5344CB8AC3E}">
        <p14:creationId xmlns:p14="http://schemas.microsoft.com/office/powerpoint/2010/main" val="496172110"/>
      </p:ext>
    </p:extLst>
  </p:cSld>
  <p:clrMapOvr>
    <a:masterClrMapping/>
  </p:clrMapOvr>
  <p:transition>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96C0A3BC-8D57-D9B0-A36E-D9F0C4E282AB}"/>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0BAA06D3-ABFA-2285-C3BB-DDE0B3462871}"/>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22</a:t>
            </a:r>
          </a:p>
        </p:txBody>
      </p:sp>
      <p:sp>
        <p:nvSpPr>
          <p:cNvPr id="548" name="Google Shape;548;p47">
            <a:extLst>
              <a:ext uri="{FF2B5EF4-FFF2-40B4-BE49-F238E27FC236}">
                <a16:creationId xmlns:a16="http://schemas.microsoft.com/office/drawing/2014/main" id="{754C9C91-C6AF-F3C9-8D10-86949760C2E1}"/>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IN" sz="2800" b="0"/>
              <a:t>Result &amp; Analysis contd.</a:t>
            </a:r>
          </a:p>
        </p:txBody>
      </p:sp>
      <p:sp>
        <p:nvSpPr>
          <p:cNvPr id="10" name="TextBox 9">
            <a:extLst>
              <a:ext uri="{FF2B5EF4-FFF2-40B4-BE49-F238E27FC236}">
                <a16:creationId xmlns:a16="http://schemas.microsoft.com/office/drawing/2014/main" id="{7F4C7350-BE1C-89AA-6CC9-7F81EB1B7534}"/>
              </a:ext>
            </a:extLst>
          </p:cNvPr>
          <p:cNvSpPr txBox="1"/>
          <p:nvPr/>
        </p:nvSpPr>
        <p:spPr>
          <a:xfrm>
            <a:off x="144265" y="2478999"/>
            <a:ext cx="2172215" cy="3264408"/>
          </a:xfrm>
          <a:prstGeom prst="rect">
            <a:avLst/>
          </a:prstGeom>
          <a:noFill/>
          <a:ln>
            <a:noFill/>
          </a:ln>
        </p:spPr>
        <p:txBody>
          <a:bodyPr rtlCol="0" anchor="t">
            <a:normAutofit/>
          </a:bodyPr>
          <a:lstStyle/>
          <a:p>
            <a:pPr>
              <a:spcAft>
                <a:spcPts val="600"/>
              </a:spcAft>
            </a:pPr>
            <a:r>
              <a:rPr lang="en-US" sz="1000" b="1" dirty="0">
                <a:latin typeface="Mulish" panose="020B0604020202020204" charset="0"/>
              </a:rPr>
              <a:t>PM consistently met more deadlines</a:t>
            </a:r>
            <a:r>
              <a:rPr lang="en-US" sz="1000" dirty="0">
                <a:latin typeface="Mulish" panose="020B0604020202020204" charset="0"/>
              </a:rPr>
              <a:t> than all other methods across all workloads</a:t>
            </a:r>
          </a:p>
          <a:p>
            <a:pPr marL="285750" indent="-285750">
              <a:spcAft>
                <a:spcPts val="600"/>
              </a:spcAft>
              <a:buFont typeface="Arial"/>
              <a:buChar char="•"/>
            </a:pPr>
            <a:r>
              <a:rPr lang="en-US" sz="1000" dirty="0">
                <a:latin typeface="Mulish" panose="020B0604020202020204" charset="0"/>
              </a:rPr>
              <a:t>Scaled up to </a:t>
            </a:r>
            <a:r>
              <a:rPr lang="en-US" sz="1000" b="1" dirty="0">
                <a:latin typeface="Mulish" panose="020B0604020202020204" charset="0"/>
              </a:rPr>
              <a:t>54–63 successful completions</a:t>
            </a:r>
            <a:r>
              <a:rPr lang="en-US" sz="1000" dirty="0">
                <a:latin typeface="Mulish" panose="020B0604020202020204" charset="0"/>
              </a:rPr>
              <a:t> in heavy load (n = 70–100)</a:t>
            </a:r>
          </a:p>
          <a:p>
            <a:pPr marL="285750" indent="-285750">
              <a:spcAft>
                <a:spcPts val="600"/>
              </a:spcAft>
              <a:buFont typeface="Arial"/>
              <a:buChar char="•"/>
            </a:pPr>
            <a:r>
              <a:rPr lang="en-US" sz="1000" b="1" dirty="0">
                <a:latin typeface="Mulish" panose="020B0604020202020204" charset="0"/>
              </a:rPr>
              <a:t>RNS plateaued</a:t>
            </a:r>
            <a:r>
              <a:rPr lang="en-US" sz="1000" dirty="0">
                <a:latin typeface="Mulish" panose="020B0604020202020204" charset="0"/>
              </a:rPr>
              <a:t> at ~30–41 completions; </a:t>
            </a:r>
            <a:r>
              <a:rPr lang="en-US" sz="1000" b="1" dirty="0">
                <a:latin typeface="Mulish" panose="020B0604020202020204" charset="0"/>
              </a:rPr>
              <a:t>EHM dropped</a:t>
            </a:r>
            <a:r>
              <a:rPr lang="en-US" sz="1000" dirty="0">
                <a:latin typeface="Mulish" panose="020B0604020202020204" charset="0"/>
              </a:rPr>
              <a:t> to just 12 at n = 100</a:t>
            </a:r>
          </a:p>
          <a:p>
            <a:pPr marL="285750" indent="-285750">
              <a:spcAft>
                <a:spcPts val="600"/>
              </a:spcAft>
              <a:buFont typeface="Arial"/>
              <a:buChar char="•"/>
            </a:pPr>
            <a:r>
              <a:rPr lang="en-US" sz="1000" b="1" dirty="0">
                <a:latin typeface="Mulish" panose="020B0604020202020204" charset="0"/>
              </a:rPr>
              <a:t>ELBO underperformed</a:t>
            </a:r>
            <a:r>
              <a:rPr lang="en-US" sz="1000" dirty="0">
                <a:latin typeface="Mulish" panose="020B0604020202020204" charset="0"/>
              </a:rPr>
              <a:t>, with </a:t>
            </a:r>
            <a:r>
              <a:rPr lang="en-US" sz="1000" b="1" dirty="0">
                <a:latin typeface="Mulish" panose="020B0604020202020204" charset="0"/>
              </a:rPr>
              <a:t>fewer than 7 completions</a:t>
            </a:r>
            <a:r>
              <a:rPr lang="en-US" sz="1000" dirty="0">
                <a:latin typeface="Mulish" panose="020B0604020202020204" charset="0"/>
              </a:rPr>
              <a:t> in high-load scenarios</a:t>
            </a:r>
          </a:p>
          <a:p>
            <a:pPr marL="285750" indent="-285750">
              <a:spcAft>
                <a:spcPts val="600"/>
              </a:spcAft>
              <a:buFont typeface="Arial"/>
              <a:buChar char="•"/>
            </a:pPr>
            <a:endParaRPr lang="en-US" sz="1000" b="0" i="0" u="none" strike="noStrike" cap="none" dirty="0">
              <a:solidFill>
                <a:schemeClr val="dk1"/>
              </a:solidFill>
              <a:latin typeface="Mulish" panose="020B0604020202020204" charset="0"/>
            </a:endParaRPr>
          </a:p>
        </p:txBody>
      </p:sp>
      <p:pic>
        <p:nvPicPr>
          <p:cNvPr id="4" name="Picture 3" descr="A chart with numbers and a number in a row&#10;&#10;AI-generated content may be incorrect.">
            <a:extLst>
              <a:ext uri="{FF2B5EF4-FFF2-40B4-BE49-F238E27FC236}">
                <a16:creationId xmlns:a16="http://schemas.microsoft.com/office/drawing/2014/main" id="{2D77DAA2-4AEF-81FE-36E6-06D20E8E034E}"/>
              </a:ext>
            </a:extLst>
          </p:cNvPr>
          <p:cNvPicPr>
            <a:picLocks noChangeAspect="1"/>
          </p:cNvPicPr>
          <p:nvPr/>
        </p:nvPicPr>
        <p:blipFill>
          <a:blip r:embed="rId3"/>
          <a:srcRect l="90" t="-14252" r="-12894" b="2"/>
          <a:stretch>
            <a:fillRect/>
          </a:stretch>
        </p:blipFill>
        <p:spPr>
          <a:xfrm>
            <a:off x="2885440" y="670867"/>
            <a:ext cx="6776719" cy="3264408"/>
          </a:xfrm>
          <a:prstGeom prst="rect">
            <a:avLst/>
          </a:prstGeom>
          <a:noFill/>
          <a:ln>
            <a:noFill/>
          </a:ln>
        </p:spPr>
      </p:pic>
      <p:sp>
        <p:nvSpPr>
          <p:cNvPr id="5" name="TextBox 4">
            <a:extLst>
              <a:ext uri="{FF2B5EF4-FFF2-40B4-BE49-F238E27FC236}">
                <a16:creationId xmlns:a16="http://schemas.microsoft.com/office/drawing/2014/main" id="{DDD0C127-6479-0136-0A80-2C5CBF544A2D}"/>
              </a:ext>
            </a:extLst>
          </p:cNvPr>
          <p:cNvSpPr txBox="1"/>
          <p:nvPr/>
        </p:nvSpPr>
        <p:spPr>
          <a:xfrm>
            <a:off x="327145" y="1546884"/>
            <a:ext cx="2172215" cy="707886"/>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Deadline Success Rate</a:t>
            </a:r>
          </a:p>
        </p:txBody>
      </p:sp>
      <p:sp>
        <p:nvSpPr>
          <p:cNvPr id="6" name="Google Shape;310;p31">
            <a:extLst>
              <a:ext uri="{FF2B5EF4-FFF2-40B4-BE49-F238E27FC236}">
                <a16:creationId xmlns:a16="http://schemas.microsoft.com/office/drawing/2014/main" id="{7211E87D-3CF7-717E-D87D-0F4A25D52FAD}"/>
              </a:ext>
            </a:extLst>
          </p:cNvPr>
          <p:cNvSpPr txBox="1">
            <a:spLocks/>
          </p:cNvSpPr>
          <p:nvPr/>
        </p:nvSpPr>
        <p:spPr>
          <a:xfrm>
            <a:off x="327145" y="1063304"/>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05</a:t>
            </a:r>
          </a:p>
        </p:txBody>
      </p:sp>
    </p:spTree>
    <p:extLst>
      <p:ext uri="{BB962C8B-B14F-4D97-AF65-F5344CB8AC3E}">
        <p14:creationId xmlns:p14="http://schemas.microsoft.com/office/powerpoint/2010/main" val="3070624473"/>
      </p:ext>
    </p:extLst>
  </p:cSld>
  <p:clrMapOvr>
    <a:masterClrMapping/>
  </p:clrMapOvr>
  <p:transition>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6F0DBD82-0B4A-5CB8-7FEB-962ACB67F652}"/>
            </a:ext>
          </a:extLst>
        </p:cNvPr>
        <p:cNvGrpSpPr/>
        <p:nvPr/>
      </p:nvGrpSpPr>
      <p:grpSpPr>
        <a:xfrm>
          <a:off x="0" y="0"/>
          <a:ext cx="0" cy="0"/>
          <a:chOff x="0" y="0"/>
          <a:chExt cx="0" cy="0"/>
        </a:xfrm>
      </p:grpSpPr>
      <p:sp>
        <p:nvSpPr>
          <p:cNvPr id="548" name="Google Shape;548;p47">
            <a:extLst>
              <a:ext uri="{FF2B5EF4-FFF2-40B4-BE49-F238E27FC236}">
                <a16:creationId xmlns:a16="http://schemas.microsoft.com/office/drawing/2014/main" id="{D80F3B06-95E6-6702-ECE1-CAAB5CAFE3E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dirty="0"/>
              <a:t>Result &amp; Analysis contd.</a:t>
            </a:r>
          </a:p>
        </p:txBody>
      </p:sp>
      <p:sp>
        <p:nvSpPr>
          <p:cNvPr id="566" name="Google Shape;566;p47">
            <a:extLst>
              <a:ext uri="{FF2B5EF4-FFF2-40B4-BE49-F238E27FC236}">
                <a16:creationId xmlns:a16="http://schemas.microsoft.com/office/drawing/2014/main" id="{BE6854D7-07F8-686D-EB24-37C58A72BA08}"/>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23</a:t>
            </a:r>
          </a:p>
        </p:txBody>
      </p:sp>
      <p:sp>
        <p:nvSpPr>
          <p:cNvPr id="8" name="TextBox 7">
            <a:extLst>
              <a:ext uri="{FF2B5EF4-FFF2-40B4-BE49-F238E27FC236}">
                <a16:creationId xmlns:a16="http://schemas.microsoft.com/office/drawing/2014/main" id="{468A7FB2-3D99-BA4B-5071-90AE90FB8518}"/>
              </a:ext>
            </a:extLst>
          </p:cNvPr>
          <p:cNvSpPr txBox="1"/>
          <p:nvPr/>
        </p:nvSpPr>
        <p:spPr>
          <a:xfrm>
            <a:off x="5147764" y="1599642"/>
            <a:ext cx="2004876"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a:solidFill>
                  <a:schemeClr val="bg2"/>
                </a:solidFill>
                <a:latin typeface="Quicksand" panose="020B0604020202020204" charset="0"/>
              </a:rPr>
              <a:t>Execution Cost</a:t>
            </a:r>
            <a:endParaRPr lang="en-IN" sz="2000" b="1" dirty="0">
              <a:solidFill>
                <a:schemeClr val="bg2"/>
              </a:solidFill>
              <a:latin typeface="Quicksand" panose="020B0604020202020204" charset="0"/>
            </a:endParaRPr>
          </a:p>
        </p:txBody>
      </p:sp>
      <p:pic>
        <p:nvPicPr>
          <p:cNvPr id="3" name="Picture 2">
            <a:extLst>
              <a:ext uri="{FF2B5EF4-FFF2-40B4-BE49-F238E27FC236}">
                <a16:creationId xmlns:a16="http://schemas.microsoft.com/office/drawing/2014/main" id="{FC0957AC-030C-AD5F-E8AD-85E00954A18F}"/>
              </a:ext>
            </a:extLst>
          </p:cNvPr>
          <p:cNvPicPr>
            <a:picLocks noChangeAspect="1"/>
          </p:cNvPicPr>
          <p:nvPr/>
        </p:nvPicPr>
        <p:blipFill>
          <a:blip r:embed="rId3"/>
          <a:srcRect/>
          <a:stretch/>
        </p:blipFill>
        <p:spPr>
          <a:xfrm>
            <a:off x="294789" y="1494399"/>
            <a:ext cx="4213022" cy="2513329"/>
          </a:xfrm>
          <a:prstGeom prst="rect">
            <a:avLst/>
          </a:prstGeom>
        </p:spPr>
      </p:pic>
      <p:sp>
        <p:nvSpPr>
          <p:cNvPr id="9" name="Google Shape;310;p31">
            <a:extLst>
              <a:ext uri="{FF2B5EF4-FFF2-40B4-BE49-F238E27FC236}">
                <a16:creationId xmlns:a16="http://schemas.microsoft.com/office/drawing/2014/main" id="{653591D8-3A83-9DA1-19E9-9D296BCD2555}"/>
              </a:ext>
            </a:extLst>
          </p:cNvPr>
          <p:cNvSpPr txBox="1">
            <a:spLocks/>
          </p:cNvSpPr>
          <p:nvPr/>
        </p:nvSpPr>
        <p:spPr>
          <a:xfrm>
            <a:off x="5147764" y="1116116"/>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06</a:t>
            </a:r>
          </a:p>
        </p:txBody>
      </p:sp>
      <p:sp>
        <p:nvSpPr>
          <p:cNvPr id="10" name="TextBox 9">
            <a:extLst>
              <a:ext uri="{FF2B5EF4-FFF2-40B4-BE49-F238E27FC236}">
                <a16:creationId xmlns:a16="http://schemas.microsoft.com/office/drawing/2014/main" id="{FACDC326-E4DA-ED0D-B6A1-1C07C9C02A0F}"/>
              </a:ext>
            </a:extLst>
          </p:cNvPr>
          <p:cNvSpPr txBox="1"/>
          <p:nvPr/>
        </p:nvSpPr>
        <p:spPr>
          <a:xfrm>
            <a:off x="4846350" y="2149262"/>
            <a:ext cx="4067050"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1200" b="1" dirty="0">
                <a:latin typeface="Mulish" panose="020B0604020202020204" charset="0"/>
              </a:rPr>
              <a:t>PM maintained lowest cost</a:t>
            </a:r>
            <a:r>
              <a:rPr lang="en-US" sz="1200" dirty="0">
                <a:latin typeface="Mulish" panose="020B0604020202020204" charset="0"/>
              </a:rPr>
              <a:t>, scaling smoothly from 50 to 950 units as workload increased</a:t>
            </a:r>
          </a:p>
          <a:p>
            <a:pPr marL="285750" indent="-285750" algn="just">
              <a:buFont typeface="Arial" panose="020B0604020202020204" pitchFamily="34" charset="0"/>
              <a:buChar char="•"/>
            </a:pPr>
            <a:r>
              <a:rPr lang="en-US" sz="1200" b="1" dirty="0">
                <a:latin typeface="Mulish" panose="020B0604020202020204" charset="0"/>
              </a:rPr>
              <a:t>EHM showed steepest rise</a:t>
            </a:r>
            <a:r>
              <a:rPr lang="en-US" sz="1200" dirty="0">
                <a:latin typeface="Mulish" panose="020B0604020202020204" charset="0"/>
              </a:rPr>
              <a:t>, jumping from 80 to 1730 units due to edge overuse</a:t>
            </a:r>
          </a:p>
          <a:p>
            <a:pPr marL="285750" indent="-285750" algn="just">
              <a:buFont typeface="Arial" panose="020B0604020202020204" pitchFamily="34" charset="0"/>
              <a:buChar char="•"/>
            </a:pPr>
            <a:r>
              <a:rPr lang="en-US" sz="1200" b="1" dirty="0">
                <a:latin typeface="Mulish" panose="020B0604020202020204" charset="0"/>
              </a:rPr>
              <a:t>RNS had inconsistent cost</a:t>
            </a:r>
            <a:r>
              <a:rPr lang="en-US" sz="1200" dirty="0">
                <a:latin typeface="Mulish" panose="020B0604020202020204" charset="0"/>
              </a:rPr>
              <a:t>, reaching up to 1380 units because of random task distribution</a:t>
            </a:r>
          </a:p>
          <a:p>
            <a:pPr marL="285750" indent="-285750" algn="just">
              <a:buFont typeface="Arial" panose="020B0604020202020204" pitchFamily="34" charset="0"/>
              <a:buChar char="•"/>
            </a:pPr>
            <a:r>
              <a:rPr lang="en-US" sz="1200" b="1" dirty="0">
                <a:latin typeface="Mulish" panose="020B0604020202020204" charset="0"/>
              </a:rPr>
              <a:t>ELBO incurred higher cost</a:t>
            </a:r>
            <a:r>
              <a:rPr lang="en-US" sz="1200" dirty="0">
                <a:latin typeface="Mulish" panose="020B0604020202020204" charset="0"/>
              </a:rPr>
              <a:t> (up to 1420 units) due to security and communication overhead</a:t>
            </a:r>
            <a:endParaRPr lang="en-IN" sz="1200" dirty="0">
              <a:latin typeface="Mulish" panose="020B0604020202020204" charset="0"/>
            </a:endParaRPr>
          </a:p>
        </p:txBody>
      </p:sp>
      <p:sp>
        <p:nvSpPr>
          <p:cNvPr id="11" name="TextBox 10">
            <a:extLst>
              <a:ext uri="{FF2B5EF4-FFF2-40B4-BE49-F238E27FC236}">
                <a16:creationId xmlns:a16="http://schemas.microsoft.com/office/drawing/2014/main" id="{72973E7C-BD6A-05FD-1FFA-C660DB3BF2CE}"/>
              </a:ext>
            </a:extLst>
          </p:cNvPr>
          <p:cNvSpPr txBox="1"/>
          <p:nvPr/>
        </p:nvSpPr>
        <p:spPr>
          <a:xfrm>
            <a:off x="5127305" y="3864211"/>
            <a:ext cx="3505140" cy="738664"/>
          </a:xfrm>
          <a:prstGeom prst="rect">
            <a:avLst/>
          </a:prstGeom>
          <a:noFill/>
        </p:spPr>
        <p:txBody>
          <a:bodyPr wrap="square" rtlCol="0">
            <a:spAutoFit/>
          </a:bodyPr>
          <a:lstStyle/>
          <a:p>
            <a:r>
              <a:rPr lang="en-US" b="1" dirty="0">
                <a:latin typeface="Mulish" panose="020B0604020202020204" charset="0"/>
              </a:rPr>
              <a:t>PM outperformed all</a:t>
            </a:r>
            <a:r>
              <a:rPr lang="en-US" dirty="0">
                <a:latin typeface="Mulish" panose="020B0604020202020204" charset="0"/>
              </a:rPr>
              <a:t>, proving ideal for resource-constrained healthcare settings</a:t>
            </a:r>
            <a:endParaRPr lang="en-IN" dirty="0">
              <a:latin typeface="Mulish" panose="020B0604020202020204" charset="0"/>
            </a:endParaRPr>
          </a:p>
        </p:txBody>
      </p:sp>
    </p:spTree>
    <p:extLst>
      <p:ext uri="{BB962C8B-B14F-4D97-AF65-F5344CB8AC3E}">
        <p14:creationId xmlns:p14="http://schemas.microsoft.com/office/powerpoint/2010/main" val="619769502"/>
      </p:ext>
    </p:extLst>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11F386EA-7AB0-F55A-E14F-A91AFAF042D6}"/>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9701F673-1018-1E17-9DD7-E6FFFECE9163}"/>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24</a:t>
            </a:r>
          </a:p>
        </p:txBody>
      </p:sp>
      <p:sp>
        <p:nvSpPr>
          <p:cNvPr id="548" name="Google Shape;548;p47">
            <a:extLst>
              <a:ext uri="{FF2B5EF4-FFF2-40B4-BE49-F238E27FC236}">
                <a16:creationId xmlns:a16="http://schemas.microsoft.com/office/drawing/2014/main" id="{76C7010D-496C-C04C-EE0B-CB48FB586662}"/>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IN" sz="2800" b="0"/>
              <a:t>Result &amp; Analysis contd.</a:t>
            </a:r>
          </a:p>
        </p:txBody>
      </p:sp>
      <p:sp>
        <p:nvSpPr>
          <p:cNvPr id="10" name="TextBox 9">
            <a:extLst>
              <a:ext uri="{FF2B5EF4-FFF2-40B4-BE49-F238E27FC236}">
                <a16:creationId xmlns:a16="http://schemas.microsoft.com/office/drawing/2014/main" id="{B796483C-642A-0D8D-D94B-B57CA54BBA14}"/>
              </a:ext>
            </a:extLst>
          </p:cNvPr>
          <p:cNvSpPr txBox="1"/>
          <p:nvPr/>
        </p:nvSpPr>
        <p:spPr>
          <a:xfrm>
            <a:off x="144265" y="2143760"/>
            <a:ext cx="2426215" cy="3284687"/>
          </a:xfrm>
          <a:prstGeom prst="rect">
            <a:avLst/>
          </a:prstGeom>
          <a:noFill/>
          <a:ln>
            <a:noFill/>
          </a:ln>
        </p:spPr>
        <p:txBody>
          <a:bodyPr rtlCol="0" anchor="t">
            <a:normAutofit/>
          </a:bodyPr>
          <a:lstStyle/>
          <a:p>
            <a:pPr marL="285750" indent="-285750">
              <a:spcAft>
                <a:spcPts val="600"/>
              </a:spcAft>
              <a:buFont typeface="Arial"/>
              <a:buChar char="•"/>
            </a:pPr>
            <a:r>
              <a:rPr lang="en-US" sz="1000" b="0" i="0" u="none" strike="noStrike" cap="none" dirty="0">
                <a:solidFill>
                  <a:schemeClr val="dk1"/>
                </a:solidFill>
                <a:latin typeface="Mulish" panose="020B0604020202020204" charset="0"/>
              </a:rPr>
              <a:t>PM achieved up to 91.4% success rate, leading all methods across workload</a:t>
            </a:r>
          </a:p>
          <a:p>
            <a:pPr marL="285750" indent="-285750">
              <a:spcAft>
                <a:spcPts val="600"/>
              </a:spcAft>
              <a:buFont typeface="Arial"/>
              <a:buChar char="•"/>
            </a:pPr>
            <a:r>
              <a:rPr lang="en-US" sz="1000" dirty="0">
                <a:latin typeface="Mulish" panose="020B0604020202020204" charset="0"/>
              </a:rPr>
              <a:t>Sustained </a:t>
            </a:r>
            <a:r>
              <a:rPr lang="en-US" sz="1000" b="1" dirty="0">
                <a:latin typeface="Mulish" panose="020B0604020202020204" charset="0"/>
              </a:rPr>
              <a:t>56.8% success</a:t>
            </a:r>
            <a:r>
              <a:rPr lang="en-US" sz="1000" dirty="0">
                <a:latin typeface="Mulish" panose="020B0604020202020204" charset="0"/>
              </a:rPr>
              <a:t> even at high load (n = 100), showing strong scalability</a:t>
            </a:r>
          </a:p>
          <a:p>
            <a:pPr marL="285750" indent="-285750">
              <a:spcAft>
                <a:spcPts val="600"/>
              </a:spcAft>
              <a:buFont typeface="Arial"/>
              <a:buChar char="•"/>
            </a:pPr>
            <a:r>
              <a:rPr lang="en-US" sz="1000" b="1" dirty="0">
                <a:latin typeface="Mulish" panose="020B0604020202020204" charset="0"/>
              </a:rPr>
              <a:t>RNS declined to 43.2%</a:t>
            </a:r>
            <a:r>
              <a:rPr lang="en-US" sz="1000" dirty="0">
                <a:latin typeface="Mulish" panose="020B0604020202020204" charset="0"/>
              </a:rPr>
              <a:t>; </a:t>
            </a:r>
            <a:r>
              <a:rPr lang="en-US" sz="1000" b="1" dirty="0">
                <a:latin typeface="Mulish" panose="020B0604020202020204" charset="0"/>
              </a:rPr>
              <a:t>EHM collapsed to 12.6%</a:t>
            </a:r>
            <a:r>
              <a:rPr lang="en-US" sz="1000" dirty="0">
                <a:latin typeface="Mulish" panose="020B0604020202020204" charset="0"/>
              </a:rPr>
              <a:t> at  n = 100 due to edge overload</a:t>
            </a:r>
          </a:p>
          <a:p>
            <a:pPr marL="285750" indent="-285750">
              <a:spcAft>
                <a:spcPts val="600"/>
              </a:spcAft>
              <a:buFont typeface="Arial"/>
              <a:buChar char="•"/>
            </a:pPr>
            <a:r>
              <a:rPr lang="en-US" sz="1000" b="1" dirty="0">
                <a:latin typeface="Mulish" panose="020B0604020202020204" charset="0"/>
              </a:rPr>
              <a:t>ELBO stayed below 10%</a:t>
            </a:r>
            <a:r>
              <a:rPr lang="en-US" sz="1000" dirty="0">
                <a:latin typeface="Mulish" panose="020B0604020202020204" charset="0"/>
              </a:rPr>
              <a:t> from n = 50 onward, showing poor adaptability</a:t>
            </a:r>
            <a:endParaRPr lang="en-US" sz="1000" b="0" i="0" u="none" strike="noStrike" cap="none" dirty="0">
              <a:solidFill>
                <a:schemeClr val="dk1"/>
              </a:solidFill>
              <a:latin typeface="Mulish" panose="020B0604020202020204" charset="0"/>
            </a:endParaRPr>
          </a:p>
        </p:txBody>
      </p:sp>
      <p:pic>
        <p:nvPicPr>
          <p:cNvPr id="4" name="Picture 3">
            <a:extLst>
              <a:ext uri="{FF2B5EF4-FFF2-40B4-BE49-F238E27FC236}">
                <a16:creationId xmlns:a16="http://schemas.microsoft.com/office/drawing/2014/main" id="{3D7F6A62-4578-AF12-D087-63C254E5E0E9}"/>
              </a:ext>
            </a:extLst>
          </p:cNvPr>
          <p:cNvPicPr>
            <a:picLocks noChangeAspect="1"/>
          </p:cNvPicPr>
          <p:nvPr/>
        </p:nvPicPr>
        <p:blipFill>
          <a:blip r:embed="rId3"/>
          <a:srcRect t="1462" b="1462"/>
          <a:stretch/>
        </p:blipFill>
        <p:spPr>
          <a:xfrm>
            <a:off x="2824481" y="1501304"/>
            <a:ext cx="5843210" cy="2814728"/>
          </a:xfrm>
          <a:prstGeom prst="rect">
            <a:avLst/>
          </a:prstGeom>
          <a:noFill/>
          <a:ln>
            <a:noFill/>
          </a:ln>
        </p:spPr>
      </p:pic>
      <p:sp>
        <p:nvSpPr>
          <p:cNvPr id="5" name="TextBox 4">
            <a:extLst>
              <a:ext uri="{FF2B5EF4-FFF2-40B4-BE49-F238E27FC236}">
                <a16:creationId xmlns:a16="http://schemas.microsoft.com/office/drawing/2014/main" id="{56ABE7E5-F249-5CC8-60C2-602A4DA82B86}"/>
              </a:ext>
            </a:extLst>
          </p:cNvPr>
          <p:cNvSpPr txBox="1"/>
          <p:nvPr/>
        </p:nvSpPr>
        <p:spPr>
          <a:xfrm>
            <a:off x="327145" y="1546884"/>
            <a:ext cx="2172215"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a:solidFill>
                  <a:schemeClr val="bg2"/>
                </a:solidFill>
                <a:latin typeface="Quicksand" panose="020B0604020202020204" charset="0"/>
              </a:rPr>
              <a:t>Success Ratio</a:t>
            </a:r>
            <a:endParaRPr lang="en-IN" sz="2000" b="1" dirty="0">
              <a:solidFill>
                <a:schemeClr val="bg2"/>
              </a:solidFill>
              <a:latin typeface="Quicksand" panose="020B0604020202020204" charset="0"/>
            </a:endParaRPr>
          </a:p>
        </p:txBody>
      </p:sp>
      <p:sp>
        <p:nvSpPr>
          <p:cNvPr id="6" name="Google Shape;310;p31">
            <a:extLst>
              <a:ext uri="{FF2B5EF4-FFF2-40B4-BE49-F238E27FC236}">
                <a16:creationId xmlns:a16="http://schemas.microsoft.com/office/drawing/2014/main" id="{784EFEEB-DD29-89EA-62A2-DEF4FFBEFDC8}"/>
              </a:ext>
            </a:extLst>
          </p:cNvPr>
          <p:cNvSpPr txBox="1">
            <a:spLocks/>
          </p:cNvSpPr>
          <p:nvPr/>
        </p:nvSpPr>
        <p:spPr>
          <a:xfrm>
            <a:off x="327145" y="1063304"/>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07</a:t>
            </a:r>
          </a:p>
        </p:txBody>
      </p:sp>
    </p:spTree>
    <p:extLst>
      <p:ext uri="{BB962C8B-B14F-4D97-AF65-F5344CB8AC3E}">
        <p14:creationId xmlns:p14="http://schemas.microsoft.com/office/powerpoint/2010/main" val="2457944330"/>
      </p:ext>
    </p:extLst>
  </p:cSld>
  <p:clrMapOvr>
    <a:masterClrMapping/>
  </p:clrMapOvr>
  <p:transition>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6F518ED8-3D41-22AB-7C41-48941AB263B8}"/>
            </a:ext>
          </a:extLst>
        </p:cNvPr>
        <p:cNvGrpSpPr/>
        <p:nvPr/>
      </p:nvGrpSpPr>
      <p:grpSpPr>
        <a:xfrm>
          <a:off x="0" y="0"/>
          <a:ext cx="0" cy="0"/>
          <a:chOff x="0" y="0"/>
          <a:chExt cx="0" cy="0"/>
        </a:xfrm>
      </p:grpSpPr>
      <p:sp>
        <p:nvSpPr>
          <p:cNvPr id="566" name="Google Shape;566;p47">
            <a:extLst>
              <a:ext uri="{FF2B5EF4-FFF2-40B4-BE49-F238E27FC236}">
                <a16:creationId xmlns:a16="http://schemas.microsoft.com/office/drawing/2014/main" id="{7CE2D92A-DD6D-1418-BA99-2159C45B378B}"/>
              </a:ext>
            </a:extLst>
          </p:cNvPr>
          <p:cNvSpPr txBox="1">
            <a:spLocks noGrp="1"/>
          </p:cNvSpPr>
          <p:nvPr>
            <p:ph type="sldNum" idx="12"/>
          </p:nvPr>
        </p:nvSpPr>
        <p:spPr>
          <a:xfrm>
            <a:off x="4297650" y="4602875"/>
            <a:ext cx="548700" cy="333600"/>
          </a:xfrm>
        </p:spPr>
        <p:txBody>
          <a:bodyPr spcFirstLastPara="1" wrap="square" lIns="91425" tIns="91425" rIns="91425" bIns="91425" anchor="t" anchorCtr="0">
            <a:noAutofit/>
          </a:bodyPr>
          <a:lstStyle/>
          <a:p>
            <a:pPr>
              <a:lnSpc>
                <a:spcPct val="90000"/>
              </a:lnSpc>
              <a:spcAft>
                <a:spcPts val="600"/>
              </a:spcAft>
            </a:pPr>
            <a:r>
              <a:rPr lang="en" dirty="0"/>
              <a:t>25</a:t>
            </a:r>
          </a:p>
        </p:txBody>
      </p:sp>
      <p:sp>
        <p:nvSpPr>
          <p:cNvPr id="548" name="Google Shape;548;p47">
            <a:extLst>
              <a:ext uri="{FF2B5EF4-FFF2-40B4-BE49-F238E27FC236}">
                <a16:creationId xmlns:a16="http://schemas.microsoft.com/office/drawing/2014/main" id="{66AA0ED2-9215-6EB9-42AB-74F0561DCB98}"/>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IN" sz="2800" b="0"/>
              <a:t>Result &amp; Analysis contd.</a:t>
            </a:r>
          </a:p>
        </p:txBody>
      </p:sp>
      <p:sp>
        <p:nvSpPr>
          <p:cNvPr id="10" name="TextBox 9">
            <a:extLst>
              <a:ext uri="{FF2B5EF4-FFF2-40B4-BE49-F238E27FC236}">
                <a16:creationId xmlns:a16="http://schemas.microsoft.com/office/drawing/2014/main" id="{D08EDEAA-0B3C-3155-FC1F-48E1C8907AB5}"/>
              </a:ext>
            </a:extLst>
          </p:cNvPr>
          <p:cNvSpPr txBox="1"/>
          <p:nvPr/>
        </p:nvSpPr>
        <p:spPr>
          <a:xfrm>
            <a:off x="327145" y="1970916"/>
            <a:ext cx="2375415" cy="2299538"/>
          </a:xfrm>
          <a:prstGeom prst="rect">
            <a:avLst/>
          </a:prstGeom>
          <a:noFill/>
          <a:ln>
            <a:noFill/>
          </a:ln>
        </p:spPr>
        <p:txBody>
          <a:bodyPr rtlCol="0" anchor="t">
            <a:normAutofit/>
          </a:bodyPr>
          <a:lstStyle/>
          <a:p>
            <a:pPr marL="285750" indent="-285750">
              <a:spcAft>
                <a:spcPts val="600"/>
              </a:spcAft>
              <a:buFont typeface="Arial"/>
              <a:buChar char="•"/>
            </a:pPr>
            <a:r>
              <a:rPr lang="en-US" sz="1000" b="1" dirty="0">
                <a:latin typeface="Mulish" panose="020B0604020202020204" charset="0"/>
              </a:rPr>
              <a:t>Proposed Method kept node-level costs lowest</a:t>
            </a:r>
            <a:r>
              <a:rPr lang="en-US" sz="1000" dirty="0">
                <a:latin typeface="Mulish" panose="020B0604020202020204" charset="0"/>
              </a:rPr>
              <a:t> across all workload sizes</a:t>
            </a:r>
          </a:p>
          <a:p>
            <a:pPr marL="285750" indent="-285750">
              <a:spcAft>
                <a:spcPts val="600"/>
              </a:spcAft>
              <a:buFont typeface="Arial"/>
              <a:buChar char="•"/>
            </a:pPr>
            <a:r>
              <a:rPr lang="en-US" sz="1000" b="1" dirty="0">
                <a:latin typeface="Mulish" panose="020B0604020202020204" charset="0"/>
              </a:rPr>
              <a:t>RNS was unstable</a:t>
            </a:r>
            <a:r>
              <a:rPr lang="en-US" sz="1000" dirty="0">
                <a:latin typeface="Mulish" panose="020B0604020202020204" charset="0"/>
              </a:rPr>
              <a:t>, causing uneven node use and efficiency loss</a:t>
            </a:r>
          </a:p>
          <a:p>
            <a:pPr marL="285750" indent="-285750">
              <a:spcAft>
                <a:spcPts val="600"/>
              </a:spcAft>
              <a:buFont typeface="Arial"/>
              <a:buChar char="•"/>
            </a:pPr>
            <a:r>
              <a:rPr lang="en-US" sz="1000" b="1" dirty="0">
                <a:latin typeface="Mulish" panose="020B0604020202020204" charset="0"/>
              </a:rPr>
              <a:t>EHM incurred the highest costs</a:t>
            </a:r>
            <a:r>
              <a:rPr lang="en-US" sz="1000" dirty="0">
                <a:latin typeface="Mulish" panose="020B0604020202020204" charset="0"/>
              </a:rPr>
              <a:t>, overloading edge nodes by design</a:t>
            </a:r>
          </a:p>
          <a:p>
            <a:pPr marL="285750" indent="-285750">
              <a:spcAft>
                <a:spcPts val="600"/>
              </a:spcAft>
              <a:buFont typeface="Arial"/>
              <a:buChar char="•"/>
            </a:pPr>
            <a:r>
              <a:rPr lang="en-US" sz="1000" b="1" dirty="0">
                <a:latin typeface="Mulish" panose="020B0604020202020204" charset="0"/>
              </a:rPr>
              <a:t>ELBO was slightly better than RNS</a:t>
            </a:r>
            <a:r>
              <a:rPr lang="en-US" sz="1000" dirty="0">
                <a:latin typeface="Mulish" panose="020B0604020202020204" charset="0"/>
              </a:rPr>
              <a:t>, but still inefficient due to complex communication</a:t>
            </a:r>
          </a:p>
          <a:p>
            <a:pPr marL="285750" indent="-285750">
              <a:spcAft>
                <a:spcPts val="600"/>
              </a:spcAft>
              <a:buFont typeface="Arial"/>
              <a:buChar char="•"/>
            </a:pPr>
            <a:endParaRPr lang="en-US" sz="1000" b="0" i="0" u="none" strike="noStrike" cap="none" dirty="0">
              <a:solidFill>
                <a:schemeClr val="dk1"/>
              </a:solidFill>
              <a:latin typeface="Mulish" panose="020B0604020202020204" charset="0"/>
            </a:endParaRPr>
          </a:p>
        </p:txBody>
      </p:sp>
      <p:pic>
        <p:nvPicPr>
          <p:cNvPr id="4" name="Picture 3">
            <a:extLst>
              <a:ext uri="{FF2B5EF4-FFF2-40B4-BE49-F238E27FC236}">
                <a16:creationId xmlns:a16="http://schemas.microsoft.com/office/drawing/2014/main" id="{4DD1286C-09C1-35E6-4F0F-53BBD1A5380E}"/>
              </a:ext>
            </a:extLst>
          </p:cNvPr>
          <p:cNvPicPr>
            <a:picLocks noChangeAspect="1"/>
          </p:cNvPicPr>
          <p:nvPr/>
        </p:nvPicPr>
        <p:blipFill>
          <a:blip r:embed="rId3"/>
          <a:srcRect t="1462" b="1462"/>
          <a:stretch/>
        </p:blipFill>
        <p:spPr>
          <a:xfrm>
            <a:off x="2973645" y="1455725"/>
            <a:ext cx="5843210" cy="2814728"/>
          </a:xfrm>
          <a:prstGeom prst="rect">
            <a:avLst/>
          </a:prstGeom>
          <a:noFill/>
          <a:ln>
            <a:noFill/>
          </a:ln>
        </p:spPr>
      </p:pic>
      <p:sp>
        <p:nvSpPr>
          <p:cNvPr id="5" name="TextBox 4">
            <a:extLst>
              <a:ext uri="{FF2B5EF4-FFF2-40B4-BE49-F238E27FC236}">
                <a16:creationId xmlns:a16="http://schemas.microsoft.com/office/drawing/2014/main" id="{8C10B22C-6F19-D878-CF91-E0C46F94124B}"/>
              </a:ext>
            </a:extLst>
          </p:cNvPr>
          <p:cNvSpPr txBox="1"/>
          <p:nvPr/>
        </p:nvSpPr>
        <p:spPr>
          <a:xfrm>
            <a:off x="327145" y="1426970"/>
            <a:ext cx="2761495" cy="400110"/>
          </a:xfrm>
          <a:prstGeom prst="rect">
            <a:avLst/>
          </a:prstGeom>
          <a:solidFill>
            <a:schemeClr val="tx2"/>
          </a:solidFill>
          <a:ln>
            <a:solidFill>
              <a:schemeClr val="bg2"/>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chemeClr val="bg2"/>
                </a:solidFill>
                <a:latin typeface="Quicksand" panose="020B0604020202020204" charset="0"/>
              </a:rPr>
              <a:t>Cost Per Node (CPN):</a:t>
            </a:r>
          </a:p>
        </p:txBody>
      </p:sp>
      <p:sp>
        <p:nvSpPr>
          <p:cNvPr id="6" name="Google Shape;310;p31">
            <a:extLst>
              <a:ext uri="{FF2B5EF4-FFF2-40B4-BE49-F238E27FC236}">
                <a16:creationId xmlns:a16="http://schemas.microsoft.com/office/drawing/2014/main" id="{4F583315-363A-00C0-7CA3-010A710160FD}"/>
              </a:ext>
            </a:extLst>
          </p:cNvPr>
          <p:cNvSpPr txBox="1">
            <a:spLocks/>
          </p:cNvSpPr>
          <p:nvPr/>
        </p:nvSpPr>
        <p:spPr>
          <a:xfrm>
            <a:off x="327145" y="988970"/>
            <a:ext cx="656100" cy="43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dirty="0">
                <a:solidFill>
                  <a:schemeClr val="bg2"/>
                </a:solidFill>
                <a:latin typeface="Quicksand" panose="020B0604020202020204" charset="0"/>
              </a:rPr>
              <a:t>08</a:t>
            </a:r>
          </a:p>
        </p:txBody>
      </p:sp>
      <p:sp>
        <p:nvSpPr>
          <p:cNvPr id="2" name="TextBox 1">
            <a:extLst>
              <a:ext uri="{FF2B5EF4-FFF2-40B4-BE49-F238E27FC236}">
                <a16:creationId xmlns:a16="http://schemas.microsoft.com/office/drawing/2014/main" id="{ABF6DA0D-BD19-56B9-901C-5FDA8947FED9}"/>
              </a:ext>
            </a:extLst>
          </p:cNvPr>
          <p:cNvSpPr txBox="1"/>
          <p:nvPr/>
        </p:nvSpPr>
        <p:spPr>
          <a:xfrm>
            <a:off x="655195" y="4154530"/>
            <a:ext cx="2548135" cy="600164"/>
          </a:xfrm>
          <a:prstGeom prst="rect">
            <a:avLst/>
          </a:prstGeom>
          <a:noFill/>
        </p:spPr>
        <p:txBody>
          <a:bodyPr wrap="square" rtlCol="0">
            <a:spAutoFit/>
          </a:bodyPr>
          <a:lstStyle/>
          <a:p>
            <a:r>
              <a:rPr lang="en-US" sz="1100" dirty="0">
                <a:latin typeface="Mulish" panose="020B0604020202020204" charset="0"/>
              </a:rPr>
              <a:t>PM demonstrated the best scalability and efficiency for low-cost FL deployments</a:t>
            </a:r>
            <a:endParaRPr lang="en-IN" sz="1100" dirty="0">
              <a:latin typeface="Mulish" panose="020B0604020202020204" charset="0"/>
            </a:endParaRPr>
          </a:p>
        </p:txBody>
      </p:sp>
    </p:spTree>
    <p:extLst>
      <p:ext uri="{BB962C8B-B14F-4D97-AF65-F5344CB8AC3E}">
        <p14:creationId xmlns:p14="http://schemas.microsoft.com/office/powerpoint/2010/main" val="3983163002"/>
      </p:ext>
    </p:extLst>
  </p:cSld>
  <p:clrMapOvr>
    <a:masterClrMapping/>
  </p:clrMapOvr>
  <p:transition>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Conclusion</a:t>
            </a:r>
            <a:endParaRPr dirty="0"/>
          </a:p>
        </p:txBody>
      </p:sp>
      <p:sp>
        <p:nvSpPr>
          <p:cNvPr id="457" name="Google Shape;457;p4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26</a:t>
            </a:r>
            <a:endParaRPr dirty="0"/>
          </a:p>
        </p:txBody>
      </p:sp>
      <p:sp>
        <p:nvSpPr>
          <p:cNvPr id="19" name="TextBox 18">
            <a:extLst>
              <a:ext uri="{FF2B5EF4-FFF2-40B4-BE49-F238E27FC236}">
                <a16:creationId xmlns:a16="http://schemas.microsoft.com/office/drawing/2014/main" id="{C2641EE1-AAEF-D651-9923-7723A7A54ECB}"/>
              </a:ext>
            </a:extLst>
          </p:cNvPr>
          <p:cNvSpPr txBox="1"/>
          <p:nvPr/>
        </p:nvSpPr>
        <p:spPr>
          <a:xfrm>
            <a:off x="447040" y="1290320"/>
            <a:ext cx="8117840" cy="2462213"/>
          </a:xfrm>
          <a:prstGeom prst="rect">
            <a:avLst/>
          </a:prstGeom>
          <a:noFill/>
        </p:spPr>
        <p:txBody>
          <a:bodyPr wrap="square" rtlCol="0">
            <a:spAutoFit/>
          </a:bodyPr>
          <a:lstStyle/>
          <a:p>
            <a:pPr marL="285750" indent="-285750" algn="just">
              <a:buFont typeface="Wingdings" panose="05000000000000000000" pitchFamily="2" charset="2"/>
              <a:buChar char="ü"/>
            </a:pPr>
            <a:r>
              <a:rPr lang="en-US" dirty="0">
                <a:latin typeface="Mulish" panose="020B0604020202020204" charset="0"/>
              </a:rPr>
              <a:t>Proposed FL-based framework addresses key challenges of </a:t>
            </a:r>
            <a:r>
              <a:rPr lang="en-US" b="1" dirty="0">
                <a:latin typeface="Mulish" panose="020B0604020202020204" charset="0"/>
              </a:rPr>
              <a:t>privacy, security, and job offloading</a:t>
            </a:r>
            <a:r>
              <a:rPr lang="en-US" dirty="0">
                <a:latin typeface="Mulish" panose="020B0604020202020204" charset="0"/>
              </a:rPr>
              <a:t> in healthcare</a:t>
            </a:r>
          </a:p>
          <a:p>
            <a:pPr marL="285750" indent="-285750" algn="just">
              <a:buFont typeface="Wingdings" panose="05000000000000000000" pitchFamily="2" charset="2"/>
              <a:buChar char="ü"/>
            </a:pPr>
            <a:r>
              <a:rPr lang="en-US" dirty="0">
                <a:latin typeface="Mulish" panose="020B0604020202020204" charset="0"/>
              </a:rPr>
              <a:t>Dynamically routes tasks based on </a:t>
            </a:r>
            <a:r>
              <a:rPr lang="en-US" b="1" dirty="0">
                <a:latin typeface="Mulish" panose="020B0604020202020204" charset="0"/>
              </a:rPr>
              <a:t>sensitivity, deadline, and size</a:t>
            </a:r>
            <a:r>
              <a:rPr lang="en-US" dirty="0">
                <a:latin typeface="Mulish" panose="020B0604020202020204" charset="0"/>
              </a:rPr>
              <a:t> for optimal performance</a:t>
            </a:r>
          </a:p>
          <a:p>
            <a:pPr marL="285750" indent="-285750" algn="just">
              <a:buFont typeface="Wingdings" panose="05000000000000000000" pitchFamily="2" charset="2"/>
              <a:buChar char="ü"/>
            </a:pPr>
            <a:r>
              <a:rPr lang="en-US" dirty="0">
                <a:latin typeface="Mulish" panose="020B0604020202020204" charset="0"/>
              </a:rPr>
              <a:t>Uses </a:t>
            </a:r>
            <a:r>
              <a:rPr lang="en-US" b="1" dirty="0">
                <a:latin typeface="Mulish" panose="020B0604020202020204" charset="0"/>
              </a:rPr>
              <a:t>containerization</a:t>
            </a:r>
            <a:r>
              <a:rPr lang="en-US" dirty="0">
                <a:latin typeface="Mulish" panose="020B0604020202020204" charset="0"/>
              </a:rPr>
              <a:t> for scalable execution, while FL inherently preserves privacy by keeping raw data local—ensuring compliance with regulations like HIPAA. Future enhancements include support for blockchain, merkle tree hash and lightweight encryption to further strengthen security.</a:t>
            </a:r>
          </a:p>
          <a:p>
            <a:pPr marL="285750" indent="-285750" algn="just">
              <a:buFont typeface="Wingdings" panose="05000000000000000000" pitchFamily="2" charset="2"/>
              <a:buChar char="ü"/>
            </a:pPr>
            <a:r>
              <a:rPr lang="en-US" dirty="0">
                <a:latin typeface="Mulish" panose="020B0604020202020204" charset="0"/>
              </a:rPr>
              <a:t>Outperforms baseline and SOTA methods in </a:t>
            </a:r>
            <a:r>
              <a:rPr lang="en-US" b="1" dirty="0">
                <a:latin typeface="Mulish" panose="020B0604020202020204" charset="0"/>
              </a:rPr>
              <a:t>execution time, cost, throughput, and success ratio</a:t>
            </a:r>
          </a:p>
          <a:p>
            <a:pPr marL="285750" indent="-285750" algn="just">
              <a:buFont typeface="Wingdings" panose="05000000000000000000" pitchFamily="2" charset="2"/>
              <a:buChar char="ü"/>
            </a:pPr>
            <a:r>
              <a:rPr lang="en-US" dirty="0">
                <a:latin typeface="Mulish" panose="020B0604020202020204" charset="0"/>
              </a:rPr>
              <a:t>Well-suited for </a:t>
            </a:r>
            <a:r>
              <a:rPr lang="en-US" b="1" dirty="0">
                <a:latin typeface="Mulish" panose="020B0604020202020204" charset="0"/>
              </a:rPr>
              <a:t>real-time, scalable healthcare applications</a:t>
            </a:r>
            <a:r>
              <a:rPr lang="en-US" dirty="0">
                <a:latin typeface="Mulish" panose="020B0604020202020204" charset="0"/>
              </a:rPr>
              <a:t> in resource-constrained environments</a:t>
            </a:r>
            <a:endParaRPr lang="en-IN" dirty="0">
              <a:latin typeface="Mulish" panose="020B0604020202020204" charset="0"/>
            </a:endParaRPr>
          </a:p>
        </p:txBody>
      </p:sp>
    </p:spTree>
  </p:cSld>
  <p:clrMapOvr>
    <a:masterClrMapping/>
  </p:clrMapOvr>
  <p:transition>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6">
          <a:extLst>
            <a:ext uri="{FF2B5EF4-FFF2-40B4-BE49-F238E27FC236}">
              <a16:creationId xmlns:a16="http://schemas.microsoft.com/office/drawing/2014/main" id="{6A8802A9-8309-6211-DC79-98F8CAEADB7B}"/>
            </a:ext>
          </a:extLst>
        </p:cNvPr>
        <p:cNvGrpSpPr/>
        <p:nvPr/>
      </p:nvGrpSpPr>
      <p:grpSpPr>
        <a:xfrm>
          <a:off x="0" y="0"/>
          <a:ext cx="0" cy="0"/>
          <a:chOff x="0" y="0"/>
          <a:chExt cx="0" cy="0"/>
        </a:xfrm>
      </p:grpSpPr>
      <p:sp>
        <p:nvSpPr>
          <p:cNvPr id="447" name="Google Shape;447;p41">
            <a:extLst>
              <a:ext uri="{FF2B5EF4-FFF2-40B4-BE49-F238E27FC236}">
                <a16:creationId xmlns:a16="http://schemas.microsoft.com/office/drawing/2014/main" id="{B0D6249F-2E55-BAF1-7986-4537A723ACE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Future Scope</a:t>
            </a:r>
            <a:endParaRPr dirty="0"/>
          </a:p>
        </p:txBody>
      </p:sp>
      <p:sp>
        <p:nvSpPr>
          <p:cNvPr id="457" name="Google Shape;457;p41">
            <a:extLst>
              <a:ext uri="{FF2B5EF4-FFF2-40B4-BE49-F238E27FC236}">
                <a16:creationId xmlns:a16="http://schemas.microsoft.com/office/drawing/2014/main" id="{93F013E8-ED73-A64F-5136-3E564077B738}"/>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27</a:t>
            </a:r>
            <a:endParaRPr dirty="0"/>
          </a:p>
        </p:txBody>
      </p:sp>
      <p:sp>
        <p:nvSpPr>
          <p:cNvPr id="19" name="TextBox 18">
            <a:extLst>
              <a:ext uri="{FF2B5EF4-FFF2-40B4-BE49-F238E27FC236}">
                <a16:creationId xmlns:a16="http://schemas.microsoft.com/office/drawing/2014/main" id="{42F42FDC-E6A6-05F1-A60C-0C8B4A5B3794}"/>
              </a:ext>
            </a:extLst>
          </p:cNvPr>
          <p:cNvSpPr txBox="1"/>
          <p:nvPr/>
        </p:nvSpPr>
        <p:spPr>
          <a:xfrm>
            <a:off x="447040" y="1290320"/>
            <a:ext cx="7976960" cy="1169551"/>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Mulish" panose="020B0604020202020204" charset="0"/>
              </a:rPr>
              <a:t>Real-world deployment</a:t>
            </a:r>
            <a:r>
              <a:rPr lang="en-US" dirty="0">
                <a:latin typeface="Mulish" panose="020B0604020202020204" charset="0"/>
              </a:rPr>
              <a:t> with diverse IoT devices in live healthcare environments</a:t>
            </a:r>
          </a:p>
          <a:p>
            <a:pPr marL="285750" indent="-285750" algn="just">
              <a:buFont typeface="Arial" panose="020B0604020202020204" pitchFamily="34" charset="0"/>
              <a:buChar char="•"/>
            </a:pPr>
            <a:r>
              <a:rPr lang="en-US" b="1" dirty="0">
                <a:latin typeface="Mulish" panose="020B0604020202020204" charset="0"/>
              </a:rPr>
              <a:t>Integrate advanced security protocols</a:t>
            </a:r>
            <a:r>
              <a:rPr lang="en-US" dirty="0">
                <a:latin typeface="Mulish" panose="020B0604020202020204" charset="0"/>
              </a:rPr>
              <a:t> like Fully Homomorphic Encryption</a:t>
            </a:r>
          </a:p>
          <a:p>
            <a:pPr marL="285750" indent="-285750" algn="just">
              <a:buFont typeface="Arial" panose="020B0604020202020204" pitchFamily="34" charset="0"/>
              <a:buChar char="•"/>
            </a:pPr>
            <a:r>
              <a:rPr lang="en-US" b="1" dirty="0">
                <a:latin typeface="Mulish" panose="020B0604020202020204" charset="0"/>
              </a:rPr>
              <a:t>AI-driven task allocation</a:t>
            </a:r>
            <a:r>
              <a:rPr lang="en-US" dirty="0">
                <a:latin typeface="Mulish" panose="020B0604020202020204" charset="0"/>
              </a:rPr>
              <a:t> for predicting node load and optimizing offloading</a:t>
            </a:r>
          </a:p>
          <a:p>
            <a:pPr marL="285750" indent="-285750" algn="just">
              <a:buFont typeface="Arial" panose="020B0604020202020204" pitchFamily="34" charset="0"/>
              <a:buChar char="•"/>
            </a:pPr>
            <a:r>
              <a:rPr lang="en-US" b="1" dirty="0">
                <a:latin typeface="Mulish" panose="020B0604020202020204" charset="0"/>
              </a:rPr>
              <a:t>Scalability testing</a:t>
            </a:r>
            <a:r>
              <a:rPr lang="en-US" dirty="0">
                <a:latin typeface="Mulish" panose="020B0604020202020204" charset="0"/>
              </a:rPr>
              <a:t> with larger datasets and more nodes</a:t>
            </a:r>
          </a:p>
          <a:p>
            <a:pPr marL="285750" indent="-285750" algn="just">
              <a:buFont typeface="Arial" panose="020B0604020202020204" pitchFamily="34" charset="0"/>
              <a:buChar char="•"/>
            </a:pPr>
            <a:r>
              <a:rPr lang="en-US" b="1" dirty="0">
                <a:latin typeface="Mulish" panose="020B0604020202020204" charset="0"/>
              </a:rPr>
              <a:t>Cross-domain adaptation</a:t>
            </a:r>
            <a:r>
              <a:rPr lang="en-US" dirty="0">
                <a:latin typeface="Mulish" panose="020B0604020202020204" charset="0"/>
              </a:rPr>
              <a:t> to finance, smart cities, and other privacy-critical sectors</a:t>
            </a:r>
            <a:endParaRPr lang="en-IN" dirty="0">
              <a:latin typeface="Mulish" panose="020B0604020202020204" charset="0"/>
            </a:endParaRPr>
          </a:p>
        </p:txBody>
      </p:sp>
    </p:spTree>
    <p:extLst>
      <p:ext uri="{BB962C8B-B14F-4D97-AF65-F5344CB8AC3E}">
        <p14:creationId xmlns:p14="http://schemas.microsoft.com/office/powerpoint/2010/main" val="4134839171"/>
      </p:ext>
    </p:extLst>
  </p:cSld>
  <p:clrMapOvr>
    <a:masterClrMapping/>
  </p:clrMapOvr>
  <p:transition>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54"/>
          <p:cNvSpPr txBox="1">
            <a:spLocks noGrp="1"/>
          </p:cNvSpPr>
          <p:nvPr>
            <p:ph type="title"/>
          </p:nvPr>
        </p:nvSpPr>
        <p:spPr>
          <a:xfrm>
            <a:off x="720000" y="445025"/>
            <a:ext cx="6266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Bibliographical references</a:t>
            </a:r>
            <a:endParaRPr dirty="0"/>
          </a:p>
        </p:txBody>
      </p:sp>
      <p:sp>
        <p:nvSpPr>
          <p:cNvPr id="776" name="Google Shape;776;p54"/>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indent="0">
              <a:buNone/>
            </a:pPr>
            <a:r>
              <a:rPr lang="en-US" sz="1000" dirty="0"/>
              <a:t>[1] C. Zhang, Y. Xie, H. Bai, B. Yu, W. Li, and Y. Gao, “A survey on federated learning,” Knowledge-Based Systems, vol. 216, p. 106775, 2021.</a:t>
            </a:r>
          </a:p>
          <a:p>
            <a:pPr marL="0" indent="0">
              <a:buNone/>
            </a:pPr>
            <a:endParaRPr lang="en-US" sz="1000" dirty="0"/>
          </a:p>
          <a:p>
            <a:pPr marL="0" indent="0">
              <a:buNone/>
            </a:pPr>
            <a:r>
              <a:rPr lang="en-IN" sz="1000" dirty="0"/>
              <a:t>[2] D. C. Nguyen, Q.-V. Pham, P. N. Pathirana, M. Ding, A. Seneviratne, Z. Lin, O. Dobre, and W.-J. Hwang, “Federated learning for smart healthcare: A survey,” ACM Computing Surveys (Csur), vol. 55, no. 3, pp. 1–37, 2022</a:t>
            </a:r>
          </a:p>
          <a:p>
            <a:pPr marL="0" indent="0">
              <a:buNone/>
            </a:pPr>
            <a:endParaRPr lang="en-IN" sz="1000" i="1" dirty="0"/>
          </a:p>
          <a:p>
            <a:pPr marL="0" indent="0">
              <a:buNone/>
            </a:pPr>
            <a:r>
              <a:rPr lang="en-IN" sz="1000" dirty="0"/>
              <a:t>[3] R. S. Antunes, C. Andre da Costa, A. K ´ uderle, I. A. Yari, and B. Eskofier, “Feder- ¨ ated learning for healthcare: Systematic review and architecture proposal,” ACM Transactions on Intelligent Systems and Technology (TIST), vol. 13, no. 4, pp. 1–23, 2022.</a:t>
            </a:r>
          </a:p>
          <a:p>
            <a:pPr marL="0" indent="0">
              <a:buNone/>
            </a:pPr>
            <a:endParaRPr lang="en-IN" sz="1000" i="1" dirty="0"/>
          </a:p>
          <a:p>
            <a:pPr marL="0" indent="0">
              <a:buNone/>
            </a:pPr>
            <a:r>
              <a:rPr lang="en-IN" sz="1000" dirty="0"/>
              <a:t>[4] K. Arikumar, S. B. Prathiba, M. Alazab, T. R. Gadekallu, S. Pandya, J. M. Khan, and R. S. Moorthy, “Fl- pmi: federated learning-based person movement identification through wearable devices in smart healthcare systems,” Sensors, vol. 22, no. 4, p. 1377, 2022.</a:t>
            </a:r>
          </a:p>
          <a:p>
            <a:pPr marL="0" indent="0">
              <a:buNone/>
            </a:pPr>
            <a:endParaRPr lang="en-IN" sz="1000" i="1" dirty="0"/>
          </a:p>
          <a:p>
            <a:pPr marL="0" indent="0">
              <a:buNone/>
            </a:pPr>
            <a:r>
              <a:rPr lang="en-US" sz="1000" dirty="0"/>
              <a:t>[5] F. Zhao, Z. Shuai, K. Kuang, F. Wu, Y. Zhuang, and J. Xiao, “A survey on federated learning in the healthcare informatics: Model misconducts, security, challenges, applications, and future research directions,” Comprehensive Surveys on Federated Learning in Healthcare, 2024.</a:t>
            </a:r>
            <a:endParaRPr sz="1000" i="1" dirty="0"/>
          </a:p>
        </p:txBody>
      </p:sp>
      <p:sp>
        <p:nvSpPr>
          <p:cNvPr id="777" name="Google Shape;777;p5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28</a:t>
            </a:r>
            <a:endParaRPr dirty="0"/>
          </a:p>
        </p:txBody>
      </p:sp>
    </p:spTree>
  </p:cSld>
  <p:clrMapOvr>
    <a:masterClrMapping/>
  </p:clrMapOvr>
  <p:transition>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64112FC9-C861-AF5D-0D1A-FE0DC4563C05}"/>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FE95C5D6-F567-E001-E0EF-C0B65175D624}"/>
              </a:ext>
            </a:extLst>
          </p:cNvPr>
          <p:cNvSpPr txBox="1">
            <a:spLocks noGrp="1"/>
          </p:cNvSpPr>
          <p:nvPr>
            <p:ph type="title"/>
          </p:nvPr>
        </p:nvSpPr>
        <p:spPr>
          <a:xfrm>
            <a:off x="720000" y="445025"/>
            <a:ext cx="68390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Bibliographical references contd.</a:t>
            </a:r>
            <a:endParaRPr b="0" dirty="0"/>
          </a:p>
        </p:txBody>
      </p:sp>
      <p:sp>
        <p:nvSpPr>
          <p:cNvPr id="776" name="Google Shape;776;p54">
            <a:extLst>
              <a:ext uri="{FF2B5EF4-FFF2-40B4-BE49-F238E27FC236}">
                <a16:creationId xmlns:a16="http://schemas.microsoft.com/office/drawing/2014/main" id="{7764CBA2-694C-FAA2-B85C-92245C2A6BAA}"/>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lvl="0" indent="0">
              <a:buNone/>
            </a:pPr>
            <a:r>
              <a:rPr lang="en-US" sz="1000" dirty="0"/>
              <a:t>[6] L. Liu, Y. Yu, and Q. Yang, “Privacy-preserving federated learning: A survey of inference and reconstruction attacks,” arXiv preprint, 2024.</a:t>
            </a:r>
          </a:p>
          <a:p>
            <a:pPr marL="0" lvl="0" indent="0">
              <a:buNone/>
            </a:pPr>
            <a:endParaRPr lang="en-US" sz="1000" dirty="0"/>
          </a:p>
          <a:p>
            <a:pPr marL="0" lvl="0" indent="0">
              <a:buNone/>
            </a:pPr>
            <a:r>
              <a:rPr lang="en-US" sz="1000" dirty="0"/>
              <a:t>[7] J. Ma, S.-A. Naas, S. Sigg, and X. Lyu, “Privacy-preserving federated learning based on multi-key homomorphic encryption,” Information Sciences, vol. 570, p. 183–196, 2021.</a:t>
            </a:r>
          </a:p>
          <a:p>
            <a:pPr marL="0" lvl="0" indent="0">
              <a:buNone/>
            </a:pPr>
            <a:endParaRPr lang="en-US" sz="1000" dirty="0"/>
          </a:p>
          <a:p>
            <a:pPr marL="0" lvl="0" indent="0">
              <a:buNone/>
            </a:pPr>
            <a:r>
              <a:rPr lang="en-US" sz="1000" dirty="0"/>
              <a:t>[8] P. Zhao and B. Li, “Model poisoning attacks in federated learning,” in Proceedings of the Neural Information Processing Systems (NeurIPS) SecML Workshop, 2019.</a:t>
            </a:r>
          </a:p>
          <a:p>
            <a:pPr marL="0" lvl="0" indent="0">
              <a:buNone/>
            </a:pPr>
            <a:endParaRPr lang="en-US" sz="1000" dirty="0"/>
          </a:p>
          <a:p>
            <a:pPr marL="0" lvl="0" indent="0">
              <a:buNone/>
            </a:pPr>
            <a:r>
              <a:rPr lang="en-US" sz="1000" dirty="0"/>
              <a:t>[9] L. Lyu, H. Yu, and Q. Yang, “Threats to federated learning: A survey,” arXiv preprint, 2020.</a:t>
            </a:r>
          </a:p>
          <a:p>
            <a:pPr marL="0" lvl="0" indent="0">
              <a:buNone/>
            </a:pPr>
            <a:endParaRPr lang="en-US" sz="1000" dirty="0"/>
          </a:p>
          <a:p>
            <a:pPr marL="0" lvl="0" indent="0">
              <a:buNone/>
            </a:pPr>
            <a:r>
              <a:rPr lang="en-IN" sz="1000" dirty="0"/>
              <a:t>[10] H. Zhou, G. Yang, H. Dai, and G. Liu, “Pflf: Privacy-preserving federated learning framework for edge computing,” IEEE Transactions on Information Forensics and Security, vol. 17, pp. 1905–1918, 2022</a:t>
            </a:r>
          </a:p>
          <a:p>
            <a:pPr marL="0" lvl="0" indent="0">
              <a:buNone/>
            </a:pPr>
            <a:endParaRPr lang="en-IN" sz="1000" dirty="0"/>
          </a:p>
          <a:p>
            <a:pPr marL="0" lvl="0" indent="0">
              <a:buNone/>
            </a:pPr>
            <a:r>
              <a:rPr lang="en-IN" sz="1000" dirty="0"/>
              <a:t>[11] H. Gupta, A. Vahid Dastjerdi, S. K. Ghosh, and R. Buyya, “ifogsim: A toolkit for modeling and simulation of resource management techniques in the internet of things, edge and fog computing environments,” Software: Practice and Experience, vol. 47, no. 9, pp. 1275–1296, 2017.</a:t>
            </a:r>
            <a:endParaRPr sz="1000" dirty="0"/>
          </a:p>
        </p:txBody>
      </p:sp>
      <p:sp>
        <p:nvSpPr>
          <p:cNvPr id="777" name="Google Shape;777;p54">
            <a:extLst>
              <a:ext uri="{FF2B5EF4-FFF2-40B4-BE49-F238E27FC236}">
                <a16:creationId xmlns:a16="http://schemas.microsoft.com/office/drawing/2014/main" id="{BCE7612D-8537-C73A-09C9-A74098ACD378}"/>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29</a:t>
            </a:r>
            <a:endParaRPr dirty="0"/>
          </a:p>
        </p:txBody>
      </p:sp>
    </p:spTree>
    <p:extLst>
      <p:ext uri="{BB962C8B-B14F-4D97-AF65-F5344CB8AC3E}">
        <p14:creationId xmlns:p14="http://schemas.microsoft.com/office/powerpoint/2010/main" val="2300385311"/>
      </p:ext>
    </p:extLst>
  </p:cSld>
  <p:clrMapOvr>
    <a:masterClrMapping/>
  </p:clrMapOvr>
  <p:transition>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966D1871-2664-E549-794E-C16F63B88CFA}"/>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B2F229AA-9726-2E12-D195-3C8D221AC3FD}"/>
              </a:ext>
            </a:extLst>
          </p:cNvPr>
          <p:cNvSpPr txBox="1">
            <a:spLocks noGrp="1"/>
          </p:cNvSpPr>
          <p:nvPr>
            <p:ph type="title"/>
          </p:nvPr>
        </p:nvSpPr>
        <p:spPr>
          <a:xfrm>
            <a:off x="720000" y="445025"/>
            <a:ext cx="68390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Bibliographical references contd.</a:t>
            </a:r>
            <a:endParaRPr b="0" dirty="0"/>
          </a:p>
        </p:txBody>
      </p:sp>
      <p:sp>
        <p:nvSpPr>
          <p:cNvPr id="776" name="Google Shape;776;p54">
            <a:extLst>
              <a:ext uri="{FF2B5EF4-FFF2-40B4-BE49-F238E27FC236}">
                <a16:creationId xmlns:a16="http://schemas.microsoft.com/office/drawing/2014/main" id="{BA48170B-D0B3-E36B-178A-50BE45492D7E}"/>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lvl="0" indent="0">
              <a:buNone/>
            </a:pPr>
            <a:r>
              <a:rPr lang="en-US" sz="1000" dirty="0"/>
              <a:t>[12] F. Siddiqui, J. Beley, S. Zeadally, and G. Braught, “Secure and lightweight communication in heterogeneous iot environments,” Internet of Things, vol. 14, p.</a:t>
            </a:r>
          </a:p>
          <a:p>
            <a:pPr marL="0" lvl="0" indent="0">
              <a:buNone/>
            </a:pPr>
            <a:r>
              <a:rPr lang="en-US" sz="1000" dirty="0"/>
              <a:t>100093, 2021.</a:t>
            </a:r>
          </a:p>
          <a:p>
            <a:pPr marL="0" lvl="0" indent="0">
              <a:buNone/>
            </a:pPr>
            <a:endParaRPr lang="en-US" sz="1000" dirty="0"/>
          </a:p>
          <a:p>
            <a:pPr marL="0" lvl="0" indent="0">
              <a:buNone/>
            </a:pPr>
            <a:r>
              <a:rPr lang="en-US" sz="1000" dirty="0"/>
              <a:t>[13] M. A. Chauhan, M. A. Babar, and F. Rabhi, “Secdoar: A software reference architecture for security data orchestration, analysis and reporting,” arXiv preprint arXiv:2408.12904, 2024.</a:t>
            </a:r>
          </a:p>
          <a:p>
            <a:pPr marL="0" lvl="0" indent="0">
              <a:buNone/>
            </a:pPr>
            <a:endParaRPr lang="en-US" sz="1000" dirty="0"/>
          </a:p>
          <a:p>
            <a:pPr marL="0" lvl="0" indent="0">
              <a:buNone/>
            </a:pPr>
            <a:r>
              <a:rPr lang="en-US" sz="1000" dirty="0"/>
              <a:t>[14] X. Li, J. Wang, and Q. Shi, “Reducing update communication overhead in federated learning via sparse compression,” IEEE Transactions on Parallel and Distributed Systems, vol. 34, no. 4, pp. 987–999, 2023.</a:t>
            </a:r>
          </a:p>
          <a:p>
            <a:pPr marL="0" lvl="0" indent="0">
              <a:buNone/>
            </a:pPr>
            <a:endParaRPr lang="en-US" sz="1000" dirty="0"/>
          </a:p>
          <a:p>
            <a:pPr marL="0" lvl="0" indent="0">
              <a:buNone/>
            </a:pPr>
            <a:r>
              <a:rPr lang="en-US" sz="1000" dirty="0"/>
              <a:t>[15] C. Wu, F. Huang, and L. Xu, “Optimization techniques to reduce latency in federated learning systems,” in Proceedings of the ACM Symposium on Edge Computing, 2023</a:t>
            </a:r>
          </a:p>
          <a:p>
            <a:pPr marL="0" lvl="0" indent="0">
              <a:buNone/>
            </a:pPr>
            <a:endParaRPr lang="en-US" sz="1000" dirty="0"/>
          </a:p>
          <a:p>
            <a:pPr marL="0" lvl="0" indent="0">
              <a:buNone/>
            </a:pPr>
            <a:r>
              <a:rPr lang="en-IN" sz="1000" dirty="0"/>
              <a:t>[16] D. C. Nguyen, P. N. Pathirana, M. Ding, and A. Seneviratne, “Bedgehealth: A decentralized architecture for edge-based iomt networks using blockchain,” IEEE Internet of Things Journal, vol. 8, no. 14, pp. 11 743–11 757, 2021. </a:t>
            </a:r>
          </a:p>
          <a:p>
            <a:pPr marL="0" lvl="0" indent="0">
              <a:buNone/>
            </a:pPr>
            <a:endParaRPr lang="en-IN" sz="1000" dirty="0"/>
          </a:p>
          <a:p>
            <a:pPr marL="0" lvl="0" indent="0">
              <a:buNone/>
            </a:pPr>
            <a:r>
              <a:rPr lang="en-US" sz="1000" dirty="0"/>
              <a:t>[17] X. Chen, Y. Zhang, and T. Li, “Gradient inference attacks on federated learning: A comprehensive review,” Journal of Information Security and Applications, vol. 70, pp. 103–115, 2023.</a:t>
            </a:r>
            <a:endParaRPr sz="1000" dirty="0"/>
          </a:p>
        </p:txBody>
      </p:sp>
      <p:sp>
        <p:nvSpPr>
          <p:cNvPr id="777" name="Google Shape;777;p54">
            <a:extLst>
              <a:ext uri="{FF2B5EF4-FFF2-40B4-BE49-F238E27FC236}">
                <a16:creationId xmlns:a16="http://schemas.microsoft.com/office/drawing/2014/main" id="{01EF4D82-754E-EB0B-7AAD-AD5CFE83F15D}"/>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30</a:t>
            </a:r>
            <a:endParaRPr dirty="0"/>
          </a:p>
        </p:txBody>
      </p:sp>
    </p:spTree>
    <p:extLst>
      <p:ext uri="{BB962C8B-B14F-4D97-AF65-F5344CB8AC3E}">
        <p14:creationId xmlns:p14="http://schemas.microsoft.com/office/powerpoint/2010/main" val="1208189427"/>
      </p:ext>
    </p:extLst>
  </p:cSld>
  <p:clrMapOvr>
    <a:masterClrMapping/>
  </p:clrMapOvr>
  <p:transition>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5FB8870D-DB84-D497-82AB-56CFB78FB360}"/>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86E348B3-6D19-347B-C0BF-EB3EABE43126}"/>
              </a:ext>
            </a:extLst>
          </p:cNvPr>
          <p:cNvSpPr txBox="1">
            <a:spLocks noGrp="1"/>
          </p:cNvSpPr>
          <p:nvPr>
            <p:ph type="title"/>
          </p:nvPr>
        </p:nvSpPr>
        <p:spPr>
          <a:xfrm>
            <a:off x="720000" y="445025"/>
            <a:ext cx="68390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Bibliographical references contd.</a:t>
            </a:r>
            <a:endParaRPr b="0" dirty="0"/>
          </a:p>
        </p:txBody>
      </p:sp>
      <p:sp>
        <p:nvSpPr>
          <p:cNvPr id="776" name="Google Shape;776;p54">
            <a:extLst>
              <a:ext uri="{FF2B5EF4-FFF2-40B4-BE49-F238E27FC236}">
                <a16:creationId xmlns:a16="http://schemas.microsoft.com/office/drawing/2014/main" id="{28829410-B451-CE9C-7FAD-4389A17558C9}"/>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lvl="0" indent="0">
              <a:buNone/>
            </a:pPr>
            <a:r>
              <a:rPr lang="en-IN" sz="1000" dirty="0"/>
              <a:t>[18] Y. Wan, Y. Qu, W. Ni, Y. Xiang, L. Gao, and E. Hossain, “Data and model poisoning backdoor attacks on wireless federated learning, and the defense mechanisms:</a:t>
            </a:r>
          </a:p>
          <a:p>
            <a:pPr marL="0" lvl="0" indent="0">
              <a:buNone/>
            </a:pPr>
            <a:r>
              <a:rPr lang="en-IN" sz="1000" dirty="0"/>
              <a:t>A comprehensive survey,” arXiv preprint, 2023.</a:t>
            </a:r>
          </a:p>
          <a:p>
            <a:pPr marL="0" lvl="0" indent="0">
              <a:buNone/>
            </a:pPr>
            <a:endParaRPr lang="en-US" sz="1000" dirty="0"/>
          </a:p>
          <a:p>
            <a:pPr marL="0" lvl="0" indent="0">
              <a:buNone/>
            </a:pPr>
            <a:r>
              <a:rPr lang="en-IN" sz="1000" dirty="0"/>
              <a:t>[19] M. Armbrust, A. Fox, R. Griffith, A. D. Joseph, R. Katz, A. Konwinski, G. Lee, D. Patterson, A. Rabkin, I. Stoica, and M. Zaharia, “A view of cloud computing,” Communications of the ACM, vol. 53, no. 4, pp. 50–58, 2010.</a:t>
            </a:r>
          </a:p>
          <a:p>
            <a:pPr marL="0" lvl="0" indent="0">
              <a:buNone/>
            </a:pPr>
            <a:endParaRPr lang="en-IN" sz="1000" dirty="0"/>
          </a:p>
          <a:p>
            <a:pPr marL="0" lvl="0" indent="0">
              <a:buNone/>
            </a:pPr>
            <a:r>
              <a:rPr lang="en-US" sz="1000" dirty="0"/>
              <a:t>[20] N. Boyko and N. Shakhovska, “Prospects for using cloud data warehouses in information systems,” in 2018 IEEE 13th International Scientific and Technical Conference on Computer Sciences and Information Technologies (CSIT), vol. 2, 2018, pp. 136–139.</a:t>
            </a:r>
          </a:p>
          <a:p>
            <a:pPr marL="0" lvl="0" indent="0">
              <a:buNone/>
            </a:pPr>
            <a:endParaRPr lang="en-US" sz="1000" dirty="0"/>
          </a:p>
          <a:p>
            <a:pPr marL="0" lvl="0" indent="0">
              <a:buNone/>
            </a:pPr>
            <a:r>
              <a:rPr lang="en-US" sz="1000" dirty="0"/>
              <a:t>[21] D. Golec, I. Strugar, and D. Belak, “The benefits of enterprise data warehouse implementation in cloud vs. on-premises,” ENTRENOVA- ENTerprise REsearch InNOVAtion, vol. 7, no. 1, pp. 66–74, 2021.</a:t>
            </a:r>
          </a:p>
          <a:p>
            <a:pPr marL="0" lvl="0" indent="0">
              <a:buNone/>
            </a:pPr>
            <a:endParaRPr lang="en-US" sz="1000" dirty="0"/>
          </a:p>
          <a:p>
            <a:pPr marL="0" lvl="0" indent="0">
              <a:buNone/>
            </a:pPr>
            <a:r>
              <a:rPr lang="en-US" sz="1000" dirty="0"/>
              <a:t>[22] G. Anderson, J. Hardwick, and R. Freeman, “Security and privacy issues in cloudbased ehr systems,” Health Informatics Journal, vol. 25, no. 3, pp. 724–740, 2019.</a:t>
            </a:r>
          </a:p>
          <a:p>
            <a:pPr marL="0" lvl="0" indent="0">
              <a:buNone/>
            </a:pPr>
            <a:endParaRPr lang="en-US" sz="1000" dirty="0"/>
          </a:p>
          <a:p>
            <a:pPr marL="0" lvl="0" indent="0">
              <a:buNone/>
            </a:pPr>
            <a:endParaRPr sz="1000" dirty="0"/>
          </a:p>
        </p:txBody>
      </p:sp>
      <p:sp>
        <p:nvSpPr>
          <p:cNvPr id="777" name="Google Shape;777;p54">
            <a:extLst>
              <a:ext uri="{FF2B5EF4-FFF2-40B4-BE49-F238E27FC236}">
                <a16:creationId xmlns:a16="http://schemas.microsoft.com/office/drawing/2014/main" id="{7A76B977-47F1-E521-6451-964A4907A821}"/>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31</a:t>
            </a:r>
            <a:endParaRPr dirty="0"/>
          </a:p>
        </p:txBody>
      </p:sp>
    </p:spTree>
    <p:extLst>
      <p:ext uri="{BB962C8B-B14F-4D97-AF65-F5344CB8AC3E}">
        <p14:creationId xmlns:p14="http://schemas.microsoft.com/office/powerpoint/2010/main" val="2691150980"/>
      </p:ext>
    </p:extLst>
  </p:cSld>
  <p:clrMapOvr>
    <a:masterClrMapping/>
  </p:clrMapOvr>
  <p:transition>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C236B625-0685-49DB-2ADB-3765CE5955C2}"/>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BCFB7EEF-6C2A-DE13-B83E-DC1209255E30}"/>
              </a:ext>
            </a:extLst>
          </p:cNvPr>
          <p:cNvSpPr txBox="1">
            <a:spLocks noGrp="1"/>
          </p:cNvSpPr>
          <p:nvPr>
            <p:ph type="title"/>
          </p:nvPr>
        </p:nvSpPr>
        <p:spPr>
          <a:xfrm>
            <a:off x="720000" y="445025"/>
            <a:ext cx="68390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Bibliographical references contd.</a:t>
            </a:r>
            <a:endParaRPr b="0" dirty="0"/>
          </a:p>
        </p:txBody>
      </p:sp>
      <p:sp>
        <p:nvSpPr>
          <p:cNvPr id="776" name="Google Shape;776;p54">
            <a:extLst>
              <a:ext uri="{FF2B5EF4-FFF2-40B4-BE49-F238E27FC236}">
                <a16:creationId xmlns:a16="http://schemas.microsoft.com/office/drawing/2014/main" id="{20987AAD-F8F3-94FF-94B2-0AD43003A2A6}"/>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lvl="0" indent="0">
              <a:buNone/>
            </a:pPr>
            <a:r>
              <a:rPr lang="en-US" sz="1000" dirty="0"/>
              <a:t>[23] W. Shi, J. Cao, Q. Zhang, Y. Li, and L. Xu, “Edge computing: Vision and challenges,” IEEE Internet of Things Journal, vol. 3, no. 5, pp. 637–646, 2016.</a:t>
            </a:r>
          </a:p>
          <a:p>
            <a:pPr marL="0" lvl="0" indent="0">
              <a:buNone/>
            </a:pPr>
            <a:endParaRPr lang="en-US" sz="1000" dirty="0"/>
          </a:p>
          <a:p>
            <a:pPr marL="0" lvl="0" indent="0">
              <a:buNone/>
            </a:pPr>
            <a:r>
              <a:rPr lang="en-US" sz="1000" dirty="0"/>
              <a:t>[24] P. Kairouz, H. B. McMahan, B. Avent, and et al., “Advances and open problems in federated learning,” Foundations and Trends® in Machine Learning, vol. 14, no. 1–2, pp. 1–210, 2021.</a:t>
            </a:r>
          </a:p>
          <a:p>
            <a:pPr marL="0" lvl="0" indent="0">
              <a:buNone/>
            </a:pPr>
            <a:endParaRPr lang="en-US" sz="1000" dirty="0"/>
          </a:p>
          <a:p>
            <a:pPr marL="0" lvl="0" indent="0">
              <a:buNone/>
            </a:pPr>
            <a:r>
              <a:rPr lang="en-US" sz="1000" dirty="0"/>
              <a:t>[25] Q. Yang, Y. Liu, T. Chen, and Y. Tong, “Federated machine learning: Concept and applications,” ACM Transactions on Intelligent Systems and Technology, vol. 10, no. 2, pp. 12:1–12:19, 2019.</a:t>
            </a:r>
          </a:p>
          <a:p>
            <a:pPr marL="0" lvl="0" indent="0">
              <a:buNone/>
            </a:pPr>
            <a:endParaRPr lang="en-US" sz="1000" dirty="0"/>
          </a:p>
          <a:p>
            <a:pPr marL="0" lvl="0" indent="0">
              <a:buNone/>
            </a:pPr>
            <a:r>
              <a:rPr lang="en-US" sz="1000" dirty="0"/>
              <a:t>[26] P. Kairouz, H. B. McMahan, B. Avent, and ..., “Advances and open problems in federated learning,” Foundations and Trends® in Machine Learning, vol. 14, no. 1–2, pp. 1–210, 2021. </a:t>
            </a:r>
          </a:p>
          <a:p>
            <a:pPr marL="0" lvl="0" indent="0">
              <a:buNone/>
            </a:pPr>
            <a:endParaRPr lang="en-US" sz="1000" dirty="0"/>
          </a:p>
          <a:p>
            <a:pPr marL="0" lvl="0" indent="0">
              <a:buNone/>
            </a:pPr>
            <a:r>
              <a:rPr lang="en-US" sz="1000" dirty="0"/>
              <a:t>[27] M. Guduri, C. Chakraborty, U. Maheswari, and M. Margala, “Blockchain-based federated learning technique for privacy preservation and security of smart electronic health records,” IEEE Transactions on Consumer Electronics, vol. 70, no. 1, pp. 2608–2617, 2024.</a:t>
            </a:r>
          </a:p>
          <a:p>
            <a:pPr marL="0" lvl="0" indent="0">
              <a:buNone/>
            </a:pPr>
            <a:endParaRPr lang="en-US" sz="1000" dirty="0"/>
          </a:p>
          <a:p>
            <a:pPr marL="0" lvl="0" indent="0">
              <a:buNone/>
            </a:pPr>
            <a:r>
              <a:rPr lang="en-US" sz="1000" dirty="0"/>
              <a:t>[28] T. Nguyen and M. T. Thai, “Preserving privacy and security in federated learning,” IEEE/ACM Transactions on Networking, 2023</a:t>
            </a:r>
            <a:endParaRPr sz="1000" dirty="0"/>
          </a:p>
        </p:txBody>
      </p:sp>
      <p:sp>
        <p:nvSpPr>
          <p:cNvPr id="777" name="Google Shape;777;p54">
            <a:extLst>
              <a:ext uri="{FF2B5EF4-FFF2-40B4-BE49-F238E27FC236}">
                <a16:creationId xmlns:a16="http://schemas.microsoft.com/office/drawing/2014/main" id="{054677F9-4515-FEE6-44C5-5175499BA239}"/>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32</a:t>
            </a:r>
            <a:endParaRPr dirty="0"/>
          </a:p>
        </p:txBody>
      </p:sp>
    </p:spTree>
    <p:extLst>
      <p:ext uri="{BB962C8B-B14F-4D97-AF65-F5344CB8AC3E}">
        <p14:creationId xmlns:p14="http://schemas.microsoft.com/office/powerpoint/2010/main" val="2197604865"/>
      </p:ext>
    </p:extLst>
  </p:cSld>
  <p:clrMapOvr>
    <a:masterClrMapping/>
  </p:clrMapOvr>
  <p:transition>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BD7C3A40-D3D1-9007-2747-B6325F23E932}"/>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73FD9C85-3ABF-5C3C-C95F-28030F339C84}"/>
              </a:ext>
            </a:extLst>
          </p:cNvPr>
          <p:cNvSpPr txBox="1">
            <a:spLocks noGrp="1"/>
          </p:cNvSpPr>
          <p:nvPr>
            <p:ph type="title"/>
          </p:nvPr>
        </p:nvSpPr>
        <p:spPr>
          <a:xfrm>
            <a:off x="720000" y="445025"/>
            <a:ext cx="68390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Bibliographical references contd.</a:t>
            </a:r>
            <a:endParaRPr b="0" dirty="0"/>
          </a:p>
        </p:txBody>
      </p:sp>
      <p:sp>
        <p:nvSpPr>
          <p:cNvPr id="776" name="Google Shape;776;p54">
            <a:extLst>
              <a:ext uri="{FF2B5EF4-FFF2-40B4-BE49-F238E27FC236}">
                <a16:creationId xmlns:a16="http://schemas.microsoft.com/office/drawing/2014/main" id="{9F3FA162-6366-4170-E839-F8F621CA26EB}"/>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lvl="0" indent="0">
              <a:buNone/>
            </a:pPr>
            <a:r>
              <a:rPr lang="en-US" sz="1000" dirty="0"/>
              <a:t>[29] H. D. Karatza, “Allocation and scheduling of linear workflows incorporating security constraints across fog and cloud infrastructures,” in 2024 International</a:t>
            </a:r>
          </a:p>
          <a:p>
            <a:pPr marL="0" lvl="0" indent="0">
              <a:buNone/>
            </a:pPr>
            <a:r>
              <a:rPr lang="en-US" sz="1000" dirty="0"/>
              <a:t>Conference on Computer, Information and Telecommunication Systems (CITS).</a:t>
            </a:r>
          </a:p>
          <a:p>
            <a:pPr marL="0" lvl="0" indent="0">
              <a:buNone/>
            </a:pPr>
            <a:r>
              <a:rPr lang="en-US" sz="1000" dirty="0"/>
              <a:t>IEEE, 2024, pp. 1–8.</a:t>
            </a:r>
          </a:p>
          <a:p>
            <a:pPr marL="0" lvl="0" indent="0">
              <a:buNone/>
            </a:pPr>
            <a:endParaRPr lang="en-US" sz="1000" dirty="0"/>
          </a:p>
          <a:p>
            <a:pPr marL="0" lvl="0" indent="0">
              <a:buNone/>
            </a:pPr>
            <a:r>
              <a:rPr lang="en-IN" sz="1000" dirty="0"/>
              <a:t>[30] S. Shitharth, H. Manoharan, A. Shankar, R. A. Alsowail, S. Pandiaraj, S. A. Edalatpanah, and W. Viriyasitavat, “Federated learning optimization: A computational blockchain process with offloading analysis to enhance security,” Egyptian informatics journal, vol. 24, no. 4, p. 100406, 2023.</a:t>
            </a:r>
          </a:p>
          <a:p>
            <a:pPr marL="0" lvl="0" indent="0">
              <a:buNone/>
            </a:pPr>
            <a:endParaRPr lang="en-IN" sz="1000" dirty="0"/>
          </a:p>
          <a:p>
            <a:pPr marL="0" lvl="0" indent="0">
              <a:buNone/>
            </a:pPr>
            <a:r>
              <a:rPr lang="en-US" sz="1000" dirty="0"/>
              <a:t>[31] M. Fan, K. Ji, Z. Zhang, H. Yu, and G. Sun, “Lightweight privacy and security computing for blockchained federated learning in iot,” IEEE Internet of Things Journal, vol. 10, no. 18, pp. 16 048–16 060, 2023.</a:t>
            </a:r>
          </a:p>
          <a:p>
            <a:pPr marL="0" lvl="0" indent="0">
              <a:buNone/>
            </a:pPr>
            <a:endParaRPr lang="en-US" sz="1000" dirty="0"/>
          </a:p>
          <a:p>
            <a:pPr marL="0" lvl="0" indent="0">
              <a:buNone/>
            </a:pPr>
            <a:r>
              <a:rPr lang="en-IN" sz="1000" dirty="0"/>
              <a:t>[32] B. Neha, S. K. Panda, P. K. Sahu, and D. Taniar, “Energy and latency-balanced osmotic-offloading algorithm for healthcare systems,” Internet of Things, vol. 26, p. 101176, 2024.</a:t>
            </a:r>
            <a:endParaRPr sz="1000" dirty="0"/>
          </a:p>
        </p:txBody>
      </p:sp>
      <p:sp>
        <p:nvSpPr>
          <p:cNvPr id="777" name="Google Shape;777;p54">
            <a:extLst>
              <a:ext uri="{FF2B5EF4-FFF2-40B4-BE49-F238E27FC236}">
                <a16:creationId xmlns:a16="http://schemas.microsoft.com/office/drawing/2014/main" id="{50E5AE01-D14A-9F1F-23E7-0772978B8344}"/>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33</a:t>
            </a:r>
            <a:endParaRPr dirty="0"/>
          </a:p>
        </p:txBody>
      </p:sp>
    </p:spTree>
    <p:extLst>
      <p:ext uri="{BB962C8B-B14F-4D97-AF65-F5344CB8AC3E}">
        <p14:creationId xmlns:p14="http://schemas.microsoft.com/office/powerpoint/2010/main" val="95023040"/>
      </p:ext>
    </p:extLst>
  </p:cSld>
  <p:clrMapOvr>
    <a:masterClrMapping/>
  </p:clrMapOvr>
  <p:transition>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0447FEA6-3206-9711-9A5B-6226A8047747}"/>
            </a:ext>
          </a:extLst>
        </p:cNvPr>
        <p:cNvGrpSpPr/>
        <p:nvPr/>
      </p:nvGrpSpPr>
      <p:grpSpPr>
        <a:xfrm>
          <a:off x="0" y="0"/>
          <a:ext cx="0" cy="0"/>
          <a:chOff x="0" y="0"/>
          <a:chExt cx="0" cy="0"/>
        </a:xfrm>
      </p:grpSpPr>
      <p:sp>
        <p:nvSpPr>
          <p:cNvPr id="775" name="Google Shape;775;p54">
            <a:extLst>
              <a:ext uri="{FF2B5EF4-FFF2-40B4-BE49-F238E27FC236}">
                <a16:creationId xmlns:a16="http://schemas.microsoft.com/office/drawing/2014/main" id="{1F03564F-C921-2B2B-7028-7BC313D152BD}"/>
              </a:ext>
            </a:extLst>
          </p:cNvPr>
          <p:cNvSpPr txBox="1">
            <a:spLocks noGrp="1"/>
          </p:cNvSpPr>
          <p:nvPr>
            <p:ph type="title"/>
          </p:nvPr>
        </p:nvSpPr>
        <p:spPr>
          <a:xfrm>
            <a:off x="720000" y="445025"/>
            <a:ext cx="6266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Publications</a:t>
            </a:r>
            <a:endParaRPr dirty="0"/>
          </a:p>
        </p:txBody>
      </p:sp>
      <p:sp>
        <p:nvSpPr>
          <p:cNvPr id="776" name="Google Shape;776;p54">
            <a:extLst>
              <a:ext uri="{FF2B5EF4-FFF2-40B4-BE49-F238E27FC236}">
                <a16:creationId xmlns:a16="http://schemas.microsoft.com/office/drawing/2014/main" id="{A4482BC4-960E-44A8-C0C1-57CF235BD671}"/>
              </a:ext>
            </a:extLst>
          </p:cNvPr>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p>
            <a:pPr marL="0" indent="0">
              <a:buNone/>
            </a:pPr>
            <a:r>
              <a:rPr lang="en-IN" sz="1800" b="1" dirty="0">
                <a:latin typeface="Quicksand" panose="020B0604020202020204" charset="0"/>
                <a:cs typeface="Times New Roman" panose="02020603050405020304" pitchFamily="18" charset="0"/>
              </a:rPr>
              <a:t>Journal Paper</a:t>
            </a:r>
          </a:p>
          <a:p>
            <a:pPr marL="0" indent="0">
              <a:buNone/>
            </a:pPr>
            <a:endParaRPr lang="en-US" sz="1800" i="1" dirty="0">
              <a:latin typeface="Quicksand" panose="020B0604020202020204" charset="0"/>
            </a:endParaRPr>
          </a:p>
          <a:p>
            <a:pPr marL="0" indent="0">
              <a:buNone/>
            </a:pPr>
            <a:r>
              <a:rPr lang="en-IN" sz="1200" b="1" dirty="0">
                <a:latin typeface="Mulish" panose="020B0604020202020204" charset="0"/>
                <a:cs typeface="Times New Roman" panose="02020603050405020304" pitchFamily="18" charset="0"/>
              </a:rPr>
              <a:t>Journal:  </a:t>
            </a:r>
            <a:r>
              <a:rPr lang="en-US" sz="1200" dirty="0">
                <a:latin typeface="Mulish" panose="020B0604020202020204" charset="0"/>
                <a:cs typeface="Times New Roman" panose="02020603050405020304" pitchFamily="18" charset="0"/>
              </a:rPr>
              <a:t>A Privacy-Preserving Cloud–Edge Continuum Model for Optimized Healthcare Delivery</a:t>
            </a:r>
          </a:p>
          <a:p>
            <a:pPr marL="0" indent="0">
              <a:buNone/>
            </a:pPr>
            <a:r>
              <a:rPr lang="en-US" sz="1200" b="1" dirty="0">
                <a:latin typeface="Mulish" panose="020B0604020202020204" charset="0"/>
                <a:cs typeface="Times New Roman" panose="02020603050405020304" pitchFamily="18" charset="0"/>
              </a:rPr>
              <a:t>Status:  </a:t>
            </a:r>
            <a:r>
              <a:rPr lang="en-US" sz="1200" dirty="0">
                <a:latin typeface="Mulish" panose="020B0604020202020204" charset="0"/>
                <a:cs typeface="Times New Roman" panose="02020603050405020304" pitchFamily="18" charset="0"/>
              </a:rPr>
              <a:t> Soon to be submitted in IEEE Internet of things Journal</a:t>
            </a:r>
            <a:endParaRPr sz="1200" i="1" dirty="0">
              <a:latin typeface="Mulish" panose="020B0604020202020204" charset="0"/>
            </a:endParaRPr>
          </a:p>
        </p:txBody>
      </p:sp>
      <p:sp>
        <p:nvSpPr>
          <p:cNvPr id="777" name="Google Shape;777;p54">
            <a:extLst>
              <a:ext uri="{FF2B5EF4-FFF2-40B4-BE49-F238E27FC236}">
                <a16:creationId xmlns:a16="http://schemas.microsoft.com/office/drawing/2014/main" id="{5D6F173C-1884-93D1-A4BD-1AC553A844D6}"/>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34</a:t>
            </a:r>
            <a:endParaRPr dirty="0"/>
          </a:p>
        </p:txBody>
      </p:sp>
    </p:spTree>
    <p:extLst>
      <p:ext uri="{BB962C8B-B14F-4D97-AF65-F5344CB8AC3E}">
        <p14:creationId xmlns:p14="http://schemas.microsoft.com/office/powerpoint/2010/main" val="2231217509"/>
      </p:ext>
    </p:extLst>
  </p:cSld>
  <p:clrMapOvr>
    <a:masterClrMapping/>
  </p:clrMapOvr>
  <p:transition>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81">
          <a:extLst>
            <a:ext uri="{FF2B5EF4-FFF2-40B4-BE49-F238E27FC236}">
              <a16:creationId xmlns:a16="http://schemas.microsoft.com/office/drawing/2014/main" id="{F8236F28-2CE6-C7DE-D1ED-16ABCE02AF6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0E9879-7CC7-53B3-4AE9-DE7ABD8C61BE}"/>
              </a:ext>
            </a:extLst>
          </p:cNvPr>
          <p:cNvPicPr>
            <a:picLocks noChangeAspect="1"/>
          </p:cNvPicPr>
          <p:nvPr/>
        </p:nvPicPr>
        <p:blipFill>
          <a:blip r:embed="rId3"/>
          <a:stretch>
            <a:fillRect/>
          </a:stretch>
        </p:blipFill>
        <p:spPr>
          <a:xfrm>
            <a:off x="1618232" y="1267093"/>
            <a:ext cx="5890008" cy="2601572"/>
          </a:xfrm>
          <a:prstGeom prst="rect">
            <a:avLst/>
          </a:prstGeom>
        </p:spPr>
      </p:pic>
    </p:spTree>
    <p:extLst>
      <p:ext uri="{BB962C8B-B14F-4D97-AF65-F5344CB8AC3E}">
        <p14:creationId xmlns:p14="http://schemas.microsoft.com/office/powerpoint/2010/main" val="27800142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2280</TotalTime>
  <Words>3579</Words>
  <Application>Microsoft Office PowerPoint</Application>
  <PresentationFormat>On-screen Show (16:9)</PresentationFormat>
  <Paragraphs>361</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Nunito Light</vt:lpstr>
      <vt:lpstr>Mulish</vt:lpstr>
      <vt:lpstr>Wingdings</vt:lpstr>
      <vt:lpstr>Bebas Neue</vt:lpstr>
      <vt:lpstr>Quicksand</vt:lpstr>
      <vt:lpstr>Arial</vt:lpstr>
      <vt:lpstr>Elegant Bachelor Thesis by Slidesgo</vt:lpstr>
      <vt:lpstr> Security-aware Data Offloading and Optimization in Healthcare System</vt:lpstr>
      <vt:lpstr>Contents</vt:lpstr>
      <vt:lpstr>Introduction</vt:lpstr>
      <vt:lpstr>Litrature Review</vt:lpstr>
      <vt:lpstr>Litrature Review contd.</vt:lpstr>
      <vt:lpstr>Litrature Review contd.</vt:lpstr>
      <vt:lpstr>Litrature Review contd.</vt:lpstr>
      <vt:lpstr>Research gaps</vt:lpstr>
      <vt:lpstr>Problem statement</vt:lpstr>
      <vt:lpstr>Objectives</vt:lpstr>
      <vt:lpstr>Methodology</vt:lpstr>
      <vt:lpstr>Methodology contd.</vt:lpstr>
      <vt:lpstr>Methodology contd.</vt:lpstr>
      <vt:lpstr>Methodology contd.</vt:lpstr>
      <vt:lpstr>Methodology contd.</vt:lpstr>
      <vt:lpstr>Proposed Framework</vt:lpstr>
      <vt:lpstr>Proposed Framework contd.</vt:lpstr>
      <vt:lpstr>Proposed Framework contd.</vt:lpstr>
      <vt:lpstr>Result &amp; Analysis</vt:lpstr>
      <vt:lpstr>Result &amp; Analysis contd.</vt:lpstr>
      <vt:lpstr>Result &amp; Analysis contd.</vt:lpstr>
      <vt:lpstr>Result &amp; Analysis contd.</vt:lpstr>
      <vt:lpstr>Result &amp; Analysis contd.</vt:lpstr>
      <vt:lpstr>Result &amp; Analysis contd.</vt:lpstr>
      <vt:lpstr>Result &amp; Analysis contd.</vt:lpstr>
      <vt:lpstr>Result &amp; Analysis contd.</vt:lpstr>
      <vt:lpstr>Result &amp; Analysis contd.</vt:lpstr>
      <vt:lpstr>Conclusion</vt:lpstr>
      <vt:lpstr>Future Scope</vt:lpstr>
      <vt:lpstr>Bibliographical references</vt:lpstr>
      <vt:lpstr>Bibliographical references contd.</vt:lpstr>
      <vt:lpstr>Bibliographical references contd.</vt:lpstr>
      <vt:lpstr>Bibliographical references contd.</vt:lpstr>
      <vt:lpstr>Bibliographical references contd.</vt:lpstr>
      <vt:lpstr>Bibliographical references contd.</vt:lpstr>
      <vt:lpstr>Publications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kashish kaushal</dc:creator>
  <cp:lastModifiedBy>kashish kaushal</cp:lastModifiedBy>
  <cp:revision>18</cp:revision>
  <dcterms:modified xsi:type="dcterms:W3CDTF">2025-07-07T19:09:55Z</dcterms:modified>
</cp:coreProperties>
</file>